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5dd1f6f8e_1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5dd1f6f8e_1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dd1f6f8e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dd1f6f8e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7d3fe507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7d3fe507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5dd1f6f8e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5dd1f6f8e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dd1f6f8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dd1f6f8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5dd1f6f8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5dd1f6f8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5dd1f6f8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5dd1f6f8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5dd1f6f8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5dd1f6f8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5dd1f6f8e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5dd1f6f8e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5dd1f6f8e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5dd1f6f8e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5dd1f6f8e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5dd1f6f8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5dd1f6f8e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5dd1f6f8e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5dd1f6f8e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5dd1f6f8e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5dd1f6f8e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65dd1f6f8e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65dd1f6f8e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65dd1f6f8e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65dd1f6f8e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65dd1f6f8e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5dd1f6f8e_1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65dd1f6f8e_1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5dd1f6f8e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65dd1f6f8e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5dd1f6f8e_1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65dd1f6f8e_1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65dd1f6f8e_1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65dd1f6f8e_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67d3fe50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67d3fe50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65dd1f6f8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65dd1f6f8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65dd1f6f8e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65dd1f6f8e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Capybara vs nutria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65dd1f6f8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65dd1f6f8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65dd1f6f8e_1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65dd1f6f8e_1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65d8f5b57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65d8f5b57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65dd1f6f8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65dd1f6f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65dd1f6f8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65dd1f6f8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65dd1f6f8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65dd1f6f8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65dd1f6f8e_1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65dd1f6f8e_1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65dd1f6f8e_1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65dd1f6f8e_1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65dd1f6f8e_1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65dd1f6f8e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65dd1f6f8e_1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65dd1f6f8e_1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65dd1f6f8e_1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65dd1f6f8e_1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67d3fe507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67d3fe507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684334763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68433476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65dd1f6f8e_1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65dd1f6f8e_1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65dd1f6f8e_1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65dd1f6f8e_1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65dd1f6f8e_1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65dd1f6f8e_1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65dd1f6f8e_1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65dd1f6f8e_1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65dd1f6f8e_1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65dd1f6f8e_1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65dd1f6f8e_1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65dd1f6f8e_1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65cd71e95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65cd71e95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65dd1f6f8e_1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65dd1f6f8e_1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65dd1f6f8e_1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365dd1f6f8e_1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65dd1f6f8e_1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65dd1f6f8e_1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65d8f5b57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65d8f5b57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65dd1f6f8e_1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65dd1f6f8e_1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65dd1f6f8e_1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65dd1f6f8e_1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65d8f5b57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65d8f5b57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65dd1f6f8e_1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65dd1f6f8e_1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68433476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68433476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2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2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3" Type="http://schemas.openxmlformats.org/officeDocument/2006/relationships/image" Target="../media/image19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47.png"/><Relationship Id="rId6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40.png"/><Relationship Id="rId7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48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png"/><Relationship Id="rId4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29.png"/><Relationship Id="rId6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Relationship Id="rId4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Relationship Id="rId4" Type="http://schemas.openxmlformats.org/officeDocument/2006/relationships/image" Target="../media/image57.gif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Relationship Id="rId4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6.png"/><Relationship Id="rId4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7.gif"/><Relationship Id="rId4" Type="http://schemas.openxmlformats.org/officeDocument/2006/relationships/image" Target="../media/image5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8.png"/><Relationship Id="rId4" Type="http://schemas.openxmlformats.org/officeDocument/2006/relationships/image" Target="../media/image2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jalammar.github.io/illustrated-transformer/" TargetMode="External"/><Relationship Id="rId4" Type="http://schemas.openxmlformats.org/officeDocument/2006/relationships/hyperlink" Target="https://medium.com/the-modern-scientist/an-in-depth-look-at-the-transformer-based-models-22e5f5d17b6b" TargetMode="External"/><Relationship Id="rId5" Type="http://schemas.openxmlformats.org/officeDocument/2006/relationships/hyperlink" Target="https://gmongaras.medium.com/how-do-self-attention-masks-work-72ed9382510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Transformer</a:t>
            </a:r>
            <a:endParaRPr b="1" sz="2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Associate </a:t>
            </a:r>
            <a:r>
              <a:rPr lang="en" sz="1600">
                <a:solidFill>
                  <a:srgbClr val="0000FF"/>
                </a:solidFill>
              </a:rPr>
              <a:t>Professor, DAU,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9963" y="1908325"/>
            <a:ext cx="21240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Embedding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Embedding (e.g. Word2Vec embeddings)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5"/>
          <p:cNvGrpSpPr/>
          <p:nvPr/>
        </p:nvGrpSpPr>
        <p:grpSpPr>
          <a:xfrm>
            <a:off x="2856599" y="2178205"/>
            <a:ext cx="2365581" cy="1156445"/>
            <a:chOff x="2856599" y="2178205"/>
            <a:chExt cx="2365581" cy="1156445"/>
          </a:xfrm>
        </p:grpSpPr>
        <p:sp>
          <p:nvSpPr>
            <p:cNvPr id="69" name="Google Shape;69;p15"/>
            <p:cNvSpPr/>
            <p:nvPr/>
          </p:nvSpPr>
          <p:spPr>
            <a:xfrm>
              <a:off x="2856599" y="2178205"/>
              <a:ext cx="2365581" cy="1156337"/>
            </a:xfrm>
            <a:custGeom>
              <a:rect b="b" l="l" r="r" t="t"/>
              <a:pathLst>
                <a:path extrusionOk="0" h="47827" w="37436">
                  <a:moveTo>
                    <a:pt x="0" y="46884"/>
                  </a:moveTo>
                  <a:cubicBezTo>
                    <a:pt x="3565" y="39072"/>
                    <a:pt x="15153" y="-147"/>
                    <a:pt x="21392" y="10"/>
                  </a:cubicBezTo>
                  <a:cubicBezTo>
                    <a:pt x="27631" y="167"/>
                    <a:pt x="34762" y="39858"/>
                    <a:pt x="37436" y="47828"/>
                  </a:cubicBez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70" name="Google Shape;70;p15"/>
            <p:cNvCxnSpPr/>
            <p:nvPr/>
          </p:nvCxnSpPr>
          <p:spPr>
            <a:xfrm>
              <a:off x="5064850" y="3082950"/>
              <a:ext cx="149400" cy="251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1" name="Google Shape;71;p15"/>
          <p:cNvGrpSpPr/>
          <p:nvPr/>
        </p:nvGrpSpPr>
        <p:grpSpPr>
          <a:xfrm>
            <a:off x="5580749" y="2178255"/>
            <a:ext cx="2365581" cy="1156337"/>
            <a:chOff x="5428349" y="2025855"/>
            <a:chExt cx="2365581" cy="1156337"/>
          </a:xfrm>
        </p:grpSpPr>
        <p:sp>
          <p:nvSpPr>
            <p:cNvPr id="72" name="Google Shape;72;p15"/>
            <p:cNvSpPr/>
            <p:nvPr/>
          </p:nvSpPr>
          <p:spPr>
            <a:xfrm>
              <a:off x="5428349" y="2025855"/>
              <a:ext cx="2365581" cy="1156337"/>
            </a:xfrm>
            <a:custGeom>
              <a:rect b="b" l="l" r="r" t="t"/>
              <a:pathLst>
                <a:path extrusionOk="0" h="47827" w="37436">
                  <a:moveTo>
                    <a:pt x="0" y="46884"/>
                  </a:moveTo>
                  <a:cubicBezTo>
                    <a:pt x="3565" y="39072"/>
                    <a:pt x="15153" y="-147"/>
                    <a:pt x="21392" y="10"/>
                  </a:cubicBezTo>
                  <a:cubicBezTo>
                    <a:pt x="27631" y="167"/>
                    <a:pt x="34762" y="39858"/>
                    <a:pt x="37436" y="47828"/>
                  </a:cubicBez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73" name="Google Shape;73;p15"/>
            <p:cNvCxnSpPr/>
            <p:nvPr/>
          </p:nvCxnSpPr>
          <p:spPr>
            <a:xfrm flipH="1">
              <a:off x="5431575" y="2851900"/>
              <a:ext cx="298800" cy="314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sp>
        <p:nvSpPr>
          <p:cNvPr id="74" name="Google Shape;74;p15"/>
          <p:cNvSpPr/>
          <p:nvPr/>
        </p:nvSpPr>
        <p:spPr>
          <a:xfrm>
            <a:off x="4352401" y="3273254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2327925" y="3845825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704600" y="3880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loves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398700" y="3759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Mary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051848" y="2023000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sp>
        <p:nvSpPr>
          <p:cNvPr id="79" name="Google Shape;79;p15"/>
          <p:cNvSpPr/>
          <p:nvPr/>
        </p:nvSpPr>
        <p:spPr>
          <a:xfrm>
            <a:off x="6728823" y="2023000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grpSp>
        <p:nvGrpSpPr>
          <p:cNvPr id="80" name="Google Shape;80;p15"/>
          <p:cNvGrpSpPr/>
          <p:nvPr/>
        </p:nvGrpSpPr>
        <p:grpSpPr>
          <a:xfrm>
            <a:off x="2454275" y="4121750"/>
            <a:ext cx="5906950" cy="839250"/>
            <a:chOff x="2454275" y="4121750"/>
            <a:chExt cx="5906950" cy="839250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2454275" y="449930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9900"/>
                  </a:solidFill>
                </a:rPr>
                <a:t>Cat</a:t>
              </a:r>
              <a:endParaRPr i="1" sz="1800">
                <a:solidFill>
                  <a:srgbClr val="FF9900"/>
                </a:solidFill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7456725" y="434690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9900"/>
                  </a:solidFill>
                </a:rPr>
                <a:t>milk</a:t>
              </a:r>
              <a:endParaRPr i="1" sz="1800">
                <a:solidFill>
                  <a:srgbClr val="FF9900"/>
                </a:solidFill>
              </a:endParaRPr>
            </a:p>
          </p:txBody>
        </p:sp>
        <p:cxnSp>
          <p:nvCxnSpPr>
            <p:cNvPr id="83" name="Google Shape;83;p15"/>
            <p:cNvCxnSpPr/>
            <p:nvPr/>
          </p:nvCxnSpPr>
          <p:spPr>
            <a:xfrm flipH="1">
              <a:off x="2776275" y="4307525"/>
              <a:ext cx="390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" name="Google Shape;84;p15"/>
            <p:cNvCxnSpPr/>
            <p:nvPr/>
          </p:nvCxnSpPr>
          <p:spPr>
            <a:xfrm flipH="1">
              <a:off x="7749725" y="4121750"/>
              <a:ext cx="390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5" name="Google Shape;85;p15"/>
          <p:cNvGrpSpPr/>
          <p:nvPr/>
        </p:nvGrpSpPr>
        <p:grpSpPr>
          <a:xfrm>
            <a:off x="2972850" y="3775033"/>
            <a:ext cx="1864057" cy="983089"/>
            <a:chOff x="2901312" y="541457"/>
            <a:chExt cx="1833619" cy="2339018"/>
          </a:xfrm>
        </p:grpSpPr>
        <p:sp>
          <p:nvSpPr>
            <p:cNvPr id="86" name="Google Shape;86;p15"/>
            <p:cNvSpPr/>
            <p:nvPr/>
          </p:nvSpPr>
          <p:spPr>
            <a:xfrm>
              <a:off x="2901312" y="616325"/>
              <a:ext cx="1810275" cy="2264150"/>
            </a:xfrm>
            <a:custGeom>
              <a:rect b="b" l="l" r="r" t="t"/>
              <a:pathLst>
                <a:path extrusionOk="0" h="90566" w="72411">
                  <a:moveTo>
                    <a:pt x="0" y="90566"/>
                  </a:moveTo>
                  <a:cubicBezTo>
                    <a:pt x="8714" y="85886"/>
                    <a:pt x="40214" y="77578"/>
                    <a:pt x="52282" y="62484"/>
                  </a:cubicBezTo>
                  <a:cubicBezTo>
                    <a:pt x="64351" y="47390"/>
                    <a:pt x="69056" y="10414"/>
                    <a:pt x="72411" y="0"/>
                  </a:cubicBezTo>
                </a:path>
              </a:pathLst>
            </a:cu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87" name="Google Shape;87;p15"/>
            <p:cNvCxnSpPr/>
            <p:nvPr/>
          </p:nvCxnSpPr>
          <p:spPr>
            <a:xfrm flipH="1" rot="10800000">
              <a:off x="4654831" y="541457"/>
              <a:ext cx="80100" cy="3240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8" name="Google Shape;88;p15"/>
          <p:cNvGrpSpPr/>
          <p:nvPr/>
        </p:nvGrpSpPr>
        <p:grpSpPr>
          <a:xfrm>
            <a:off x="5662522" y="3806499"/>
            <a:ext cx="1863963" cy="776473"/>
            <a:chOff x="1176531" y="939427"/>
            <a:chExt cx="1956300" cy="1847425"/>
          </a:xfrm>
        </p:grpSpPr>
        <p:sp>
          <p:nvSpPr>
            <p:cNvPr id="89" name="Google Shape;89;p15"/>
            <p:cNvSpPr/>
            <p:nvPr/>
          </p:nvSpPr>
          <p:spPr>
            <a:xfrm>
              <a:off x="1176531" y="939427"/>
              <a:ext cx="1956300" cy="1847425"/>
            </a:xfrm>
            <a:custGeom>
              <a:rect b="b" l="l" r="r" t="t"/>
              <a:pathLst>
                <a:path extrusionOk="0" h="73897" w="78252">
                  <a:moveTo>
                    <a:pt x="78252" y="73897"/>
                  </a:moveTo>
                  <a:cubicBezTo>
                    <a:pt x="70761" y="71384"/>
                    <a:pt x="46349" y="71136"/>
                    <a:pt x="33307" y="58820"/>
                  </a:cubicBezTo>
                  <a:cubicBezTo>
                    <a:pt x="20265" y="46504"/>
                    <a:pt x="5551" y="9803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90" name="Google Shape;90;p15"/>
            <p:cNvCxnSpPr/>
            <p:nvPr/>
          </p:nvCxnSpPr>
          <p:spPr>
            <a:xfrm rot="10800000">
              <a:off x="1199830" y="939559"/>
              <a:ext cx="83100" cy="2490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1" name="Google Shape;91;p15"/>
          <p:cNvSpPr/>
          <p:nvPr/>
        </p:nvSpPr>
        <p:spPr>
          <a:xfrm>
            <a:off x="4051848" y="4309000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sp>
        <p:nvSpPr>
          <p:cNvPr id="92" name="Google Shape;92;p15"/>
          <p:cNvSpPr/>
          <p:nvPr/>
        </p:nvSpPr>
        <p:spPr>
          <a:xfrm>
            <a:off x="6728823" y="4309000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Where to get initial embedding (x)? → One-hot Vector/tf-idf/word2vec</a:t>
            </a:r>
            <a:endParaRPr sz="2020"/>
          </a:p>
        </p:txBody>
      </p:sp>
      <p:pic>
        <p:nvPicPr>
          <p:cNvPr id="98" name="Google Shape;98;p16"/>
          <p:cNvPicPr preferRelativeResize="0"/>
          <p:nvPr/>
        </p:nvPicPr>
        <p:blipFill rotWithShape="1">
          <a:blip r:embed="rId3">
            <a:alphaModFix/>
          </a:blip>
          <a:srcRect b="41568" l="0" r="0" t="0"/>
          <a:stretch/>
        </p:blipFill>
        <p:spPr>
          <a:xfrm>
            <a:off x="1415250" y="2839125"/>
            <a:ext cx="6585826" cy="19561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12937" r="0" t="66454"/>
          <a:stretch/>
        </p:blipFill>
        <p:spPr>
          <a:xfrm>
            <a:off x="104298" y="1229025"/>
            <a:ext cx="6493592" cy="1271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3368900" y="3124650"/>
            <a:ext cx="779700" cy="1451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16"/>
          <p:cNvGrpSpPr/>
          <p:nvPr/>
        </p:nvGrpSpPr>
        <p:grpSpPr>
          <a:xfrm>
            <a:off x="6597890" y="1502476"/>
            <a:ext cx="2234409" cy="724692"/>
            <a:chOff x="6597890" y="1502476"/>
            <a:chExt cx="2234409" cy="724692"/>
          </a:xfrm>
        </p:grpSpPr>
        <p:pic>
          <p:nvPicPr>
            <p:cNvPr id="102" name="Google Shape;102;p16"/>
            <p:cNvPicPr preferRelativeResize="0"/>
            <p:nvPr/>
          </p:nvPicPr>
          <p:blipFill rotWithShape="1">
            <a:blip r:embed="rId4">
              <a:alphaModFix/>
            </a:blip>
            <a:srcRect b="56265" l="23623" r="61953" t="0"/>
            <a:stretch/>
          </p:blipFill>
          <p:spPr>
            <a:xfrm>
              <a:off x="7337800" y="1502476"/>
              <a:ext cx="1494499" cy="7246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3" name="Google Shape;103;p16"/>
            <p:cNvCxnSpPr>
              <a:stCxn id="99" idx="3"/>
              <a:endCxn id="102" idx="1"/>
            </p:cNvCxnSpPr>
            <p:nvPr/>
          </p:nvCxnSpPr>
          <p:spPr>
            <a:xfrm flipH="1" rot="10800000">
              <a:off x="6597890" y="1864681"/>
              <a:ext cx="739800" cy="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04" name="Google Shape;104;p16"/>
          <p:cNvPicPr preferRelativeResize="0"/>
          <p:nvPr/>
        </p:nvPicPr>
        <p:blipFill rotWithShape="1">
          <a:blip r:embed="rId5">
            <a:alphaModFix/>
          </a:blip>
          <a:srcRect b="0" l="0" r="49884" t="0"/>
          <a:stretch/>
        </p:blipFill>
        <p:spPr>
          <a:xfrm>
            <a:off x="6719725" y="1017725"/>
            <a:ext cx="561525" cy="7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1991000" y="2110050"/>
            <a:ext cx="11457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9900FF"/>
                </a:solidFill>
              </a:rPr>
              <a:t>Influence</a:t>
            </a:r>
            <a:endParaRPr i="1" sz="1800">
              <a:solidFill>
                <a:srgbClr val="9900FF"/>
              </a:solidFill>
            </a:endParaRPr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Embedding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7"/>
          <p:cNvGrpSpPr/>
          <p:nvPr/>
        </p:nvGrpSpPr>
        <p:grpSpPr>
          <a:xfrm>
            <a:off x="2856599" y="2178205"/>
            <a:ext cx="2365581" cy="1156445"/>
            <a:chOff x="2856599" y="2178205"/>
            <a:chExt cx="2365581" cy="1156445"/>
          </a:xfrm>
        </p:grpSpPr>
        <p:sp>
          <p:nvSpPr>
            <p:cNvPr id="113" name="Google Shape;113;p17"/>
            <p:cNvSpPr/>
            <p:nvPr/>
          </p:nvSpPr>
          <p:spPr>
            <a:xfrm>
              <a:off x="2856599" y="2178205"/>
              <a:ext cx="2365581" cy="1156337"/>
            </a:xfrm>
            <a:custGeom>
              <a:rect b="b" l="l" r="r" t="t"/>
              <a:pathLst>
                <a:path extrusionOk="0" h="47827" w="37436">
                  <a:moveTo>
                    <a:pt x="0" y="46884"/>
                  </a:moveTo>
                  <a:cubicBezTo>
                    <a:pt x="3565" y="39072"/>
                    <a:pt x="15153" y="-147"/>
                    <a:pt x="21392" y="10"/>
                  </a:cubicBezTo>
                  <a:cubicBezTo>
                    <a:pt x="27631" y="167"/>
                    <a:pt x="34762" y="39858"/>
                    <a:pt x="37436" y="47828"/>
                  </a:cubicBez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114" name="Google Shape;114;p17"/>
            <p:cNvCxnSpPr/>
            <p:nvPr/>
          </p:nvCxnSpPr>
          <p:spPr>
            <a:xfrm>
              <a:off x="5064850" y="3082950"/>
              <a:ext cx="149400" cy="251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15" name="Google Shape;115;p17"/>
          <p:cNvGrpSpPr/>
          <p:nvPr/>
        </p:nvGrpSpPr>
        <p:grpSpPr>
          <a:xfrm>
            <a:off x="5580749" y="2178255"/>
            <a:ext cx="2365581" cy="1156337"/>
            <a:chOff x="5428349" y="2025855"/>
            <a:chExt cx="2365581" cy="1156337"/>
          </a:xfrm>
        </p:grpSpPr>
        <p:sp>
          <p:nvSpPr>
            <p:cNvPr id="116" name="Google Shape;116;p17"/>
            <p:cNvSpPr/>
            <p:nvPr/>
          </p:nvSpPr>
          <p:spPr>
            <a:xfrm>
              <a:off x="5428349" y="2025855"/>
              <a:ext cx="2365581" cy="1156337"/>
            </a:xfrm>
            <a:custGeom>
              <a:rect b="b" l="l" r="r" t="t"/>
              <a:pathLst>
                <a:path extrusionOk="0" h="47827" w="37436">
                  <a:moveTo>
                    <a:pt x="0" y="46884"/>
                  </a:moveTo>
                  <a:cubicBezTo>
                    <a:pt x="3565" y="39072"/>
                    <a:pt x="15153" y="-147"/>
                    <a:pt x="21392" y="10"/>
                  </a:cubicBezTo>
                  <a:cubicBezTo>
                    <a:pt x="27631" y="167"/>
                    <a:pt x="34762" y="39858"/>
                    <a:pt x="37436" y="47828"/>
                  </a:cubicBez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117" name="Google Shape;117;p17"/>
            <p:cNvCxnSpPr/>
            <p:nvPr/>
          </p:nvCxnSpPr>
          <p:spPr>
            <a:xfrm flipH="1">
              <a:off x="5431575" y="2851900"/>
              <a:ext cx="298800" cy="314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8" name="Google Shape;118;p17"/>
          <p:cNvSpPr/>
          <p:nvPr/>
        </p:nvSpPr>
        <p:spPr>
          <a:xfrm>
            <a:off x="4352401" y="3273254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2327925" y="3845825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704600" y="3880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loves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7398700" y="3759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Mary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054450" y="2110050"/>
            <a:ext cx="4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%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770750" y="2110050"/>
            <a:ext cx="4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%</a:t>
            </a:r>
            <a:endParaRPr sz="1800">
              <a:solidFill>
                <a:srgbClr val="9900FF"/>
              </a:solidFill>
            </a:endParaRPr>
          </a:p>
        </p:txBody>
      </p:sp>
      <p:grpSp>
        <p:nvGrpSpPr>
          <p:cNvPr id="124" name="Google Shape;124;p17"/>
          <p:cNvGrpSpPr/>
          <p:nvPr/>
        </p:nvGrpSpPr>
        <p:grpSpPr>
          <a:xfrm>
            <a:off x="2454275" y="4121750"/>
            <a:ext cx="5906950" cy="839250"/>
            <a:chOff x="2454275" y="4121750"/>
            <a:chExt cx="5906950" cy="839250"/>
          </a:xfrm>
        </p:grpSpPr>
        <p:sp>
          <p:nvSpPr>
            <p:cNvPr id="125" name="Google Shape;125;p17"/>
            <p:cNvSpPr txBox="1"/>
            <p:nvPr/>
          </p:nvSpPr>
          <p:spPr>
            <a:xfrm>
              <a:off x="2454275" y="449930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9900"/>
                  </a:solidFill>
                </a:rPr>
                <a:t>Cat</a:t>
              </a:r>
              <a:endParaRPr i="1" sz="1800">
                <a:solidFill>
                  <a:srgbClr val="FF9900"/>
                </a:solidFill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7456725" y="434690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9900"/>
                  </a:solidFill>
                </a:rPr>
                <a:t>milk</a:t>
              </a:r>
              <a:endParaRPr i="1" sz="1800">
                <a:solidFill>
                  <a:srgbClr val="FF9900"/>
                </a:solidFill>
              </a:endParaRPr>
            </a:p>
          </p:txBody>
        </p:sp>
        <p:cxnSp>
          <p:nvCxnSpPr>
            <p:cNvPr id="127" name="Google Shape;127;p17"/>
            <p:cNvCxnSpPr>
              <a:stCxn id="119" idx="2"/>
            </p:cNvCxnSpPr>
            <p:nvPr/>
          </p:nvCxnSpPr>
          <p:spPr>
            <a:xfrm flipH="1">
              <a:off x="2776275" y="4307525"/>
              <a:ext cx="390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17"/>
            <p:cNvCxnSpPr/>
            <p:nvPr/>
          </p:nvCxnSpPr>
          <p:spPr>
            <a:xfrm flipH="1">
              <a:off x="7749725" y="4121750"/>
              <a:ext cx="390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9" name="Google Shape;129;p17"/>
          <p:cNvGrpSpPr/>
          <p:nvPr/>
        </p:nvGrpSpPr>
        <p:grpSpPr>
          <a:xfrm>
            <a:off x="2972850" y="3775033"/>
            <a:ext cx="1864057" cy="983089"/>
            <a:chOff x="2972850" y="3775033"/>
            <a:chExt cx="1864057" cy="983089"/>
          </a:xfrm>
        </p:grpSpPr>
        <p:grpSp>
          <p:nvGrpSpPr>
            <p:cNvPr id="130" name="Google Shape;130;p17"/>
            <p:cNvGrpSpPr/>
            <p:nvPr/>
          </p:nvGrpSpPr>
          <p:grpSpPr>
            <a:xfrm>
              <a:off x="2972850" y="3775033"/>
              <a:ext cx="1864057" cy="983089"/>
              <a:chOff x="2901312" y="541457"/>
              <a:chExt cx="1833619" cy="2339018"/>
            </a:xfrm>
          </p:grpSpPr>
          <p:sp>
            <p:nvSpPr>
              <p:cNvPr id="131" name="Google Shape;131;p17"/>
              <p:cNvSpPr/>
              <p:nvPr/>
            </p:nvSpPr>
            <p:spPr>
              <a:xfrm>
                <a:off x="2901312" y="616325"/>
                <a:ext cx="1810275" cy="2264150"/>
              </a:xfrm>
              <a:custGeom>
                <a:rect b="b" l="l" r="r" t="t"/>
                <a:pathLst>
                  <a:path extrusionOk="0" h="90566" w="72411">
                    <a:moveTo>
                      <a:pt x="0" y="90566"/>
                    </a:moveTo>
                    <a:cubicBezTo>
                      <a:pt x="8714" y="85886"/>
                      <a:pt x="40214" y="77578"/>
                      <a:pt x="52282" y="62484"/>
                    </a:cubicBezTo>
                    <a:cubicBezTo>
                      <a:pt x="64351" y="47390"/>
                      <a:pt x="69056" y="10414"/>
                      <a:pt x="72411" y="0"/>
                    </a:cubicBezTo>
                  </a:path>
                </a:pathLst>
              </a:custGeom>
              <a:noFill/>
              <a:ln cap="flat" cmpd="sng" w="19050">
                <a:solidFill>
                  <a:srgbClr val="FF99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32" name="Google Shape;132;p17"/>
              <p:cNvCxnSpPr/>
              <p:nvPr/>
            </p:nvCxnSpPr>
            <p:spPr>
              <a:xfrm flipH="1" rot="10800000">
                <a:off x="4654831" y="541457"/>
                <a:ext cx="80100" cy="324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33" name="Google Shape;133;p17"/>
            <p:cNvSpPr txBox="1"/>
            <p:nvPr/>
          </p:nvSpPr>
          <p:spPr>
            <a:xfrm>
              <a:off x="3206850" y="42436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%</a:t>
              </a:r>
              <a:endParaRPr sz="1800">
                <a:solidFill>
                  <a:srgbClr val="FF9900"/>
                </a:solidFill>
              </a:endParaRPr>
            </a:p>
          </p:txBody>
        </p:sp>
      </p:grpSp>
      <p:grpSp>
        <p:nvGrpSpPr>
          <p:cNvPr id="134" name="Google Shape;134;p17"/>
          <p:cNvGrpSpPr/>
          <p:nvPr/>
        </p:nvGrpSpPr>
        <p:grpSpPr>
          <a:xfrm>
            <a:off x="5662522" y="3806499"/>
            <a:ext cx="1863963" cy="898851"/>
            <a:chOff x="5662522" y="3806499"/>
            <a:chExt cx="1863963" cy="898851"/>
          </a:xfrm>
        </p:grpSpPr>
        <p:grpSp>
          <p:nvGrpSpPr>
            <p:cNvPr id="135" name="Google Shape;135;p17"/>
            <p:cNvGrpSpPr/>
            <p:nvPr/>
          </p:nvGrpSpPr>
          <p:grpSpPr>
            <a:xfrm>
              <a:off x="5662522" y="3806499"/>
              <a:ext cx="1863963" cy="776473"/>
              <a:chOff x="1176531" y="939427"/>
              <a:chExt cx="1956300" cy="1847425"/>
            </a:xfrm>
          </p:grpSpPr>
          <p:sp>
            <p:nvSpPr>
              <p:cNvPr id="136" name="Google Shape;136;p17"/>
              <p:cNvSpPr/>
              <p:nvPr/>
            </p:nvSpPr>
            <p:spPr>
              <a:xfrm>
                <a:off x="1176531" y="939427"/>
                <a:ext cx="1956300" cy="1847425"/>
              </a:xfrm>
              <a:custGeom>
                <a:rect b="b" l="l" r="r" t="t"/>
                <a:pathLst>
                  <a:path extrusionOk="0" h="73897" w="78252">
                    <a:moveTo>
                      <a:pt x="78252" y="73897"/>
                    </a:moveTo>
                    <a:cubicBezTo>
                      <a:pt x="70761" y="71384"/>
                      <a:pt x="46349" y="71136"/>
                      <a:pt x="33307" y="58820"/>
                    </a:cubicBezTo>
                    <a:cubicBezTo>
                      <a:pt x="20265" y="46504"/>
                      <a:pt x="5551" y="9803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99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37" name="Google Shape;137;p17"/>
              <p:cNvCxnSpPr/>
              <p:nvPr/>
            </p:nvCxnSpPr>
            <p:spPr>
              <a:xfrm rot="10800000">
                <a:off x="1199830" y="939559"/>
                <a:ext cx="83100" cy="249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38" name="Google Shape;138;p17"/>
            <p:cNvSpPr txBox="1"/>
            <p:nvPr/>
          </p:nvSpPr>
          <p:spPr>
            <a:xfrm>
              <a:off x="5923150" y="42436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%</a:t>
              </a:r>
              <a:endParaRPr sz="1800">
                <a:solidFill>
                  <a:srgbClr val="FF9900"/>
                </a:solidFill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4246985" y="1241450"/>
            <a:ext cx="1875546" cy="2031804"/>
            <a:chOff x="4246985" y="1241450"/>
            <a:chExt cx="1875546" cy="2031804"/>
          </a:xfrm>
        </p:grpSpPr>
        <p:pic>
          <p:nvPicPr>
            <p:cNvPr id="140" name="Google Shape;140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46985" y="1241450"/>
              <a:ext cx="1875546" cy="70333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1" name="Google Shape;141;p17"/>
            <p:cNvCxnSpPr>
              <a:stCxn id="118" idx="0"/>
              <a:endCxn id="140" idx="2"/>
            </p:cNvCxnSpPr>
            <p:nvPr/>
          </p:nvCxnSpPr>
          <p:spPr>
            <a:xfrm flipH="1" rot="10800000">
              <a:off x="5156851" y="1944854"/>
              <a:ext cx="27900" cy="1328400"/>
            </a:xfrm>
            <a:prstGeom prst="straightConnector1">
              <a:avLst/>
            </a:prstGeom>
            <a:noFill/>
            <a:ln cap="flat" cmpd="sng" w="19050">
              <a:solidFill>
                <a:srgbClr val="D5A6B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2" name="Google Shape;142;p17"/>
          <p:cNvSpPr/>
          <p:nvPr/>
        </p:nvSpPr>
        <p:spPr>
          <a:xfrm>
            <a:off x="5257473" y="1412346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5">
            <a:alphaModFix/>
          </a:blip>
          <a:srcRect b="37994" l="8429" r="4584" t="32930"/>
          <a:stretch/>
        </p:blipFill>
        <p:spPr>
          <a:xfrm>
            <a:off x="6122525" y="1333038"/>
            <a:ext cx="1381348" cy="461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7"/>
          <p:cNvGrpSpPr/>
          <p:nvPr/>
        </p:nvGrpSpPr>
        <p:grpSpPr>
          <a:xfrm>
            <a:off x="5709525" y="0"/>
            <a:ext cx="2806600" cy="1188350"/>
            <a:chOff x="5709525" y="0"/>
            <a:chExt cx="2806600" cy="1188350"/>
          </a:xfrm>
        </p:grpSpPr>
        <p:sp>
          <p:nvSpPr>
            <p:cNvPr id="145" name="Google Shape;145;p17"/>
            <p:cNvSpPr/>
            <p:nvPr/>
          </p:nvSpPr>
          <p:spPr>
            <a:xfrm>
              <a:off x="5770750" y="133850"/>
              <a:ext cx="2745300" cy="10545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17"/>
            <p:cNvGrpSpPr/>
            <p:nvPr/>
          </p:nvGrpSpPr>
          <p:grpSpPr>
            <a:xfrm>
              <a:off x="5709525" y="0"/>
              <a:ext cx="2806600" cy="1078164"/>
              <a:chOff x="5709525" y="0"/>
              <a:chExt cx="2806600" cy="1078164"/>
            </a:xfrm>
          </p:grpSpPr>
          <p:sp>
            <p:nvSpPr>
              <p:cNvPr id="147" name="Google Shape;147;p17"/>
              <p:cNvSpPr txBox="1"/>
              <p:nvPr/>
            </p:nvSpPr>
            <p:spPr>
              <a:xfrm>
                <a:off x="5709525" y="475100"/>
                <a:ext cx="839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" sz="1800">
                    <a:solidFill>
                      <a:srgbClr val="FF0000"/>
                    </a:solidFill>
                  </a:rPr>
                  <a:t>loves</a:t>
                </a:r>
                <a:endParaRPr i="1" sz="1800">
                  <a:solidFill>
                    <a:srgbClr val="FF0000"/>
                  </a:solidFill>
                </a:endParaRPr>
              </a:p>
            </p:txBody>
          </p:sp>
          <p:pic>
            <p:nvPicPr>
              <p:cNvPr id="148" name="Google Shape;148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4736" r="5730" t="0"/>
              <a:stretch/>
            </p:blipFill>
            <p:spPr>
              <a:xfrm>
                <a:off x="6836850" y="0"/>
                <a:ext cx="1679275" cy="7033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9" name="Google Shape;149;p17"/>
              <p:cNvPicPr preferRelativeResize="0"/>
              <p:nvPr/>
            </p:nvPicPr>
            <p:blipFill rotWithShape="1">
              <a:blip r:embed="rId5">
                <a:alphaModFix/>
              </a:blip>
              <a:srcRect b="37994" l="8429" r="4584" t="32930"/>
              <a:stretch/>
            </p:blipFill>
            <p:spPr>
              <a:xfrm>
                <a:off x="6938527" y="616463"/>
                <a:ext cx="1381348" cy="46170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0" name="Google Shape;150;p17"/>
              <p:cNvCxnSpPr>
                <a:stCxn id="147" idx="3"/>
                <a:endCxn id="148" idx="1"/>
              </p:cNvCxnSpPr>
              <p:nvPr/>
            </p:nvCxnSpPr>
            <p:spPr>
              <a:xfrm flipH="1" rot="10800000">
                <a:off x="6549225" y="351650"/>
                <a:ext cx="287700" cy="35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51" name="Google Shape;151;p17"/>
              <p:cNvCxnSpPr>
                <a:endCxn id="149" idx="1"/>
              </p:cNvCxnSpPr>
              <p:nvPr/>
            </p:nvCxnSpPr>
            <p:spPr>
              <a:xfrm>
                <a:off x="6549127" y="709313"/>
                <a:ext cx="389400" cy="13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Embedding (n-gram-style)</a:t>
            </a:r>
            <a:endParaRPr/>
          </a:p>
        </p:txBody>
      </p:sp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8"/>
          <p:cNvGrpSpPr/>
          <p:nvPr/>
        </p:nvGrpSpPr>
        <p:grpSpPr>
          <a:xfrm>
            <a:off x="2856599" y="2178205"/>
            <a:ext cx="2365581" cy="1156445"/>
            <a:chOff x="2856599" y="2178205"/>
            <a:chExt cx="2365581" cy="1156445"/>
          </a:xfrm>
        </p:grpSpPr>
        <p:sp>
          <p:nvSpPr>
            <p:cNvPr id="159" name="Google Shape;159;p18"/>
            <p:cNvSpPr/>
            <p:nvPr/>
          </p:nvSpPr>
          <p:spPr>
            <a:xfrm>
              <a:off x="2856599" y="2178205"/>
              <a:ext cx="2365581" cy="1156337"/>
            </a:xfrm>
            <a:custGeom>
              <a:rect b="b" l="l" r="r" t="t"/>
              <a:pathLst>
                <a:path extrusionOk="0" h="47827" w="37436">
                  <a:moveTo>
                    <a:pt x="0" y="46884"/>
                  </a:moveTo>
                  <a:cubicBezTo>
                    <a:pt x="3565" y="39072"/>
                    <a:pt x="15153" y="-147"/>
                    <a:pt x="21392" y="10"/>
                  </a:cubicBezTo>
                  <a:cubicBezTo>
                    <a:pt x="27631" y="167"/>
                    <a:pt x="34762" y="39858"/>
                    <a:pt x="37436" y="47828"/>
                  </a:cubicBez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160" name="Google Shape;160;p18"/>
            <p:cNvCxnSpPr/>
            <p:nvPr/>
          </p:nvCxnSpPr>
          <p:spPr>
            <a:xfrm>
              <a:off x="5064850" y="3082950"/>
              <a:ext cx="149400" cy="251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1" name="Google Shape;161;p18"/>
          <p:cNvSpPr txBox="1"/>
          <p:nvPr/>
        </p:nvSpPr>
        <p:spPr>
          <a:xfrm>
            <a:off x="2327925" y="3845825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4704600" y="3880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loves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7551100" y="380622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3054450" y="2110050"/>
            <a:ext cx="4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%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862298" y="3181600"/>
            <a:ext cx="4146300" cy="48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6876975" y="3164324"/>
            <a:ext cx="1608900" cy="57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8"/>
          <p:cNvGrpSpPr/>
          <p:nvPr/>
        </p:nvGrpSpPr>
        <p:grpSpPr>
          <a:xfrm>
            <a:off x="5609029" y="2110050"/>
            <a:ext cx="2337194" cy="1071561"/>
            <a:chOff x="5609029" y="2110050"/>
            <a:chExt cx="2337194" cy="1071561"/>
          </a:xfrm>
        </p:grpSpPr>
        <p:grpSp>
          <p:nvGrpSpPr>
            <p:cNvPr id="168" name="Google Shape;168;p18"/>
            <p:cNvGrpSpPr/>
            <p:nvPr/>
          </p:nvGrpSpPr>
          <p:grpSpPr>
            <a:xfrm>
              <a:off x="5609029" y="2178257"/>
              <a:ext cx="2337194" cy="1003354"/>
              <a:chOff x="5428349" y="2025855"/>
              <a:chExt cx="2365581" cy="1156337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5428349" y="2025855"/>
                <a:ext cx="2365581" cy="1156337"/>
              </a:xfrm>
              <a:custGeom>
                <a:rect b="b" l="l" r="r" t="t"/>
                <a:pathLst>
                  <a:path extrusionOk="0" h="47827" w="37436">
                    <a:moveTo>
                      <a:pt x="0" y="46884"/>
                    </a:moveTo>
                    <a:cubicBezTo>
                      <a:pt x="3565" y="39072"/>
                      <a:pt x="15153" y="-147"/>
                      <a:pt x="21392" y="10"/>
                    </a:cubicBezTo>
                    <a:cubicBezTo>
                      <a:pt x="27631" y="167"/>
                      <a:pt x="34762" y="39858"/>
                      <a:pt x="37436" y="47828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70" name="Google Shape;170;p18"/>
              <p:cNvCxnSpPr/>
              <p:nvPr/>
            </p:nvCxnSpPr>
            <p:spPr>
              <a:xfrm>
                <a:off x="7591984" y="2887204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1" name="Google Shape;171;p18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172" name="Google Shape;172;p18"/>
          <p:cNvGrpSpPr/>
          <p:nvPr/>
        </p:nvGrpSpPr>
        <p:grpSpPr>
          <a:xfrm>
            <a:off x="4427825" y="3609432"/>
            <a:ext cx="4593000" cy="1465043"/>
            <a:chOff x="4427825" y="3609432"/>
            <a:chExt cx="4593000" cy="1465043"/>
          </a:xfrm>
        </p:grpSpPr>
        <p:grpSp>
          <p:nvGrpSpPr>
            <p:cNvPr id="173" name="Google Shape;173;p18"/>
            <p:cNvGrpSpPr/>
            <p:nvPr/>
          </p:nvGrpSpPr>
          <p:grpSpPr>
            <a:xfrm rot="10800000">
              <a:off x="5659179" y="3609432"/>
              <a:ext cx="2337194" cy="1003354"/>
              <a:chOff x="5428349" y="2025855"/>
              <a:chExt cx="2365581" cy="1156337"/>
            </a:xfrm>
          </p:grpSpPr>
          <p:sp>
            <p:nvSpPr>
              <p:cNvPr id="174" name="Google Shape;174;p18"/>
              <p:cNvSpPr/>
              <p:nvPr/>
            </p:nvSpPr>
            <p:spPr>
              <a:xfrm>
                <a:off x="5428349" y="2025855"/>
                <a:ext cx="2365581" cy="1156337"/>
              </a:xfrm>
              <a:custGeom>
                <a:rect b="b" l="l" r="r" t="t"/>
                <a:pathLst>
                  <a:path extrusionOk="0" h="47827" w="37436">
                    <a:moveTo>
                      <a:pt x="0" y="46884"/>
                    </a:moveTo>
                    <a:cubicBezTo>
                      <a:pt x="3565" y="39072"/>
                      <a:pt x="15153" y="-147"/>
                      <a:pt x="21392" y="10"/>
                    </a:cubicBezTo>
                    <a:cubicBezTo>
                      <a:pt x="27631" y="167"/>
                      <a:pt x="34762" y="39858"/>
                      <a:pt x="37436" y="47828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75" name="Google Shape;175;p18"/>
              <p:cNvCxnSpPr/>
              <p:nvPr/>
            </p:nvCxnSpPr>
            <p:spPr>
              <a:xfrm>
                <a:off x="7554975" y="2773250"/>
                <a:ext cx="180900" cy="408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6" name="Google Shape;176;p18"/>
            <p:cNvSpPr/>
            <p:nvPr/>
          </p:nvSpPr>
          <p:spPr>
            <a:xfrm>
              <a:off x="6736673" y="4342125"/>
              <a:ext cx="300550" cy="32517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FF0000"/>
                  </a:solidFill>
                  <a:latin typeface="Arial"/>
                </a:rPr>
                <a:t>x</a:t>
              </a:r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4427825" y="4612775"/>
              <a:ext cx="4593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Unless bi-directional RNN-styled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Contextual Embedding (bi-directional </a:t>
            </a:r>
            <a:r>
              <a:rPr lang="en" sz="2020">
                <a:solidFill>
                  <a:srgbClr val="FF0000"/>
                </a:solidFill>
              </a:rPr>
              <a:t>skip</a:t>
            </a:r>
            <a:r>
              <a:rPr lang="en" sz="2020"/>
              <a:t>-gram-style)</a:t>
            </a:r>
            <a:endParaRPr sz="2020"/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2398384" y="3728654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4775059" y="3763079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loves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7398700" y="3759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187" name="Google Shape;187;p19"/>
          <p:cNvGrpSpPr/>
          <p:nvPr/>
        </p:nvGrpSpPr>
        <p:grpSpPr>
          <a:xfrm>
            <a:off x="5363700" y="2110050"/>
            <a:ext cx="3122176" cy="1626979"/>
            <a:chOff x="5363700" y="2110050"/>
            <a:chExt cx="3122176" cy="1626979"/>
          </a:xfrm>
        </p:grpSpPr>
        <p:grpSp>
          <p:nvGrpSpPr>
            <p:cNvPr id="188" name="Google Shape;188;p19"/>
            <p:cNvGrpSpPr/>
            <p:nvPr/>
          </p:nvGrpSpPr>
          <p:grpSpPr>
            <a:xfrm>
              <a:off x="5363700" y="2174514"/>
              <a:ext cx="2618949" cy="1164215"/>
              <a:chOff x="5180040" y="2021541"/>
              <a:chExt cx="2650758" cy="1341725"/>
            </a:xfrm>
          </p:grpSpPr>
          <p:sp>
            <p:nvSpPr>
              <p:cNvPr id="189" name="Google Shape;189;p19"/>
              <p:cNvSpPr/>
              <p:nvPr/>
            </p:nvSpPr>
            <p:spPr>
              <a:xfrm>
                <a:off x="5180040" y="2021541"/>
                <a:ext cx="2650750" cy="1341725"/>
              </a:xfrm>
              <a:custGeom>
                <a:rect b="b" l="l" r="r" t="t"/>
                <a:pathLst>
                  <a:path extrusionOk="0" h="53669" w="106030">
                    <a:moveTo>
                      <a:pt x="0" y="53669"/>
                    </a:moveTo>
                    <a:cubicBezTo>
                      <a:pt x="10667" y="44726"/>
                      <a:pt x="46331" y="705"/>
                      <a:pt x="64003" y="9"/>
                    </a:cubicBezTo>
                    <a:cubicBezTo>
                      <a:pt x="81675" y="-687"/>
                      <a:pt x="99026" y="41244"/>
                      <a:pt x="106030" y="49491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90" name="Google Shape;190;p19"/>
              <p:cNvCxnSpPr/>
              <p:nvPr/>
            </p:nvCxnSpPr>
            <p:spPr>
              <a:xfrm>
                <a:off x="7634899" y="2941687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1" name="Google Shape;191;p19"/>
            <p:cNvSpPr/>
            <p:nvPr/>
          </p:nvSpPr>
          <p:spPr>
            <a:xfrm>
              <a:off x="6876976" y="3251029"/>
              <a:ext cx="1608900" cy="486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2862750" y="1077125"/>
            <a:ext cx="4866874" cy="2249635"/>
            <a:chOff x="3914900" y="2110050"/>
            <a:chExt cx="4866874" cy="2249635"/>
          </a:xfrm>
        </p:grpSpPr>
        <p:grpSp>
          <p:nvGrpSpPr>
            <p:cNvPr id="194" name="Google Shape;194;p19"/>
            <p:cNvGrpSpPr/>
            <p:nvPr/>
          </p:nvGrpSpPr>
          <p:grpSpPr>
            <a:xfrm>
              <a:off x="3914900" y="2178370"/>
              <a:ext cx="4866874" cy="2181315"/>
              <a:chOff x="3713644" y="2025984"/>
              <a:chExt cx="4925986" cy="2513904"/>
            </a:xfrm>
          </p:grpSpPr>
          <p:sp>
            <p:nvSpPr>
              <p:cNvPr id="195" name="Google Shape;195;p19"/>
              <p:cNvSpPr/>
              <p:nvPr/>
            </p:nvSpPr>
            <p:spPr>
              <a:xfrm>
                <a:off x="3713644" y="2025984"/>
                <a:ext cx="4871625" cy="2513900"/>
              </a:xfrm>
              <a:custGeom>
                <a:rect b="b" l="l" r="r" t="t"/>
                <a:pathLst>
                  <a:path extrusionOk="0" h="100556" w="194865">
                    <a:moveTo>
                      <a:pt x="0" y="100556"/>
                    </a:moveTo>
                    <a:cubicBezTo>
                      <a:pt x="20443" y="83798"/>
                      <a:pt x="90182" y="730"/>
                      <a:pt x="122659" y="5"/>
                    </a:cubicBezTo>
                    <a:cubicBezTo>
                      <a:pt x="155137" y="-720"/>
                      <a:pt x="182831" y="80172"/>
                      <a:pt x="194865" y="96205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96" name="Google Shape;196;p19"/>
              <p:cNvCxnSpPr/>
              <p:nvPr/>
            </p:nvCxnSpPr>
            <p:spPr>
              <a:xfrm>
                <a:off x="8443730" y="4244989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7" name="Google Shape;197;p19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sp>
        <p:nvSpPr>
          <p:cNvPr id="198" name="Google Shape;198;p19"/>
          <p:cNvSpPr txBox="1"/>
          <p:nvPr/>
        </p:nvSpPr>
        <p:spPr>
          <a:xfrm>
            <a:off x="3372627" y="1971100"/>
            <a:ext cx="18201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s</a:t>
            </a:r>
            <a:r>
              <a:rPr i="1" lang="en" sz="1800">
                <a:solidFill>
                  <a:srgbClr val="FF0000"/>
                </a:solidFill>
              </a:rPr>
              <a:t>kips “loves”</a:t>
            </a:r>
            <a:endParaRPr i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/>
        </p:nvSpPr>
        <p:spPr>
          <a:xfrm>
            <a:off x="1282350" y="1077125"/>
            <a:ext cx="36051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(“skip”) Influence = self-attention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209" name="Google Shape;2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What is </a:t>
            </a:r>
            <a:r>
              <a:rPr lang="en" sz="2020">
                <a:solidFill>
                  <a:srgbClr val="FF0000"/>
                </a:solidFill>
              </a:rPr>
              <a:t>self-attention</a:t>
            </a:r>
            <a:r>
              <a:rPr lang="en" sz="2020"/>
              <a:t>?</a:t>
            </a:r>
            <a:endParaRPr sz="2020"/>
          </a:p>
        </p:txBody>
      </p:sp>
      <p:pic>
        <p:nvPicPr>
          <p:cNvPr id="210" name="Google Shape;210;p21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2398384" y="3728654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75059" y="3763079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loves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7398700" y="3759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5363700" y="2110050"/>
            <a:ext cx="3122176" cy="1626979"/>
            <a:chOff x="5363700" y="2110050"/>
            <a:chExt cx="3122176" cy="1626979"/>
          </a:xfrm>
        </p:grpSpPr>
        <p:grpSp>
          <p:nvGrpSpPr>
            <p:cNvPr id="215" name="Google Shape;215;p21"/>
            <p:cNvGrpSpPr/>
            <p:nvPr/>
          </p:nvGrpSpPr>
          <p:grpSpPr>
            <a:xfrm>
              <a:off x="5363700" y="2174514"/>
              <a:ext cx="2618949" cy="1164215"/>
              <a:chOff x="5180040" y="2021541"/>
              <a:chExt cx="2650758" cy="1341725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5180040" y="2021541"/>
                <a:ext cx="2650750" cy="1341725"/>
              </a:xfrm>
              <a:custGeom>
                <a:rect b="b" l="l" r="r" t="t"/>
                <a:pathLst>
                  <a:path extrusionOk="0" h="53669" w="106030">
                    <a:moveTo>
                      <a:pt x="0" y="53669"/>
                    </a:moveTo>
                    <a:cubicBezTo>
                      <a:pt x="10667" y="44726"/>
                      <a:pt x="46331" y="705"/>
                      <a:pt x="64003" y="9"/>
                    </a:cubicBezTo>
                    <a:cubicBezTo>
                      <a:pt x="81675" y="-687"/>
                      <a:pt x="99026" y="41244"/>
                      <a:pt x="106030" y="49491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217" name="Google Shape;217;p21"/>
              <p:cNvCxnSpPr/>
              <p:nvPr/>
            </p:nvCxnSpPr>
            <p:spPr>
              <a:xfrm>
                <a:off x="7634899" y="2941687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18" name="Google Shape;218;p21"/>
            <p:cNvSpPr/>
            <p:nvPr/>
          </p:nvSpPr>
          <p:spPr>
            <a:xfrm>
              <a:off x="6876976" y="3251029"/>
              <a:ext cx="1608900" cy="486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220" name="Google Shape;220;p21"/>
          <p:cNvGrpSpPr/>
          <p:nvPr/>
        </p:nvGrpSpPr>
        <p:grpSpPr>
          <a:xfrm>
            <a:off x="2862750" y="1077125"/>
            <a:ext cx="4866874" cy="2249635"/>
            <a:chOff x="3914900" y="2110050"/>
            <a:chExt cx="4866874" cy="2249635"/>
          </a:xfrm>
        </p:grpSpPr>
        <p:grpSp>
          <p:nvGrpSpPr>
            <p:cNvPr id="221" name="Google Shape;221;p21"/>
            <p:cNvGrpSpPr/>
            <p:nvPr/>
          </p:nvGrpSpPr>
          <p:grpSpPr>
            <a:xfrm>
              <a:off x="3914900" y="2178370"/>
              <a:ext cx="4866874" cy="2181315"/>
              <a:chOff x="3713644" y="2025984"/>
              <a:chExt cx="4925986" cy="2513904"/>
            </a:xfrm>
          </p:grpSpPr>
          <p:sp>
            <p:nvSpPr>
              <p:cNvPr id="222" name="Google Shape;222;p21"/>
              <p:cNvSpPr/>
              <p:nvPr/>
            </p:nvSpPr>
            <p:spPr>
              <a:xfrm>
                <a:off x="3713644" y="2025984"/>
                <a:ext cx="4871625" cy="2513900"/>
              </a:xfrm>
              <a:custGeom>
                <a:rect b="b" l="l" r="r" t="t"/>
                <a:pathLst>
                  <a:path extrusionOk="0" h="100556" w="194865">
                    <a:moveTo>
                      <a:pt x="0" y="100556"/>
                    </a:moveTo>
                    <a:cubicBezTo>
                      <a:pt x="20443" y="83798"/>
                      <a:pt x="90182" y="730"/>
                      <a:pt x="122659" y="5"/>
                    </a:cubicBezTo>
                    <a:cubicBezTo>
                      <a:pt x="155137" y="-720"/>
                      <a:pt x="182831" y="80172"/>
                      <a:pt x="194865" y="96205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223" name="Google Shape;223;p21"/>
              <p:cNvCxnSpPr/>
              <p:nvPr/>
            </p:nvCxnSpPr>
            <p:spPr>
              <a:xfrm>
                <a:off x="8443730" y="4244989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24" name="Google Shape;224;p21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108025" y="2588178"/>
            <a:ext cx="8724300" cy="1054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Why “</a:t>
            </a:r>
            <a:r>
              <a:rPr lang="en" sz="2020">
                <a:solidFill>
                  <a:srgbClr val="FF0000"/>
                </a:solidFill>
              </a:rPr>
              <a:t>self</a:t>
            </a:r>
            <a:r>
              <a:rPr lang="en" sz="2020"/>
              <a:t>”?</a:t>
            </a:r>
            <a:endParaRPr sz="2020"/>
          </a:p>
        </p:txBody>
      </p:sp>
      <p:pic>
        <p:nvPicPr>
          <p:cNvPr id="231" name="Google Shape;231;p22"/>
          <p:cNvPicPr preferRelativeResize="0"/>
          <p:nvPr/>
        </p:nvPicPr>
        <p:blipFill rotWithShape="1">
          <a:blip r:embed="rId3">
            <a:alphaModFix/>
          </a:blip>
          <a:srcRect b="56265" l="1421" r="3204" t="0"/>
          <a:stretch/>
        </p:blipFill>
        <p:spPr>
          <a:xfrm>
            <a:off x="171675" y="2647678"/>
            <a:ext cx="8520600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2398384" y="319473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4775059" y="3229158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loves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7398700" y="3225328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235" name="Google Shape;235;p22"/>
          <p:cNvGrpSpPr/>
          <p:nvPr/>
        </p:nvGrpSpPr>
        <p:grpSpPr>
          <a:xfrm>
            <a:off x="5363700" y="1576128"/>
            <a:ext cx="3122176" cy="1626979"/>
            <a:chOff x="5363700" y="2110050"/>
            <a:chExt cx="3122176" cy="1626979"/>
          </a:xfrm>
        </p:grpSpPr>
        <p:grpSp>
          <p:nvGrpSpPr>
            <p:cNvPr id="236" name="Google Shape;236;p22"/>
            <p:cNvGrpSpPr/>
            <p:nvPr/>
          </p:nvGrpSpPr>
          <p:grpSpPr>
            <a:xfrm>
              <a:off x="5363700" y="2174514"/>
              <a:ext cx="2618949" cy="1164215"/>
              <a:chOff x="5180040" y="2021541"/>
              <a:chExt cx="2650758" cy="1341725"/>
            </a:xfrm>
          </p:grpSpPr>
          <p:sp>
            <p:nvSpPr>
              <p:cNvPr id="237" name="Google Shape;237;p22"/>
              <p:cNvSpPr/>
              <p:nvPr/>
            </p:nvSpPr>
            <p:spPr>
              <a:xfrm>
                <a:off x="5180040" y="2021541"/>
                <a:ext cx="2650750" cy="1341725"/>
              </a:xfrm>
              <a:custGeom>
                <a:rect b="b" l="l" r="r" t="t"/>
                <a:pathLst>
                  <a:path extrusionOk="0" h="53669" w="106030">
                    <a:moveTo>
                      <a:pt x="0" y="53669"/>
                    </a:moveTo>
                    <a:cubicBezTo>
                      <a:pt x="10667" y="44726"/>
                      <a:pt x="46331" y="705"/>
                      <a:pt x="64003" y="9"/>
                    </a:cubicBezTo>
                    <a:cubicBezTo>
                      <a:pt x="81675" y="-687"/>
                      <a:pt x="99026" y="41244"/>
                      <a:pt x="106030" y="49491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238" name="Google Shape;238;p22"/>
              <p:cNvCxnSpPr/>
              <p:nvPr/>
            </p:nvCxnSpPr>
            <p:spPr>
              <a:xfrm>
                <a:off x="7634899" y="2941687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39" name="Google Shape;239;p22"/>
            <p:cNvSpPr/>
            <p:nvPr/>
          </p:nvSpPr>
          <p:spPr>
            <a:xfrm>
              <a:off x="6876976" y="3251029"/>
              <a:ext cx="1608900" cy="486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2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241" name="Google Shape;241;p22"/>
          <p:cNvGrpSpPr/>
          <p:nvPr/>
        </p:nvGrpSpPr>
        <p:grpSpPr>
          <a:xfrm>
            <a:off x="2862750" y="543203"/>
            <a:ext cx="4813165" cy="2249631"/>
            <a:chOff x="3914900" y="2110050"/>
            <a:chExt cx="4813165" cy="2249631"/>
          </a:xfrm>
        </p:grpSpPr>
        <p:grpSp>
          <p:nvGrpSpPr>
            <p:cNvPr id="242" name="Google Shape;242;p22"/>
            <p:cNvGrpSpPr/>
            <p:nvPr/>
          </p:nvGrpSpPr>
          <p:grpSpPr>
            <a:xfrm>
              <a:off x="3914900" y="2178370"/>
              <a:ext cx="4813165" cy="2181311"/>
              <a:chOff x="3713644" y="2025984"/>
              <a:chExt cx="4871625" cy="2513900"/>
            </a:xfrm>
          </p:grpSpPr>
          <p:sp>
            <p:nvSpPr>
              <p:cNvPr id="243" name="Google Shape;243;p22"/>
              <p:cNvSpPr/>
              <p:nvPr/>
            </p:nvSpPr>
            <p:spPr>
              <a:xfrm>
                <a:off x="3713644" y="2025984"/>
                <a:ext cx="4871625" cy="2513900"/>
              </a:xfrm>
              <a:custGeom>
                <a:rect b="b" l="l" r="r" t="t"/>
                <a:pathLst>
                  <a:path extrusionOk="0" h="100556" w="194865">
                    <a:moveTo>
                      <a:pt x="0" y="100556"/>
                    </a:moveTo>
                    <a:cubicBezTo>
                      <a:pt x="20443" y="83798"/>
                      <a:pt x="90182" y="730"/>
                      <a:pt x="122659" y="5"/>
                    </a:cubicBezTo>
                    <a:cubicBezTo>
                      <a:pt x="155137" y="-720"/>
                      <a:pt x="182831" y="80172"/>
                      <a:pt x="194865" y="96205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244" name="Google Shape;244;p22"/>
              <p:cNvCxnSpPr/>
              <p:nvPr/>
            </p:nvCxnSpPr>
            <p:spPr>
              <a:xfrm>
                <a:off x="8461063" y="4175927"/>
                <a:ext cx="124200" cy="276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45" name="Google Shape;245;p22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246" name="Google Shape;246;p22"/>
          <p:cNvGrpSpPr/>
          <p:nvPr/>
        </p:nvGrpSpPr>
        <p:grpSpPr>
          <a:xfrm>
            <a:off x="108025" y="3883578"/>
            <a:ext cx="8724300" cy="1107522"/>
            <a:chOff x="108025" y="3883578"/>
            <a:chExt cx="8724300" cy="1107522"/>
          </a:xfrm>
        </p:grpSpPr>
        <p:sp>
          <p:nvSpPr>
            <p:cNvPr id="247" name="Google Shape;247;p22"/>
            <p:cNvSpPr/>
            <p:nvPr/>
          </p:nvSpPr>
          <p:spPr>
            <a:xfrm>
              <a:off x="108025" y="3883578"/>
              <a:ext cx="8724300" cy="10545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8" name="Google Shape;248;p22"/>
            <p:cNvPicPr preferRelativeResize="0"/>
            <p:nvPr/>
          </p:nvPicPr>
          <p:blipFill rotWithShape="1">
            <a:blip r:embed="rId3">
              <a:alphaModFix/>
            </a:blip>
            <a:srcRect b="56265" l="1279" r="4638" t="0"/>
            <a:stretch/>
          </p:blipFill>
          <p:spPr>
            <a:xfrm>
              <a:off x="171675" y="3947925"/>
              <a:ext cx="8406075" cy="624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22"/>
            <p:cNvSpPr txBox="1"/>
            <p:nvPr/>
          </p:nvSpPr>
          <p:spPr>
            <a:xfrm>
              <a:off x="2411159" y="4494979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Ann</a:t>
              </a:r>
              <a:endParaRPr sz="1800">
                <a:solidFill>
                  <a:srgbClr val="9900FF"/>
                </a:solidFill>
              </a:endParaRPr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4675596" y="4529400"/>
              <a:ext cx="1321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admires</a:t>
              </a:r>
              <a:endParaRPr sz="1800">
                <a:solidFill>
                  <a:srgbClr val="9900FF"/>
                </a:solidFill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7411475" y="4525575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Mary</a:t>
              </a:r>
              <a:endParaRPr i="1"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252" name="Google Shape;252;p22"/>
          <p:cNvGrpSpPr/>
          <p:nvPr/>
        </p:nvGrpSpPr>
        <p:grpSpPr>
          <a:xfrm>
            <a:off x="3208225" y="3257550"/>
            <a:ext cx="3769553" cy="869002"/>
            <a:chOff x="3132844" y="-689766"/>
            <a:chExt cx="3708000" cy="2067575"/>
          </a:xfrm>
        </p:grpSpPr>
        <p:sp>
          <p:nvSpPr>
            <p:cNvPr id="253" name="Google Shape;253;p22"/>
            <p:cNvSpPr/>
            <p:nvPr/>
          </p:nvSpPr>
          <p:spPr>
            <a:xfrm>
              <a:off x="3132844" y="-689766"/>
              <a:ext cx="3708000" cy="2067575"/>
            </a:xfrm>
            <a:custGeom>
              <a:rect b="b" l="l" r="r" t="t"/>
              <a:pathLst>
                <a:path extrusionOk="0" h="82703" w="148320">
                  <a:moveTo>
                    <a:pt x="0" y="82703"/>
                  </a:moveTo>
                  <a:cubicBezTo>
                    <a:pt x="6700" y="80840"/>
                    <a:pt x="15479" y="85309"/>
                    <a:pt x="40199" y="71525"/>
                  </a:cubicBezTo>
                  <a:cubicBezTo>
                    <a:pt x="64919" y="57741"/>
                    <a:pt x="130300" y="11921"/>
                    <a:pt x="148320" y="0"/>
                  </a:cubicBezTo>
                </a:path>
              </a:pathLst>
            </a:cu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254" name="Google Shape;254;p22"/>
            <p:cNvCxnSpPr/>
            <p:nvPr/>
          </p:nvCxnSpPr>
          <p:spPr>
            <a:xfrm flipH="1" rot="10800000">
              <a:off x="6540502" y="-659735"/>
              <a:ext cx="288300" cy="1935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55" name="Google Shape;255;p22"/>
          <p:cNvGrpSpPr/>
          <p:nvPr/>
        </p:nvGrpSpPr>
        <p:grpSpPr>
          <a:xfrm>
            <a:off x="5838700" y="3257702"/>
            <a:ext cx="1186045" cy="962800"/>
            <a:chOff x="1361436" y="-366299"/>
            <a:chExt cx="1244800" cy="2290745"/>
          </a:xfrm>
        </p:grpSpPr>
        <p:sp>
          <p:nvSpPr>
            <p:cNvPr id="256" name="Google Shape;256;p22"/>
            <p:cNvSpPr/>
            <p:nvPr/>
          </p:nvSpPr>
          <p:spPr>
            <a:xfrm>
              <a:off x="1361436" y="-338704"/>
              <a:ext cx="1244800" cy="2263150"/>
            </a:xfrm>
            <a:custGeom>
              <a:rect b="b" l="l" r="r" t="t"/>
              <a:pathLst>
                <a:path extrusionOk="0" h="90526" w="49792">
                  <a:moveTo>
                    <a:pt x="0" y="90526"/>
                  </a:moveTo>
                  <a:cubicBezTo>
                    <a:pt x="3533" y="87173"/>
                    <a:pt x="12900" y="85495"/>
                    <a:pt x="21199" y="70407"/>
                  </a:cubicBezTo>
                  <a:cubicBezTo>
                    <a:pt x="29498" y="55319"/>
                    <a:pt x="45027" y="11735"/>
                    <a:pt x="49792" y="0"/>
                  </a:cubicBezTo>
                </a:path>
              </a:pathLst>
            </a:cu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257" name="Google Shape;257;p22"/>
            <p:cNvCxnSpPr/>
            <p:nvPr/>
          </p:nvCxnSpPr>
          <p:spPr>
            <a:xfrm flipH="1" rot="10800000">
              <a:off x="2458335" y="-366299"/>
              <a:ext cx="147900" cy="4467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58" name="Google Shape;258;p22"/>
          <p:cNvSpPr/>
          <p:nvPr/>
        </p:nvSpPr>
        <p:spPr>
          <a:xfrm>
            <a:off x="4281698" y="3801375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sp>
        <p:nvSpPr>
          <p:cNvPr id="259" name="Google Shape;259;p22"/>
          <p:cNvSpPr/>
          <p:nvPr/>
        </p:nvSpPr>
        <p:spPr>
          <a:xfrm>
            <a:off x="6281448" y="3801375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compute Attention (i.e. %)?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/>
        </p:nvSpPr>
        <p:spPr>
          <a:xfrm>
            <a:off x="167275" y="1158650"/>
            <a:ext cx="42741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Attention stands for “what’s upcoming”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270" name="Google Shape;27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Computing self-attention (Attn.)</a:t>
            </a:r>
            <a:endParaRPr sz="2020"/>
          </a:p>
        </p:txBody>
      </p:sp>
      <p:pic>
        <p:nvPicPr>
          <p:cNvPr id="271" name="Google Shape;271;p24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2398384" y="3728654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4775059" y="3763079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loves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7398700" y="3759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275" name="Google Shape;275;p24"/>
          <p:cNvGrpSpPr/>
          <p:nvPr/>
        </p:nvGrpSpPr>
        <p:grpSpPr>
          <a:xfrm>
            <a:off x="5363700" y="2110050"/>
            <a:ext cx="3122176" cy="1626979"/>
            <a:chOff x="5363700" y="2110050"/>
            <a:chExt cx="3122176" cy="1626979"/>
          </a:xfrm>
        </p:grpSpPr>
        <p:grpSp>
          <p:nvGrpSpPr>
            <p:cNvPr id="276" name="Google Shape;276;p24"/>
            <p:cNvGrpSpPr/>
            <p:nvPr/>
          </p:nvGrpSpPr>
          <p:grpSpPr>
            <a:xfrm>
              <a:off x="5363700" y="2174514"/>
              <a:ext cx="2618949" cy="1164215"/>
              <a:chOff x="5180040" y="2021541"/>
              <a:chExt cx="2650758" cy="1341725"/>
            </a:xfrm>
          </p:grpSpPr>
          <p:sp>
            <p:nvSpPr>
              <p:cNvPr id="277" name="Google Shape;277;p24"/>
              <p:cNvSpPr/>
              <p:nvPr/>
            </p:nvSpPr>
            <p:spPr>
              <a:xfrm>
                <a:off x="5180040" y="2021541"/>
                <a:ext cx="2650750" cy="1341725"/>
              </a:xfrm>
              <a:custGeom>
                <a:rect b="b" l="l" r="r" t="t"/>
                <a:pathLst>
                  <a:path extrusionOk="0" h="53669" w="106030">
                    <a:moveTo>
                      <a:pt x="0" y="53669"/>
                    </a:moveTo>
                    <a:cubicBezTo>
                      <a:pt x="10667" y="44726"/>
                      <a:pt x="46331" y="705"/>
                      <a:pt x="64003" y="9"/>
                    </a:cubicBezTo>
                    <a:cubicBezTo>
                      <a:pt x="81675" y="-687"/>
                      <a:pt x="99026" y="41244"/>
                      <a:pt x="106030" y="49491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278" name="Google Shape;278;p24"/>
              <p:cNvCxnSpPr/>
              <p:nvPr/>
            </p:nvCxnSpPr>
            <p:spPr>
              <a:xfrm>
                <a:off x="7634899" y="2941687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79" name="Google Shape;279;p24"/>
            <p:cNvSpPr/>
            <p:nvPr/>
          </p:nvSpPr>
          <p:spPr>
            <a:xfrm>
              <a:off x="6876976" y="3251029"/>
              <a:ext cx="1608900" cy="486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281" name="Google Shape;281;p24"/>
          <p:cNvGrpSpPr/>
          <p:nvPr/>
        </p:nvGrpSpPr>
        <p:grpSpPr>
          <a:xfrm>
            <a:off x="2862750" y="1077125"/>
            <a:ext cx="4866874" cy="2249635"/>
            <a:chOff x="3914900" y="2110050"/>
            <a:chExt cx="4866874" cy="2249635"/>
          </a:xfrm>
        </p:grpSpPr>
        <p:grpSp>
          <p:nvGrpSpPr>
            <p:cNvPr id="282" name="Google Shape;282;p24"/>
            <p:cNvGrpSpPr/>
            <p:nvPr/>
          </p:nvGrpSpPr>
          <p:grpSpPr>
            <a:xfrm>
              <a:off x="3914900" y="2178370"/>
              <a:ext cx="4866874" cy="2181315"/>
              <a:chOff x="3713644" y="2025984"/>
              <a:chExt cx="4925986" cy="2513904"/>
            </a:xfrm>
          </p:grpSpPr>
          <p:sp>
            <p:nvSpPr>
              <p:cNvPr id="283" name="Google Shape;283;p24"/>
              <p:cNvSpPr/>
              <p:nvPr/>
            </p:nvSpPr>
            <p:spPr>
              <a:xfrm>
                <a:off x="3713644" y="2025984"/>
                <a:ext cx="4871625" cy="2513900"/>
              </a:xfrm>
              <a:custGeom>
                <a:rect b="b" l="l" r="r" t="t"/>
                <a:pathLst>
                  <a:path extrusionOk="0" h="100556" w="194865">
                    <a:moveTo>
                      <a:pt x="0" y="100556"/>
                    </a:moveTo>
                    <a:cubicBezTo>
                      <a:pt x="20443" y="83798"/>
                      <a:pt x="90182" y="730"/>
                      <a:pt x="122659" y="5"/>
                    </a:cubicBezTo>
                    <a:cubicBezTo>
                      <a:pt x="155137" y="-720"/>
                      <a:pt x="182831" y="80172"/>
                      <a:pt x="194865" y="96205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284" name="Google Shape;284;p24"/>
              <p:cNvCxnSpPr/>
              <p:nvPr/>
            </p:nvCxnSpPr>
            <p:spPr>
              <a:xfrm>
                <a:off x="8443730" y="4244989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85" name="Google Shape;285;p24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sp>
        <p:nvSpPr>
          <p:cNvPr id="286" name="Google Shape;286;p24"/>
          <p:cNvSpPr txBox="1"/>
          <p:nvPr/>
        </p:nvSpPr>
        <p:spPr>
          <a:xfrm>
            <a:off x="91075" y="1615850"/>
            <a:ext cx="49608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“what’s upcoming” implies strong “association”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155532" y="2084793"/>
            <a:ext cx="3945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“Association” implies “relatedness”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243475" y="2606450"/>
            <a:ext cx="3945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How to compute “relatedness”?</a:t>
            </a:r>
            <a:endParaRPr i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Computing self-attention (Attn.)</a:t>
            </a:r>
            <a:endParaRPr sz="2020"/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2572000"/>
            <a:ext cx="8934450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2398384" y="3119054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4775059" y="3153479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loves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7398700" y="31496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298" name="Google Shape;298;p25"/>
          <p:cNvGrpSpPr/>
          <p:nvPr/>
        </p:nvGrpSpPr>
        <p:grpSpPr>
          <a:xfrm>
            <a:off x="5363700" y="1500450"/>
            <a:ext cx="3122176" cy="1626979"/>
            <a:chOff x="5363700" y="2110050"/>
            <a:chExt cx="3122176" cy="1626979"/>
          </a:xfrm>
        </p:grpSpPr>
        <p:grpSp>
          <p:nvGrpSpPr>
            <p:cNvPr id="299" name="Google Shape;299;p25"/>
            <p:cNvGrpSpPr/>
            <p:nvPr/>
          </p:nvGrpSpPr>
          <p:grpSpPr>
            <a:xfrm>
              <a:off x="5363700" y="2174514"/>
              <a:ext cx="2618949" cy="1164215"/>
              <a:chOff x="5180040" y="2021541"/>
              <a:chExt cx="2650758" cy="1341725"/>
            </a:xfrm>
          </p:grpSpPr>
          <p:sp>
            <p:nvSpPr>
              <p:cNvPr id="300" name="Google Shape;300;p25"/>
              <p:cNvSpPr/>
              <p:nvPr/>
            </p:nvSpPr>
            <p:spPr>
              <a:xfrm>
                <a:off x="5180040" y="2021541"/>
                <a:ext cx="2650750" cy="1341725"/>
              </a:xfrm>
              <a:custGeom>
                <a:rect b="b" l="l" r="r" t="t"/>
                <a:pathLst>
                  <a:path extrusionOk="0" h="53669" w="106030">
                    <a:moveTo>
                      <a:pt x="0" y="53669"/>
                    </a:moveTo>
                    <a:cubicBezTo>
                      <a:pt x="10667" y="44726"/>
                      <a:pt x="46331" y="705"/>
                      <a:pt x="64003" y="9"/>
                    </a:cubicBezTo>
                    <a:cubicBezTo>
                      <a:pt x="81675" y="-687"/>
                      <a:pt x="99026" y="41244"/>
                      <a:pt x="106030" y="49491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301" name="Google Shape;301;p25"/>
              <p:cNvCxnSpPr/>
              <p:nvPr/>
            </p:nvCxnSpPr>
            <p:spPr>
              <a:xfrm>
                <a:off x="7634899" y="2941687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02" name="Google Shape;302;p25"/>
            <p:cNvSpPr/>
            <p:nvPr/>
          </p:nvSpPr>
          <p:spPr>
            <a:xfrm>
              <a:off x="6876976" y="3251029"/>
              <a:ext cx="1608900" cy="486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304" name="Google Shape;304;p25"/>
          <p:cNvGrpSpPr/>
          <p:nvPr/>
        </p:nvGrpSpPr>
        <p:grpSpPr>
          <a:xfrm>
            <a:off x="2862750" y="467525"/>
            <a:ext cx="4866874" cy="2249635"/>
            <a:chOff x="3914900" y="2110050"/>
            <a:chExt cx="4866874" cy="2249635"/>
          </a:xfrm>
        </p:grpSpPr>
        <p:grpSp>
          <p:nvGrpSpPr>
            <p:cNvPr id="305" name="Google Shape;305;p25"/>
            <p:cNvGrpSpPr/>
            <p:nvPr/>
          </p:nvGrpSpPr>
          <p:grpSpPr>
            <a:xfrm>
              <a:off x="3914900" y="2178370"/>
              <a:ext cx="4866874" cy="2181315"/>
              <a:chOff x="3713644" y="2025984"/>
              <a:chExt cx="4925986" cy="2513904"/>
            </a:xfrm>
          </p:grpSpPr>
          <p:sp>
            <p:nvSpPr>
              <p:cNvPr id="306" name="Google Shape;306;p25"/>
              <p:cNvSpPr/>
              <p:nvPr/>
            </p:nvSpPr>
            <p:spPr>
              <a:xfrm>
                <a:off x="3713644" y="2025984"/>
                <a:ext cx="4871625" cy="2513900"/>
              </a:xfrm>
              <a:custGeom>
                <a:rect b="b" l="l" r="r" t="t"/>
                <a:pathLst>
                  <a:path extrusionOk="0" h="100556" w="194865">
                    <a:moveTo>
                      <a:pt x="0" y="100556"/>
                    </a:moveTo>
                    <a:cubicBezTo>
                      <a:pt x="20443" y="83798"/>
                      <a:pt x="90182" y="730"/>
                      <a:pt x="122659" y="5"/>
                    </a:cubicBezTo>
                    <a:cubicBezTo>
                      <a:pt x="155137" y="-720"/>
                      <a:pt x="182831" y="80172"/>
                      <a:pt x="194865" y="96205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307" name="Google Shape;307;p25"/>
              <p:cNvCxnSpPr/>
              <p:nvPr/>
            </p:nvCxnSpPr>
            <p:spPr>
              <a:xfrm>
                <a:off x="8443730" y="4244989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08" name="Google Shape;308;p25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309" name="Google Shape;309;p25"/>
          <p:cNvGrpSpPr/>
          <p:nvPr/>
        </p:nvGrpSpPr>
        <p:grpSpPr>
          <a:xfrm>
            <a:off x="217900" y="3759775"/>
            <a:ext cx="3940774" cy="1020950"/>
            <a:chOff x="2656300" y="3759775"/>
            <a:chExt cx="3940774" cy="1020950"/>
          </a:xfrm>
        </p:grpSpPr>
        <p:sp>
          <p:nvSpPr>
            <p:cNvPr id="310" name="Google Shape;310;p25"/>
            <p:cNvSpPr txBox="1"/>
            <p:nvPr/>
          </p:nvSpPr>
          <p:spPr>
            <a:xfrm>
              <a:off x="3144800" y="4319025"/>
              <a:ext cx="31824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chemeClr val="dk1"/>
                  </a:solidFill>
                </a:rPr>
                <a:t>Similarity(</a:t>
              </a:r>
              <a:r>
                <a:rPr i="1" lang="en" sz="1800">
                  <a:solidFill>
                    <a:srgbClr val="9900FF"/>
                  </a:solidFill>
                </a:rPr>
                <a:t>John, </a:t>
              </a:r>
              <a:r>
                <a:rPr i="1" lang="en" sz="1800">
                  <a:solidFill>
                    <a:srgbClr val="FF0000"/>
                  </a:solidFill>
                </a:rPr>
                <a:t>Mary</a:t>
              </a:r>
              <a:r>
                <a:rPr i="1" lang="en" sz="1800">
                  <a:solidFill>
                    <a:schemeClr val="dk1"/>
                  </a:solidFill>
                </a:rPr>
                <a:t>)</a:t>
              </a:r>
              <a:endParaRPr i="1" sz="1800">
                <a:solidFill>
                  <a:schemeClr val="dk1"/>
                </a:solidFill>
              </a:endParaRPr>
            </a:p>
          </p:txBody>
        </p:sp>
        <p:pic>
          <p:nvPicPr>
            <p:cNvPr id="311" name="Google Shape;311;p25"/>
            <p:cNvPicPr preferRelativeResize="0"/>
            <p:nvPr/>
          </p:nvPicPr>
          <p:blipFill rotWithShape="1">
            <a:blip r:embed="rId3">
              <a:alphaModFix/>
            </a:blip>
            <a:srcRect b="56265" l="19903" r="61953" t="0"/>
            <a:stretch/>
          </p:blipFill>
          <p:spPr>
            <a:xfrm>
              <a:off x="2656300" y="3759775"/>
              <a:ext cx="1620974" cy="62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5"/>
            <p:cNvPicPr preferRelativeResize="0"/>
            <p:nvPr/>
          </p:nvPicPr>
          <p:blipFill rotWithShape="1">
            <a:blip r:embed="rId3">
              <a:alphaModFix/>
            </a:blip>
            <a:srcRect b="56265" l="76514" r="5796" t="0"/>
            <a:stretch/>
          </p:blipFill>
          <p:spPr>
            <a:xfrm>
              <a:off x="5016673" y="3759775"/>
              <a:ext cx="1580401" cy="624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" name="Google Shape;313;p25"/>
          <p:cNvSpPr txBox="1"/>
          <p:nvPr/>
        </p:nvSpPr>
        <p:spPr>
          <a:xfrm>
            <a:off x="4516700" y="38397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</a:rPr>
              <a:t>Similarity → Dot Product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5540675" y="4301450"/>
            <a:ext cx="22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9900FF"/>
                </a:solidFill>
              </a:rPr>
              <a:t>x</a:t>
            </a:r>
            <a:r>
              <a:rPr baseline="-25000" i="1" lang="en" sz="1800">
                <a:solidFill>
                  <a:srgbClr val="9900FF"/>
                </a:solidFill>
              </a:rPr>
              <a:t>1</a:t>
            </a:r>
            <a:r>
              <a:rPr baseline="-25000" i="1" lang="en" sz="1800">
                <a:solidFill>
                  <a:schemeClr val="dk1"/>
                </a:solidFill>
              </a:rPr>
              <a:t> </a:t>
            </a:r>
            <a:r>
              <a:rPr b="1" i="1" lang="en" sz="1800">
                <a:solidFill>
                  <a:schemeClr val="dk1"/>
                </a:solidFill>
              </a:rPr>
              <a:t>. </a:t>
            </a:r>
            <a:r>
              <a:rPr i="1" lang="en" sz="1800">
                <a:solidFill>
                  <a:srgbClr val="FF0000"/>
                </a:solidFill>
              </a:rPr>
              <a:t>x</a:t>
            </a:r>
            <a:r>
              <a:rPr baseline="-25000" i="1" lang="en" sz="1800">
                <a:solidFill>
                  <a:srgbClr val="FF0000"/>
                </a:solidFill>
              </a:rPr>
              <a:t>3  </a:t>
            </a:r>
            <a:r>
              <a:rPr i="1" lang="en" sz="1800">
                <a:solidFill>
                  <a:srgbClr val="9900FF"/>
                </a:solidFill>
              </a:rPr>
              <a:t>= x</a:t>
            </a:r>
            <a:r>
              <a:rPr baseline="-25000" i="1" lang="en" sz="1800">
                <a:solidFill>
                  <a:srgbClr val="9900FF"/>
                </a:solidFill>
              </a:rPr>
              <a:t>1</a:t>
            </a:r>
            <a:r>
              <a:rPr baseline="-25000" i="1" lang="en" sz="1800">
                <a:solidFill>
                  <a:schemeClr val="dk1"/>
                </a:solidFill>
              </a:rPr>
              <a:t> </a:t>
            </a:r>
            <a:r>
              <a:rPr baseline="30000" i="1" lang="en" sz="1800">
                <a:solidFill>
                  <a:schemeClr val="dk1"/>
                </a:solidFill>
              </a:rPr>
              <a:t>T</a:t>
            </a:r>
            <a:r>
              <a:rPr b="1" i="1" lang="en" sz="1800">
                <a:solidFill>
                  <a:schemeClr val="dk1"/>
                </a:solidFill>
              </a:rPr>
              <a:t> </a:t>
            </a:r>
            <a:r>
              <a:rPr i="1" lang="en" sz="1800">
                <a:solidFill>
                  <a:srgbClr val="FF0000"/>
                </a:solidFill>
              </a:rPr>
              <a:t>x</a:t>
            </a:r>
            <a:r>
              <a:rPr baseline="-25000" i="1" lang="en" sz="1800">
                <a:solidFill>
                  <a:srgbClr val="FF0000"/>
                </a:solidFill>
              </a:rPr>
              <a:t>3 </a:t>
            </a:r>
            <a:endParaRPr baseline="-25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Initial embedding is not contextual (and </a:t>
            </a:r>
            <a:r>
              <a:rPr lang="en" sz="2020">
                <a:solidFill>
                  <a:srgbClr val="FF0000"/>
                </a:solidFill>
              </a:rPr>
              <a:t>reliable</a:t>
            </a:r>
            <a:r>
              <a:rPr lang="en" sz="2020"/>
              <a:t>)</a:t>
            </a:r>
            <a:endParaRPr sz="2020"/>
          </a:p>
        </p:txBody>
      </p:sp>
      <p:pic>
        <p:nvPicPr>
          <p:cNvPr id="320" name="Google Shape;320;p26"/>
          <p:cNvPicPr preferRelativeResize="0"/>
          <p:nvPr/>
        </p:nvPicPr>
        <p:blipFill rotWithShape="1">
          <a:blip r:embed="rId3">
            <a:alphaModFix/>
          </a:blip>
          <a:srcRect b="56265" l="19903" r="61953" t="0"/>
          <a:stretch/>
        </p:blipFill>
        <p:spPr>
          <a:xfrm>
            <a:off x="1105175" y="1317200"/>
            <a:ext cx="1620974" cy="6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6"/>
          <p:cNvPicPr preferRelativeResize="0"/>
          <p:nvPr/>
        </p:nvPicPr>
        <p:blipFill rotWithShape="1">
          <a:blip r:embed="rId3">
            <a:alphaModFix/>
          </a:blip>
          <a:srcRect b="56265" l="76514" r="5796" t="0"/>
          <a:stretch/>
        </p:blipFill>
        <p:spPr>
          <a:xfrm>
            <a:off x="6448298" y="1328943"/>
            <a:ext cx="1580401" cy="62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26"/>
          <p:cNvCxnSpPr>
            <a:stCxn id="320" idx="3"/>
            <a:endCxn id="321" idx="1"/>
          </p:cNvCxnSpPr>
          <p:nvPr/>
        </p:nvCxnSpPr>
        <p:spPr>
          <a:xfrm>
            <a:off x="2726149" y="1629625"/>
            <a:ext cx="3722100" cy="1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26"/>
          <p:cNvSpPr txBox="1"/>
          <p:nvPr/>
        </p:nvSpPr>
        <p:spPr>
          <a:xfrm>
            <a:off x="2726150" y="1216000"/>
            <a:ext cx="381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can be far in the HD vector space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1665611" y="178242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6988473" y="1731077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2856225" y="1748950"/>
            <a:ext cx="35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makes </a:t>
            </a:r>
            <a:r>
              <a:rPr i="1" lang="en" sz="1800" u="sng">
                <a:solidFill>
                  <a:schemeClr val="dk2"/>
                </a:solidFill>
              </a:rPr>
              <a:t>follow-up</a:t>
            </a:r>
            <a:r>
              <a:rPr lang="en" sz="1800">
                <a:solidFill>
                  <a:schemeClr val="dk2"/>
                </a:solidFill>
              </a:rPr>
              <a:t> learning difficult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27" name="Google Shape;327;p26"/>
          <p:cNvGrpSpPr/>
          <p:nvPr/>
        </p:nvGrpSpPr>
        <p:grpSpPr>
          <a:xfrm>
            <a:off x="1382300" y="2244123"/>
            <a:ext cx="1322737" cy="1310989"/>
            <a:chOff x="1382300" y="2244123"/>
            <a:chExt cx="1322737" cy="1310989"/>
          </a:xfrm>
        </p:grpSpPr>
        <p:pic>
          <p:nvPicPr>
            <p:cNvPr id="328" name="Google Shape;328;p26"/>
            <p:cNvPicPr preferRelativeResize="0"/>
            <p:nvPr/>
          </p:nvPicPr>
          <p:blipFill rotWithShape="1">
            <a:blip r:embed="rId4">
              <a:alphaModFix/>
            </a:blip>
            <a:srcRect b="18727" l="6934" r="8391" t="30780"/>
            <a:stretch/>
          </p:blipFill>
          <p:spPr>
            <a:xfrm>
              <a:off x="1382300" y="2731400"/>
              <a:ext cx="1322725" cy="46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26"/>
            <p:cNvSpPr txBox="1"/>
            <p:nvPr/>
          </p:nvSpPr>
          <p:spPr>
            <a:xfrm>
              <a:off x="1800536" y="3093412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John</a:t>
              </a:r>
              <a:r>
                <a:rPr baseline="-25000" lang="en" sz="1800">
                  <a:solidFill>
                    <a:srgbClr val="9900FF"/>
                  </a:solidFill>
                </a:rPr>
                <a:t>q</a:t>
              </a:r>
              <a:endParaRPr baseline="-25000" sz="1800">
                <a:solidFill>
                  <a:srgbClr val="9900FF"/>
                </a:solidFill>
              </a:endParaRPr>
            </a:p>
          </p:txBody>
        </p:sp>
        <p:cxnSp>
          <p:nvCxnSpPr>
            <p:cNvPr id="330" name="Google Shape;330;p26"/>
            <p:cNvCxnSpPr>
              <a:stCxn id="324" idx="2"/>
              <a:endCxn id="328" idx="0"/>
            </p:cNvCxnSpPr>
            <p:nvPr/>
          </p:nvCxnSpPr>
          <p:spPr>
            <a:xfrm flipH="1">
              <a:off x="2043761" y="2244123"/>
              <a:ext cx="741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1" name="Google Shape;331;p26"/>
          <p:cNvGrpSpPr/>
          <p:nvPr/>
        </p:nvGrpSpPr>
        <p:grpSpPr>
          <a:xfrm>
            <a:off x="6531275" y="2320323"/>
            <a:ext cx="2625900" cy="1211302"/>
            <a:chOff x="6531275" y="2320323"/>
            <a:chExt cx="2625900" cy="1211302"/>
          </a:xfrm>
        </p:grpSpPr>
        <p:sp>
          <p:nvSpPr>
            <p:cNvPr id="332" name="Google Shape;332;p26"/>
            <p:cNvSpPr txBox="1"/>
            <p:nvPr/>
          </p:nvSpPr>
          <p:spPr>
            <a:xfrm>
              <a:off x="6531275" y="3069925"/>
              <a:ext cx="262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Mary</a:t>
              </a:r>
              <a:r>
                <a:rPr baseline="-25000" lang="en" sz="1800">
                  <a:solidFill>
                    <a:srgbClr val="FF0000"/>
                  </a:solidFill>
                </a:rPr>
                <a:t>q </a:t>
              </a:r>
              <a:r>
                <a:rPr lang="en" sz="1800">
                  <a:solidFill>
                    <a:srgbClr val="FF0000"/>
                  </a:solidFill>
                </a:rPr>
                <a:t>→ Query (Target)</a:t>
              </a:r>
              <a:endParaRPr sz="1800">
                <a:solidFill>
                  <a:srgbClr val="FF0000"/>
                </a:solidFill>
              </a:endParaRPr>
            </a:p>
          </p:txBody>
        </p:sp>
        <p:cxnSp>
          <p:nvCxnSpPr>
            <p:cNvPr id="333" name="Google Shape;333;p26"/>
            <p:cNvCxnSpPr/>
            <p:nvPr/>
          </p:nvCxnSpPr>
          <p:spPr>
            <a:xfrm flipH="1">
              <a:off x="7443161" y="2320323"/>
              <a:ext cx="87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334" name="Google Shape;334;p26"/>
            <p:cNvPicPr preferRelativeResize="0"/>
            <p:nvPr/>
          </p:nvPicPr>
          <p:blipFill rotWithShape="1">
            <a:blip r:embed="rId5">
              <a:alphaModFix/>
            </a:blip>
            <a:srcRect b="38166" l="10149" r="8523" t="38056"/>
            <a:stretch/>
          </p:blipFill>
          <p:spPr>
            <a:xfrm>
              <a:off x="6887275" y="2807525"/>
              <a:ext cx="1120438" cy="327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5" name="Google Shape;33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5650" y="2318280"/>
            <a:ext cx="1120450" cy="7290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26"/>
          <p:cNvGrpSpPr/>
          <p:nvPr/>
        </p:nvGrpSpPr>
        <p:grpSpPr>
          <a:xfrm>
            <a:off x="2117750" y="2192777"/>
            <a:ext cx="5322973" cy="501000"/>
            <a:chOff x="2117750" y="2192777"/>
            <a:chExt cx="5322973" cy="501000"/>
          </a:xfrm>
        </p:grpSpPr>
        <p:cxnSp>
          <p:nvCxnSpPr>
            <p:cNvPr id="337" name="Google Shape;337;p26"/>
            <p:cNvCxnSpPr>
              <a:endCxn id="335" idx="1"/>
            </p:cNvCxnSpPr>
            <p:nvPr/>
          </p:nvCxnSpPr>
          <p:spPr>
            <a:xfrm>
              <a:off x="2117750" y="2244194"/>
              <a:ext cx="2127900" cy="4386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8" name="Google Shape;338;p26"/>
            <p:cNvCxnSpPr>
              <a:stCxn id="325" idx="2"/>
            </p:cNvCxnSpPr>
            <p:nvPr/>
          </p:nvCxnSpPr>
          <p:spPr>
            <a:xfrm flipH="1">
              <a:off x="4746723" y="2192777"/>
              <a:ext cx="2694000" cy="5010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9" name="Google Shape;339;p26"/>
          <p:cNvGrpSpPr/>
          <p:nvPr/>
        </p:nvGrpSpPr>
        <p:grpSpPr>
          <a:xfrm>
            <a:off x="2667950" y="2682794"/>
            <a:ext cx="4219325" cy="288518"/>
            <a:chOff x="2667950" y="2682794"/>
            <a:chExt cx="4219325" cy="288518"/>
          </a:xfrm>
        </p:grpSpPr>
        <p:cxnSp>
          <p:nvCxnSpPr>
            <p:cNvPr id="340" name="Google Shape;340;p26"/>
            <p:cNvCxnSpPr>
              <a:stCxn id="335" idx="1"/>
            </p:cNvCxnSpPr>
            <p:nvPr/>
          </p:nvCxnSpPr>
          <p:spPr>
            <a:xfrm flipH="1">
              <a:off x="2667950" y="2682794"/>
              <a:ext cx="1577700" cy="257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1" name="Google Shape;341;p26"/>
            <p:cNvCxnSpPr>
              <a:endCxn id="334" idx="1"/>
            </p:cNvCxnSpPr>
            <p:nvPr/>
          </p:nvCxnSpPr>
          <p:spPr>
            <a:xfrm>
              <a:off x="4805275" y="2705513"/>
              <a:ext cx="2082000" cy="2658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42" name="Google Shape;342;p26"/>
          <p:cNvSpPr/>
          <p:nvPr/>
        </p:nvSpPr>
        <p:spPr>
          <a:xfrm>
            <a:off x="6876976" y="2641429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6"/>
          <p:cNvGrpSpPr/>
          <p:nvPr/>
        </p:nvGrpSpPr>
        <p:grpSpPr>
          <a:xfrm>
            <a:off x="3297500" y="3534950"/>
            <a:ext cx="3000000" cy="923400"/>
            <a:chOff x="4897700" y="3839750"/>
            <a:chExt cx="3000000" cy="923400"/>
          </a:xfrm>
        </p:grpSpPr>
        <p:sp>
          <p:nvSpPr>
            <p:cNvPr id="344" name="Google Shape;344;p26"/>
            <p:cNvSpPr txBox="1"/>
            <p:nvPr/>
          </p:nvSpPr>
          <p:spPr>
            <a:xfrm>
              <a:off x="4897700" y="3839750"/>
              <a:ext cx="30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chemeClr val="dk1"/>
                  </a:solidFill>
                </a:rPr>
                <a:t>Similarity → Dot Product</a:t>
              </a:r>
              <a:endParaRPr/>
            </a:p>
          </p:txBody>
        </p:sp>
        <p:sp>
          <p:nvSpPr>
            <p:cNvPr id="345" name="Google Shape;345;p26"/>
            <p:cNvSpPr txBox="1"/>
            <p:nvPr/>
          </p:nvSpPr>
          <p:spPr>
            <a:xfrm>
              <a:off x="5540675" y="4301450"/>
              <a:ext cx="227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9900FF"/>
                  </a:solidFill>
                </a:rPr>
                <a:t>q</a:t>
              </a:r>
              <a:r>
                <a:rPr baseline="-25000" i="1" lang="en" sz="1800">
                  <a:solidFill>
                    <a:srgbClr val="9900FF"/>
                  </a:solidFill>
                </a:rPr>
                <a:t>1</a:t>
              </a:r>
              <a:r>
                <a:rPr baseline="-25000" i="1" lang="en" sz="1800">
                  <a:solidFill>
                    <a:schemeClr val="dk1"/>
                  </a:solidFill>
                </a:rPr>
                <a:t> </a:t>
              </a:r>
              <a:r>
                <a:rPr b="1" i="1" lang="en" sz="1800">
                  <a:solidFill>
                    <a:schemeClr val="dk1"/>
                  </a:solidFill>
                </a:rPr>
                <a:t>. </a:t>
              </a:r>
              <a:r>
                <a:rPr i="1" lang="en" sz="1800">
                  <a:solidFill>
                    <a:srgbClr val="FF0000"/>
                  </a:solidFill>
                </a:rPr>
                <a:t>q</a:t>
              </a:r>
              <a:r>
                <a:rPr baseline="-25000" i="1" lang="en" sz="1800">
                  <a:solidFill>
                    <a:srgbClr val="FF0000"/>
                  </a:solidFill>
                </a:rPr>
                <a:t>3  </a:t>
              </a:r>
              <a:r>
                <a:rPr i="1" lang="en" sz="1800">
                  <a:solidFill>
                    <a:srgbClr val="9900FF"/>
                  </a:solidFill>
                </a:rPr>
                <a:t>= q</a:t>
              </a:r>
              <a:r>
                <a:rPr baseline="-25000" i="1" lang="en" sz="1800">
                  <a:solidFill>
                    <a:srgbClr val="9900FF"/>
                  </a:solidFill>
                </a:rPr>
                <a:t>1</a:t>
              </a:r>
              <a:r>
                <a:rPr baseline="-25000" i="1" lang="en" sz="1800">
                  <a:solidFill>
                    <a:schemeClr val="dk1"/>
                  </a:solidFill>
                </a:rPr>
                <a:t> </a:t>
              </a:r>
              <a:r>
                <a:rPr baseline="30000" i="1" lang="en" sz="1800">
                  <a:solidFill>
                    <a:schemeClr val="dk1"/>
                  </a:solidFill>
                </a:rPr>
                <a:t>T</a:t>
              </a:r>
              <a:r>
                <a:rPr b="1" i="1" lang="en" sz="1800">
                  <a:solidFill>
                    <a:schemeClr val="dk1"/>
                  </a:solidFill>
                </a:rPr>
                <a:t> </a:t>
              </a:r>
              <a:r>
                <a:rPr i="1" lang="en" sz="1800">
                  <a:solidFill>
                    <a:srgbClr val="FF0000"/>
                  </a:solidFill>
                </a:rPr>
                <a:t>q</a:t>
              </a:r>
              <a:r>
                <a:rPr baseline="-25000" i="1" lang="en" sz="1800">
                  <a:solidFill>
                    <a:srgbClr val="FF0000"/>
                  </a:solidFill>
                </a:rPr>
                <a:t>3 </a:t>
              </a:r>
              <a:endParaRPr baseline="-25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>
                <a:solidFill>
                  <a:srgbClr val="9900FF"/>
                </a:solidFill>
              </a:rPr>
              <a:t>Query (q) embedding</a:t>
            </a:r>
            <a:r>
              <a:rPr lang="en" sz="1820"/>
              <a:t> is the receiver (</a:t>
            </a:r>
            <a:r>
              <a:rPr lang="en" sz="1820">
                <a:solidFill>
                  <a:srgbClr val="FF0000"/>
                </a:solidFill>
              </a:rPr>
              <a:t>not donor</a:t>
            </a:r>
            <a:r>
              <a:rPr lang="en" sz="1820"/>
              <a:t>) – need a </a:t>
            </a:r>
            <a:r>
              <a:rPr lang="en" sz="1820">
                <a:solidFill>
                  <a:srgbClr val="6D9EEB"/>
                </a:solidFill>
              </a:rPr>
              <a:t>donor (Value (v)) avatar</a:t>
            </a:r>
            <a:endParaRPr sz="1820">
              <a:solidFill>
                <a:srgbClr val="6D9EEB"/>
              </a:solidFill>
            </a:endParaRPr>
          </a:p>
        </p:txBody>
      </p:sp>
      <p:pic>
        <p:nvPicPr>
          <p:cNvPr id="351" name="Google Shape;351;p27"/>
          <p:cNvPicPr preferRelativeResize="0"/>
          <p:nvPr/>
        </p:nvPicPr>
        <p:blipFill rotWithShape="1">
          <a:blip r:embed="rId3">
            <a:alphaModFix/>
          </a:blip>
          <a:srcRect b="56265" l="19903" r="61953" t="0"/>
          <a:stretch/>
        </p:blipFill>
        <p:spPr>
          <a:xfrm>
            <a:off x="1105175" y="1317200"/>
            <a:ext cx="1620974" cy="6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7"/>
          <p:cNvPicPr preferRelativeResize="0"/>
          <p:nvPr/>
        </p:nvPicPr>
        <p:blipFill rotWithShape="1">
          <a:blip r:embed="rId3">
            <a:alphaModFix/>
          </a:blip>
          <a:srcRect b="56265" l="76514" r="5796" t="0"/>
          <a:stretch/>
        </p:blipFill>
        <p:spPr>
          <a:xfrm>
            <a:off x="6448298" y="1328943"/>
            <a:ext cx="1580401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 txBox="1"/>
          <p:nvPr/>
        </p:nvSpPr>
        <p:spPr>
          <a:xfrm>
            <a:off x="1665611" y="178242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6988473" y="1731077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355" name="Google Shape;355;p27"/>
          <p:cNvGrpSpPr/>
          <p:nvPr/>
        </p:nvGrpSpPr>
        <p:grpSpPr>
          <a:xfrm>
            <a:off x="1382300" y="2244123"/>
            <a:ext cx="1322737" cy="1310989"/>
            <a:chOff x="1382300" y="2244123"/>
            <a:chExt cx="1322737" cy="1310989"/>
          </a:xfrm>
        </p:grpSpPr>
        <p:pic>
          <p:nvPicPr>
            <p:cNvPr id="356" name="Google Shape;356;p27"/>
            <p:cNvPicPr preferRelativeResize="0"/>
            <p:nvPr/>
          </p:nvPicPr>
          <p:blipFill rotWithShape="1">
            <a:blip r:embed="rId4">
              <a:alphaModFix/>
            </a:blip>
            <a:srcRect b="18727" l="6934" r="8391" t="30780"/>
            <a:stretch/>
          </p:blipFill>
          <p:spPr>
            <a:xfrm>
              <a:off x="1382300" y="2731400"/>
              <a:ext cx="1322725" cy="46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27"/>
            <p:cNvSpPr txBox="1"/>
            <p:nvPr/>
          </p:nvSpPr>
          <p:spPr>
            <a:xfrm>
              <a:off x="1800536" y="3093412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John</a:t>
              </a:r>
              <a:r>
                <a:rPr baseline="-25000" lang="en" sz="1800">
                  <a:solidFill>
                    <a:srgbClr val="9900FF"/>
                  </a:solidFill>
                </a:rPr>
                <a:t>q</a:t>
              </a:r>
              <a:endParaRPr baseline="-25000" sz="1800">
                <a:solidFill>
                  <a:srgbClr val="9900FF"/>
                </a:solidFill>
              </a:endParaRPr>
            </a:p>
          </p:txBody>
        </p:sp>
        <p:cxnSp>
          <p:nvCxnSpPr>
            <p:cNvPr id="358" name="Google Shape;358;p27"/>
            <p:cNvCxnSpPr>
              <a:stCxn id="353" idx="2"/>
              <a:endCxn id="356" idx="0"/>
            </p:cNvCxnSpPr>
            <p:nvPr/>
          </p:nvCxnSpPr>
          <p:spPr>
            <a:xfrm flipH="1">
              <a:off x="2043761" y="2244123"/>
              <a:ext cx="741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59" name="Google Shape;359;p27"/>
          <p:cNvGrpSpPr/>
          <p:nvPr/>
        </p:nvGrpSpPr>
        <p:grpSpPr>
          <a:xfrm>
            <a:off x="6531275" y="2320323"/>
            <a:ext cx="2625900" cy="1211302"/>
            <a:chOff x="6531275" y="2320323"/>
            <a:chExt cx="2625900" cy="1211302"/>
          </a:xfrm>
        </p:grpSpPr>
        <p:sp>
          <p:nvSpPr>
            <p:cNvPr id="360" name="Google Shape;360;p27"/>
            <p:cNvSpPr txBox="1"/>
            <p:nvPr/>
          </p:nvSpPr>
          <p:spPr>
            <a:xfrm>
              <a:off x="6531275" y="3069925"/>
              <a:ext cx="262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Mary</a:t>
              </a:r>
              <a:r>
                <a:rPr baseline="-25000" lang="en" sz="1800">
                  <a:solidFill>
                    <a:srgbClr val="FF0000"/>
                  </a:solidFill>
                </a:rPr>
                <a:t>q </a:t>
              </a:r>
              <a:r>
                <a:rPr lang="en" sz="1800">
                  <a:solidFill>
                    <a:srgbClr val="FF0000"/>
                  </a:solidFill>
                </a:rPr>
                <a:t>→ Query (Target)</a:t>
              </a:r>
              <a:endParaRPr sz="1800">
                <a:solidFill>
                  <a:srgbClr val="FF0000"/>
                </a:solidFill>
              </a:endParaRPr>
            </a:p>
          </p:txBody>
        </p:sp>
        <p:cxnSp>
          <p:nvCxnSpPr>
            <p:cNvPr id="361" name="Google Shape;361;p27"/>
            <p:cNvCxnSpPr/>
            <p:nvPr/>
          </p:nvCxnSpPr>
          <p:spPr>
            <a:xfrm flipH="1">
              <a:off x="7443161" y="2320323"/>
              <a:ext cx="87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362" name="Google Shape;362;p27"/>
            <p:cNvPicPr preferRelativeResize="0"/>
            <p:nvPr/>
          </p:nvPicPr>
          <p:blipFill rotWithShape="1">
            <a:blip r:embed="rId5">
              <a:alphaModFix/>
            </a:blip>
            <a:srcRect b="38166" l="10149" r="8523" t="38056"/>
            <a:stretch/>
          </p:blipFill>
          <p:spPr>
            <a:xfrm>
              <a:off x="6887275" y="2807525"/>
              <a:ext cx="1120438" cy="327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3" name="Google Shape;36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5650" y="2318280"/>
            <a:ext cx="1120450" cy="7290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27"/>
          <p:cNvGrpSpPr/>
          <p:nvPr/>
        </p:nvGrpSpPr>
        <p:grpSpPr>
          <a:xfrm>
            <a:off x="2117750" y="2192777"/>
            <a:ext cx="5322973" cy="501000"/>
            <a:chOff x="2117750" y="2192777"/>
            <a:chExt cx="5322973" cy="501000"/>
          </a:xfrm>
        </p:grpSpPr>
        <p:cxnSp>
          <p:nvCxnSpPr>
            <p:cNvPr id="365" name="Google Shape;365;p27"/>
            <p:cNvCxnSpPr>
              <a:endCxn id="363" idx="1"/>
            </p:cNvCxnSpPr>
            <p:nvPr/>
          </p:nvCxnSpPr>
          <p:spPr>
            <a:xfrm>
              <a:off x="2117750" y="2244194"/>
              <a:ext cx="2127900" cy="4386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6" name="Google Shape;366;p27"/>
            <p:cNvCxnSpPr>
              <a:stCxn id="354" idx="2"/>
            </p:cNvCxnSpPr>
            <p:nvPr/>
          </p:nvCxnSpPr>
          <p:spPr>
            <a:xfrm flipH="1">
              <a:off x="4746723" y="2192777"/>
              <a:ext cx="2694000" cy="5010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67" name="Google Shape;367;p27"/>
          <p:cNvGrpSpPr/>
          <p:nvPr/>
        </p:nvGrpSpPr>
        <p:grpSpPr>
          <a:xfrm>
            <a:off x="2667950" y="2682794"/>
            <a:ext cx="4219325" cy="288518"/>
            <a:chOff x="2667950" y="2682794"/>
            <a:chExt cx="4219325" cy="288518"/>
          </a:xfrm>
        </p:grpSpPr>
        <p:cxnSp>
          <p:nvCxnSpPr>
            <p:cNvPr id="368" name="Google Shape;368;p27"/>
            <p:cNvCxnSpPr>
              <a:stCxn id="363" idx="1"/>
            </p:cNvCxnSpPr>
            <p:nvPr/>
          </p:nvCxnSpPr>
          <p:spPr>
            <a:xfrm flipH="1">
              <a:off x="2667950" y="2682794"/>
              <a:ext cx="1577700" cy="257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69" name="Google Shape;369;p27"/>
            <p:cNvCxnSpPr>
              <a:endCxn id="362" idx="1"/>
            </p:cNvCxnSpPr>
            <p:nvPr/>
          </p:nvCxnSpPr>
          <p:spPr>
            <a:xfrm>
              <a:off x="4805275" y="2705513"/>
              <a:ext cx="2082000" cy="2658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70" name="Google Shape;370;p27"/>
          <p:cNvSpPr/>
          <p:nvPr/>
        </p:nvSpPr>
        <p:spPr>
          <a:xfrm>
            <a:off x="6876976" y="2641429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p27"/>
          <p:cNvGrpSpPr/>
          <p:nvPr/>
        </p:nvGrpSpPr>
        <p:grpSpPr>
          <a:xfrm>
            <a:off x="3305875" y="1179625"/>
            <a:ext cx="3000000" cy="848025"/>
            <a:chOff x="2022150" y="4925050"/>
            <a:chExt cx="3000000" cy="848025"/>
          </a:xfrm>
        </p:grpSpPr>
        <p:sp>
          <p:nvSpPr>
            <p:cNvPr id="372" name="Google Shape;372;p27"/>
            <p:cNvSpPr txBox="1"/>
            <p:nvPr/>
          </p:nvSpPr>
          <p:spPr>
            <a:xfrm>
              <a:off x="2022150" y="4925050"/>
              <a:ext cx="30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chemeClr val="dk1"/>
                  </a:solidFill>
                </a:rPr>
                <a:t>Similarity → Dot Product</a:t>
              </a:r>
              <a:endParaRPr/>
            </a:p>
          </p:txBody>
        </p:sp>
        <p:sp>
          <p:nvSpPr>
            <p:cNvPr id="373" name="Google Shape;373;p27"/>
            <p:cNvSpPr txBox="1"/>
            <p:nvPr/>
          </p:nvSpPr>
          <p:spPr>
            <a:xfrm>
              <a:off x="2360063" y="5311375"/>
              <a:ext cx="227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6FA8DC"/>
                  </a:solidFill>
                </a:rPr>
                <a:t>v</a:t>
              </a:r>
              <a:r>
                <a:rPr baseline="-25000" i="1" lang="en" sz="1800">
                  <a:solidFill>
                    <a:srgbClr val="6FA8DC"/>
                  </a:solidFill>
                </a:rPr>
                <a:t>1</a:t>
              </a:r>
              <a:r>
                <a:rPr baseline="-25000" i="1" lang="en" sz="1800">
                  <a:solidFill>
                    <a:schemeClr val="dk1"/>
                  </a:solidFill>
                </a:rPr>
                <a:t> </a:t>
              </a:r>
              <a:r>
                <a:rPr b="1" i="1" lang="en" sz="1800">
                  <a:solidFill>
                    <a:schemeClr val="dk1"/>
                  </a:solidFill>
                </a:rPr>
                <a:t>. </a:t>
              </a:r>
              <a:r>
                <a:rPr i="1" lang="en" sz="1800">
                  <a:solidFill>
                    <a:srgbClr val="FF0000"/>
                  </a:solidFill>
                </a:rPr>
                <a:t>q</a:t>
              </a:r>
              <a:r>
                <a:rPr baseline="-25000" i="1" lang="en" sz="1800">
                  <a:solidFill>
                    <a:srgbClr val="FF0000"/>
                  </a:solidFill>
                </a:rPr>
                <a:t>3  </a:t>
              </a:r>
              <a:r>
                <a:rPr i="1" lang="en" sz="1800">
                  <a:solidFill>
                    <a:srgbClr val="9900FF"/>
                  </a:solidFill>
                </a:rPr>
                <a:t>= </a:t>
              </a:r>
              <a:r>
                <a:rPr i="1" lang="en" sz="1800">
                  <a:solidFill>
                    <a:srgbClr val="6FA8DC"/>
                  </a:solidFill>
                </a:rPr>
                <a:t>v</a:t>
              </a:r>
              <a:r>
                <a:rPr baseline="-25000" i="1" lang="en" sz="1800">
                  <a:solidFill>
                    <a:srgbClr val="6FA8DC"/>
                  </a:solidFill>
                </a:rPr>
                <a:t>1</a:t>
              </a:r>
              <a:r>
                <a:rPr baseline="-25000" i="1" lang="en" sz="1800">
                  <a:solidFill>
                    <a:schemeClr val="dk1"/>
                  </a:solidFill>
                </a:rPr>
                <a:t> </a:t>
              </a:r>
              <a:r>
                <a:rPr baseline="30000" i="1" lang="en" sz="1800">
                  <a:solidFill>
                    <a:schemeClr val="dk1"/>
                  </a:solidFill>
                </a:rPr>
                <a:t>T</a:t>
              </a:r>
              <a:r>
                <a:rPr b="1" i="1" lang="en" sz="1800">
                  <a:solidFill>
                    <a:schemeClr val="dk1"/>
                  </a:solidFill>
                </a:rPr>
                <a:t> </a:t>
              </a:r>
              <a:r>
                <a:rPr i="1" lang="en" sz="1800">
                  <a:solidFill>
                    <a:srgbClr val="FF0000"/>
                  </a:solidFill>
                </a:rPr>
                <a:t>q</a:t>
              </a:r>
              <a:r>
                <a:rPr baseline="-25000" i="1" lang="en" sz="1800">
                  <a:solidFill>
                    <a:srgbClr val="FF0000"/>
                  </a:solidFill>
                </a:rPr>
                <a:t>3 </a:t>
              </a:r>
              <a:endParaRPr baseline="-25000">
                <a:solidFill>
                  <a:srgbClr val="FF0000"/>
                </a:solidFill>
              </a:endParaRPr>
            </a:p>
          </p:txBody>
        </p:sp>
      </p:grpSp>
      <p:grpSp>
        <p:nvGrpSpPr>
          <p:cNvPr id="374" name="Google Shape;374;p27"/>
          <p:cNvGrpSpPr/>
          <p:nvPr/>
        </p:nvGrpSpPr>
        <p:grpSpPr>
          <a:xfrm>
            <a:off x="1532063" y="3857187"/>
            <a:ext cx="1171575" cy="861750"/>
            <a:chOff x="1532063" y="3857187"/>
            <a:chExt cx="1171575" cy="861750"/>
          </a:xfrm>
        </p:grpSpPr>
        <p:pic>
          <p:nvPicPr>
            <p:cNvPr id="375" name="Google Shape;375;p2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32063" y="3857187"/>
              <a:ext cx="1171575" cy="400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27"/>
            <p:cNvSpPr txBox="1"/>
            <p:nvPr/>
          </p:nvSpPr>
          <p:spPr>
            <a:xfrm>
              <a:off x="1763461" y="4257237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John</a:t>
              </a:r>
              <a:r>
                <a:rPr baseline="-25000" lang="en" sz="1800">
                  <a:solidFill>
                    <a:srgbClr val="6FA8DC"/>
                  </a:solidFill>
                </a:rPr>
                <a:t>v</a:t>
              </a:r>
              <a:endParaRPr baseline="-25000" sz="1800">
                <a:solidFill>
                  <a:srgbClr val="6FA8DC"/>
                </a:solidFill>
              </a:endParaRPr>
            </a:p>
          </p:txBody>
        </p:sp>
      </p:grpSp>
      <p:pic>
        <p:nvPicPr>
          <p:cNvPr id="377" name="Google Shape;37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17387" y="3724250"/>
            <a:ext cx="1120450" cy="704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p27"/>
          <p:cNvGrpSpPr/>
          <p:nvPr/>
        </p:nvGrpSpPr>
        <p:grpSpPr>
          <a:xfrm>
            <a:off x="2117861" y="2192777"/>
            <a:ext cx="5322861" cy="1922100"/>
            <a:chOff x="1965461" y="2040377"/>
            <a:chExt cx="5322861" cy="1922100"/>
          </a:xfrm>
        </p:grpSpPr>
        <p:cxnSp>
          <p:nvCxnSpPr>
            <p:cNvPr id="379" name="Google Shape;379;p27"/>
            <p:cNvCxnSpPr>
              <a:stCxn id="353" idx="2"/>
              <a:endCxn id="377" idx="1"/>
            </p:cNvCxnSpPr>
            <p:nvPr/>
          </p:nvCxnSpPr>
          <p:spPr>
            <a:xfrm>
              <a:off x="1965461" y="2091723"/>
              <a:ext cx="2099400" cy="18321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0" name="Google Shape;380;p27"/>
            <p:cNvCxnSpPr>
              <a:stCxn id="354" idx="2"/>
            </p:cNvCxnSpPr>
            <p:nvPr/>
          </p:nvCxnSpPr>
          <p:spPr>
            <a:xfrm flipH="1">
              <a:off x="4570623" y="2040377"/>
              <a:ext cx="2717700" cy="19221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1" name="Google Shape;381;p27"/>
          <p:cNvGrpSpPr/>
          <p:nvPr/>
        </p:nvGrpSpPr>
        <p:grpSpPr>
          <a:xfrm>
            <a:off x="2703587" y="4057117"/>
            <a:ext cx="3710488" cy="45933"/>
            <a:chOff x="2551187" y="3904717"/>
            <a:chExt cx="3710488" cy="45933"/>
          </a:xfrm>
        </p:grpSpPr>
        <p:cxnSp>
          <p:nvCxnSpPr>
            <p:cNvPr id="382" name="Google Shape;382;p27"/>
            <p:cNvCxnSpPr>
              <a:stCxn id="377" idx="1"/>
              <a:endCxn id="375" idx="3"/>
            </p:cNvCxnSpPr>
            <p:nvPr/>
          </p:nvCxnSpPr>
          <p:spPr>
            <a:xfrm rot="10800000">
              <a:off x="2551187" y="3904717"/>
              <a:ext cx="1513800" cy="192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3" name="Google Shape;383;p27"/>
            <p:cNvCxnSpPr/>
            <p:nvPr/>
          </p:nvCxnSpPr>
          <p:spPr>
            <a:xfrm flipH="1" rot="10800000">
              <a:off x="4617675" y="3938950"/>
              <a:ext cx="1644000" cy="117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4" name="Google Shape;384;p27"/>
          <p:cNvGrpSpPr/>
          <p:nvPr/>
        </p:nvGrpSpPr>
        <p:grpSpPr>
          <a:xfrm>
            <a:off x="6414075" y="3898150"/>
            <a:ext cx="1120475" cy="820775"/>
            <a:chOff x="6414075" y="3898150"/>
            <a:chExt cx="1120475" cy="820775"/>
          </a:xfrm>
        </p:grpSpPr>
        <p:pic>
          <p:nvPicPr>
            <p:cNvPr id="385" name="Google Shape;385;p27"/>
            <p:cNvPicPr preferRelativeResize="0"/>
            <p:nvPr/>
          </p:nvPicPr>
          <p:blipFill rotWithShape="1">
            <a:blip r:embed="rId9">
              <a:alphaModFix/>
            </a:blip>
            <a:srcRect b="30935" l="12086" r="12418" t="35717"/>
            <a:stretch/>
          </p:blipFill>
          <p:spPr>
            <a:xfrm>
              <a:off x="6414075" y="3898150"/>
              <a:ext cx="1120474" cy="3299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27"/>
            <p:cNvSpPr txBox="1"/>
            <p:nvPr/>
          </p:nvSpPr>
          <p:spPr>
            <a:xfrm>
              <a:off x="6745250" y="4257225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Mary</a:t>
              </a:r>
              <a:r>
                <a:rPr baseline="-25000" lang="en" sz="1800">
                  <a:solidFill>
                    <a:srgbClr val="6FA8DC"/>
                  </a:solidFill>
                </a:rPr>
                <a:t>v</a:t>
              </a:r>
              <a:r>
                <a:rPr baseline="-25000" lang="en" sz="1800">
                  <a:solidFill>
                    <a:srgbClr val="6FA8DC"/>
                  </a:solidFill>
                </a:rPr>
                <a:t> </a:t>
              </a:r>
              <a:endParaRPr>
                <a:solidFill>
                  <a:srgbClr val="6FA8DC"/>
                </a:solidFill>
              </a:endParaRPr>
            </a:p>
          </p:txBody>
        </p:sp>
      </p:grpSp>
      <p:grpSp>
        <p:nvGrpSpPr>
          <p:cNvPr id="387" name="Google Shape;387;p27"/>
          <p:cNvGrpSpPr/>
          <p:nvPr/>
        </p:nvGrpSpPr>
        <p:grpSpPr>
          <a:xfrm>
            <a:off x="2785475" y="3163507"/>
            <a:ext cx="4051968" cy="798650"/>
            <a:chOff x="2923515" y="3798733"/>
            <a:chExt cx="1890087" cy="526189"/>
          </a:xfrm>
        </p:grpSpPr>
        <p:grpSp>
          <p:nvGrpSpPr>
            <p:cNvPr id="388" name="Google Shape;388;p27"/>
            <p:cNvGrpSpPr/>
            <p:nvPr/>
          </p:nvGrpSpPr>
          <p:grpSpPr>
            <a:xfrm>
              <a:off x="2923515" y="3798733"/>
              <a:ext cx="1890087" cy="526189"/>
              <a:chOff x="2852783" y="597845"/>
              <a:chExt cx="1859224" cy="1251937"/>
            </a:xfrm>
          </p:grpSpPr>
          <p:sp>
            <p:nvSpPr>
              <p:cNvPr id="389" name="Google Shape;389;p27"/>
              <p:cNvSpPr/>
              <p:nvPr/>
            </p:nvSpPr>
            <p:spPr>
              <a:xfrm>
                <a:off x="2852783" y="616331"/>
                <a:ext cx="1858825" cy="1233450"/>
              </a:xfrm>
              <a:custGeom>
                <a:rect b="b" l="l" r="r" t="t"/>
                <a:pathLst>
                  <a:path extrusionOk="0" h="49338" w="74353">
                    <a:moveTo>
                      <a:pt x="0" y="49338"/>
                    </a:moveTo>
                    <a:cubicBezTo>
                      <a:pt x="3808" y="44061"/>
                      <a:pt x="10454" y="25897"/>
                      <a:pt x="22846" y="17674"/>
                    </a:cubicBezTo>
                    <a:cubicBezTo>
                      <a:pt x="35238" y="9451"/>
                      <a:pt x="65769" y="2946"/>
                      <a:pt x="74353" y="0"/>
                    </a:cubicBezTo>
                  </a:path>
                </a:pathLst>
              </a:custGeom>
              <a:noFill/>
              <a:ln cap="flat" cmpd="sng" w="19050">
                <a:solidFill>
                  <a:srgbClr val="6FA8DC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390" name="Google Shape;390;p27"/>
              <p:cNvCxnSpPr/>
              <p:nvPr/>
            </p:nvCxnSpPr>
            <p:spPr>
              <a:xfrm flipH="1" rot="10800000">
                <a:off x="4453107" y="597845"/>
                <a:ext cx="258900" cy="129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FA8D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91" name="Google Shape;391;p27"/>
            <p:cNvSpPr txBox="1"/>
            <p:nvPr/>
          </p:nvSpPr>
          <p:spPr>
            <a:xfrm>
              <a:off x="2982260" y="3951558"/>
              <a:ext cx="4611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%</a:t>
              </a:r>
              <a:endParaRPr sz="1800">
                <a:solidFill>
                  <a:srgbClr val="6FA8D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Need </a:t>
            </a:r>
            <a:r>
              <a:rPr i="1" lang="en" sz="1920" u="sng">
                <a:solidFill>
                  <a:srgbClr val="FF0000"/>
                </a:solidFill>
              </a:rPr>
              <a:t>relatedness</a:t>
            </a:r>
            <a:r>
              <a:rPr lang="en" sz="1920"/>
              <a:t> (not similarity) → </a:t>
            </a:r>
            <a:r>
              <a:rPr lang="en" sz="1920">
                <a:solidFill>
                  <a:srgbClr val="6D9EEB"/>
                </a:solidFill>
              </a:rPr>
              <a:t>Donor (Value)</a:t>
            </a:r>
            <a:r>
              <a:rPr lang="en" sz="1920"/>
              <a:t> may not have to be close</a:t>
            </a:r>
            <a:endParaRPr sz="1920"/>
          </a:p>
        </p:txBody>
      </p:sp>
      <p:pic>
        <p:nvPicPr>
          <p:cNvPr id="397" name="Google Shape;397;p28"/>
          <p:cNvPicPr preferRelativeResize="0"/>
          <p:nvPr/>
        </p:nvPicPr>
        <p:blipFill rotWithShape="1">
          <a:blip r:embed="rId3">
            <a:alphaModFix/>
          </a:blip>
          <a:srcRect b="56265" l="19903" r="61953" t="0"/>
          <a:stretch/>
        </p:blipFill>
        <p:spPr>
          <a:xfrm>
            <a:off x="1105175" y="1317200"/>
            <a:ext cx="1620974" cy="6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8"/>
          <p:cNvPicPr preferRelativeResize="0"/>
          <p:nvPr/>
        </p:nvPicPr>
        <p:blipFill rotWithShape="1">
          <a:blip r:embed="rId3">
            <a:alphaModFix/>
          </a:blip>
          <a:srcRect b="56265" l="76514" r="5796" t="0"/>
          <a:stretch/>
        </p:blipFill>
        <p:spPr>
          <a:xfrm>
            <a:off x="6448298" y="1328943"/>
            <a:ext cx="1580401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8"/>
          <p:cNvSpPr txBox="1"/>
          <p:nvPr/>
        </p:nvSpPr>
        <p:spPr>
          <a:xfrm>
            <a:off x="1665611" y="178242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6988473" y="1731077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401" name="Google Shape;401;p28"/>
          <p:cNvGrpSpPr/>
          <p:nvPr/>
        </p:nvGrpSpPr>
        <p:grpSpPr>
          <a:xfrm>
            <a:off x="1382300" y="2244123"/>
            <a:ext cx="1322737" cy="1310989"/>
            <a:chOff x="1382300" y="2244123"/>
            <a:chExt cx="1322737" cy="1310989"/>
          </a:xfrm>
        </p:grpSpPr>
        <p:pic>
          <p:nvPicPr>
            <p:cNvPr id="402" name="Google Shape;402;p28"/>
            <p:cNvPicPr preferRelativeResize="0"/>
            <p:nvPr/>
          </p:nvPicPr>
          <p:blipFill rotWithShape="1">
            <a:blip r:embed="rId4">
              <a:alphaModFix/>
            </a:blip>
            <a:srcRect b="18727" l="6934" r="8391" t="30780"/>
            <a:stretch/>
          </p:blipFill>
          <p:spPr>
            <a:xfrm>
              <a:off x="1382300" y="2731400"/>
              <a:ext cx="1322725" cy="46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28"/>
            <p:cNvSpPr txBox="1"/>
            <p:nvPr/>
          </p:nvSpPr>
          <p:spPr>
            <a:xfrm>
              <a:off x="1800536" y="3093412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John</a:t>
              </a:r>
              <a:r>
                <a:rPr baseline="-25000" lang="en" sz="1800">
                  <a:solidFill>
                    <a:srgbClr val="9900FF"/>
                  </a:solidFill>
                </a:rPr>
                <a:t>q</a:t>
              </a:r>
              <a:endParaRPr baseline="-25000" sz="1800">
                <a:solidFill>
                  <a:srgbClr val="9900FF"/>
                </a:solidFill>
              </a:endParaRPr>
            </a:p>
          </p:txBody>
        </p:sp>
        <p:cxnSp>
          <p:nvCxnSpPr>
            <p:cNvPr id="404" name="Google Shape;404;p28"/>
            <p:cNvCxnSpPr>
              <a:stCxn id="399" idx="2"/>
              <a:endCxn id="402" idx="0"/>
            </p:cNvCxnSpPr>
            <p:nvPr/>
          </p:nvCxnSpPr>
          <p:spPr>
            <a:xfrm flipH="1">
              <a:off x="2043761" y="2244123"/>
              <a:ext cx="741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05" name="Google Shape;405;p28"/>
          <p:cNvGrpSpPr/>
          <p:nvPr/>
        </p:nvGrpSpPr>
        <p:grpSpPr>
          <a:xfrm>
            <a:off x="6531275" y="2320323"/>
            <a:ext cx="2625900" cy="1211302"/>
            <a:chOff x="6531275" y="2320323"/>
            <a:chExt cx="2625900" cy="1211302"/>
          </a:xfrm>
        </p:grpSpPr>
        <p:sp>
          <p:nvSpPr>
            <p:cNvPr id="406" name="Google Shape;406;p28"/>
            <p:cNvSpPr txBox="1"/>
            <p:nvPr/>
          </p:nvSpPr>
          <p:spPr>
            <a:xfrm>
              <a:off x="6531275" y="3069925"/>
              <a:ext cx="262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Mary</a:t>
              </a:r>
              <a:r>
                <a:rPr baseline="-25000" lang="en" sz="1800">
                  <a:solidFill>
                    <a:srgbClr val="FF0000"/>
                  </a:solidFill>
                </a:rPr>
                <a:t>q </a:t>
              </a:r>
              <a:r>
                <a:rPr lang="en" sz="1800">
                  <a:solidFill>
                    <a:srgbClr val="FF0000"/>
                  </a:solidFill>
                </a:rPr>
                <a:t>→ Query (Target)</a:t>
              </a:r>
              <a:endParaRPr sz="1800">
                <a:solidFill>
                  <a:srgbClr val="FF0000"/>
                </a:solidFill>
              </a:endParaRPr>
            </a:p>
          </p:txBody>
        </p:sp>
        <p:cxnSp>
          <p:nvCxnSpPr>
            <p:cNvPr id="407" name="Google Shape;407;p28"/>
            <p:cNvCxnSpPr/>
            <p:nvPr/>
          </p:nvCxnSpPr>
          <p:spPr>
            <a:xfrm flipH="1">
              <a:off x="7443161" y="2320323"/>
              <a:ext cx="87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408" name="Google Shape;408;p28"/>
            <p:cNvPicPr preferRelativeResize="0"/>
            <p:nvPr/>
          </p:nvPicPr>
          <p:blipFill rotWithShape="1">
            <a:blip r:embed="rId5">
              <a:alphaModFix/>
            </a:blip>
            <a:srcRect b="38166" l="10149" r="8523" t="38056"/>
            <a:stretch/>
          </p:blipFill>
          <p:spPr>
            <a:xfrm>
              <a:off x="6887275" y="2807525"/>
              <a:ext cx="1120438" cy="327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9" name="Google Shape;40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3250" y="2318280"/>
            <a:ext cx="1120450" cy="7290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28"/>
          <p:cNvGrpSpPr/>
          <p:nvPr/>
        </p:nvGrpSpPr>
        <p:grpSpPr>
          <a:xfrm>
            <a:off x="2304050" y="1961927"/>
            <a:ext cx="4684423" cy="755400"/>
            <a:chOff x="2304050" y="1961927"/>
            <a:chExt cx="4684423" cy="755400"/>
          </a:xfrm>
        </p:grpSpPr>
        <p:cxnSp>
          <p:nvCxnSpPr>
            <p:cNvPr id="411" name="Google Shape;411;p28"/>
            <p:cNvCxnSpPr>
              <a:endCxn id="409" idx="1"/>
            </p:cNvCxnSpPr>
            <p:nvPr/>
          </p:nvCxnSpPr>
          <p:spPr>
            <a:xfrm>
              <a:off x="2304050" y="2095094"/>
              <a:ext cx="1789200" cy="587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2" name="Google Shape;412;p28"/>
            <p:cNvCxnSpPr>
              <a:stCxn id="400" idx="1"/>
            </p:cNvCxnSpPr>
            <p:nvPr/>
          </p:nvCxnSpPr>
          <p:spPr>
            <a:xfrm flipH="1">
              <a:off x="4582173" y="1961927"/>
              <a:ext cx="2406300" cy="755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13" name="Google Shape;413;p28"/>
          <p:cNvGrpSpPr/>
          <p:nvPr/>
        </p:nvGrpSpPr>
        <p:grpSpPr>
          <a:xfrm>
            <a:off x="2515550" y="2682794"/>
            <a:ext cx="4371725" cy="288518"/>
            <a:chOff x="2515550" y="2682794"/>
            <a:chExt cx="4371725" cy="288518"/>
          </a:xfrm>
        </p:grpSpPr>
        <p:cxnSp>
          <p:nvCxnSpPr>
            <p:cNvPr id="414" name="Google Shape;414;p28"/>
            <p:cNvCxnSpPr>
              <a:stCxn id="409" idx="1"/>
            </p:cNvCxnSpPr>
            <p:nvPr/>
          </p:nvCxnSpPr>
          <p:spPr>
            <a:xfrm flipH="1">
              <a:off x="2515550" y="2682794"/>
              <a:ext cx="1577700" cy="257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5" name="Google Shape;415;p28"/>
            <p:cNvCxnSpPr>
              <a:endCxn id="408" idx="1"/>
            </p:cNvCxnSpPr>
            <p:nvPr/>
          </p:nvCxnSpPr>
          <p:spPr>
            <a:xfrm>
              <a:off x="4664275" y="2705513"/>
              <a:ext cx="2223000" cy="2658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16" name="Google Shape;416;p28"/>
          <p:cNvSpPr/>
          <p:nvPr/>
        </p:nvSpPr>
        <p:spPr>
          <a:xfrm>
            <a:off x="6876976" y="2641429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28"/>
          <p:cNvGrpSpPr/>
          <p:nvPr/>
        </p:nvGrpSpPr>
        <p:grpSpPr>
          <a:xfrm>
            <a:off x="2299230" y="1068196"/>
            <a:ext cx="6082500" cy="807054"/>
            <a:chOff x="1015505" y="4813621"/>
            <a:chExt cx="6082500" cy="807054"/>
          </a:xfrm>
        </p:grpSpPr>
        <p:sp>
          <p:nvSpPr>
            <p:cNvPr id="418" name="Google Shape;418;p28"/>
            <p:cNvSpPr txBox="1"/>
            <p:nvPr/>
          </p:nvSpPr>
          <p:spPr>
            <a:xfrm>
              <a:off x="1015505" y="4813621"/>
              <a:ext cx="608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chemeClr val="dk1"/>
                  </a:solidFill>
                </a:rPr>
                <a:t>Similarity → Dot Product with </a:t>
              </a:r>
              <a:r>
                <a:rPr i="1" lang="en" sz="1800">
                  <a:solidFill>
                    <a:srgbClr val="FF9900"/>
                  </a:solidFill>
                </a:rPr>
                <a:t>Key</a:t>
              </a:r>
              <a:r>
                <a:rPr i="1" lang="en" sz="1800">
                  <a:solidFill>
                    <a:schemeClr val="dk1"/>
                  </a:solidFill>
                </a:rPr>
                <a:t> (access to </a:t>
              </a:r>
              <a:r>
                <a:rPr i="1" lang="en" sz="1800">
                  <a:solidFill>
                    <a:srgbClr val="6FA8DC"/>
                  </a:solidFill>
                </a:rPr>
                <a:t>Value</a:t>
              </a:r>
              <a:r>
                <a:rPr i="1" lang="en" sz="1800">
                  <a:solidFill>
                    <a:schemeClr val="dk1"/>
                  </a:solidFill>
                </a:rPr>
                <a:t>)</a:t>
              </a:r>
              <a:endParaRPr/>
            </a:p>
          </p:txBody>
        </p:sp>
        <p:sp>
          <p:nvSpPr>
            <p:cNvPr id="419" name="Google Shape;419;p28"/>
            <p:cNvSpPr txBox="1"/>
            <p:nvPr/>
          </p:nvSpPr>
          <p:spPr>
            <a:xfrm>
              <a:off x="2360063" y="5158975"/>
              <a:ext cx="227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9900"/>
                  </a:solidFill>
                </a:rPr>
                <a:t>k</a:t>
              </a:r>
              <a:r>
                <a:rPr baseline="-25000" i="1" lang="en" sz="1800">
                  <a:solidFill>
                    <a:srgbClr val="FF9900"/>
                  </a:solidFill>
                </a:rPr>
                <a:t>1 </a:t>
              </a:r>
              <a:r>
                <a:rPr b="1" i="1" lang="en" sz="1800">
                  <a:solidFill>
                    <a:schemeClr val="dk1"/>
                  </a:solidFill>
                </a:rPr>
                <a:t>. </a:t>
              </a:r>
              <a:r>
                <a:rPr i="1" lang="en" sz="1800">
                  <a:solidFill>
                    <a:srgbClr val="FF0000"/>
                  </a:solidFill>
                </a:rPr>
                <a:t>q</a:t>
              </a:r>
              <a:r>
                <a:rPr baseline="-25000" i="1" lang="en" sz="1800">
                  <a:solidFill>
                    <a:srgbClr val="FF0000"/>
                  </a:solidFill>
                </a:rPr>
                <a:t>3  </a:t>
              </a:r>
              <a:r>
                <a:rPr i="1" lang="en" sz="1800">
                  <a:solidFill>
                    <a:srgbClr val="9900FF"/>
                  </a:solidFill>
                </a:rPr>
                <a:t>= </a:t>
              </a:r>
              <a:r>
                <a:rPr i="1" lang="en" sz="1800">
                  <a:solidFill>
                    <a:srgbClr val="FF9900"/>
                  </a:solidFill>
                </a:rPr>
                <a:t>k</a:t>
              </a:r>
              <a:r>
                <a:rPr baseline="-25000" i="1" lang="en" sz="1800">
                  <a:solidFill>
                    <a:srgbClr val="FF9900"/>
                  </a:solidFill>
                </a:rPr>
                <a:t>1</a:t>
              </a:r>
              <a:r>
                <a:rPr baseline="-25000" i="1" lang="en" sz="1800">
                  <a:solidFill>
                    <a:schemeClr val="dk1"/>
                  </a:solidFill>
                </a:rPr>
                <a:t> </a:t>
              </a:r>
              <a:r>
                <a:rPr baseline="30000" i="1" lang="en" sz="1800">
                  <a:solidFill>
                    <a:schemeClr val="dk1"/>
                  </a:solidFill>
                </a:rPr>
                <a:t>T</a:t>
              </a:r>
              <a:r>
                <a:rPr b="1" i="1" lang="en" sz="1800">
                  <a:solidFill>
                    <a:schemeClr val="dk1"/>
                  </a:solidFill>
                </a:rPr>
                <a:t> </a:t>
              </a:r>
              <a:r>
                <a:rPr i="1" lang="en" sz="1800">
                  <a:solidFill>
                    <a:srgbClr val="FF0000"/>
                  </a:solidFill>
                </a:rPr>
                <a:t>q</a:t>
              </a:r>
              <a:r>
                <a:rPr baseline="-25000" i="1" lang="en" sz="1800">
                  <a:solidFill>
                    <a:srgbClr val="FF0000"/>
                  </a:solidFill>
                </a:rPr>
                <a:t>3 </a:t>
              </a:r>
              <a:endParaRPr baseline="-25000">
                <a:solidFill>
                  <a:srgbClr val="FF0000"/>
                </a:solidFill>
              </a:endParaRPr>
            </a:p>
          </p:txBody>
        </p:sp>
      </p:grpSp>
      <p:grpSp>
        <p:nvGrpSpPr>
          <p:cNvPr id="420" name="Google Shape;420;p28"/>
          <p:cNvGrpSpPr/>
          <p:nvPr/>
        </p:nvGrpSpPr>
        <p:grpSpPr>
          <a:xfrm>
            <a:off x="1532063" y="3552387"/>
            <a:ext cx="1171575" cy="861750"/>
            <a:chOff x="1532063" y="3857187"/>
            <a:chExt cx="1171575" cy="861750"/>
          </a:xfrm>
        </p:grpSpPr>
        <p:pic>
          <p:nvPicPr>
            <p:cNvPr id="421" name="Google Shape;421;p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32063" y="3857187"/>
              <a:ext cx="1171575" cy="400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28"/>
            <p:cNvSpPr txBox="1"/>
            <p:nvPr/>
          </p:nvSpPr>
          <p:spPr>
            <a:xfrm>
              <a:off x="1763461" y="4257237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John</a:t>
              </a:r>
              <a:r>
                <a:rPr baseline="-25000" lang="en" sz="1800">
                  <a:solidFill>
                    <a:srgbClr val="6FA8DC"/>
                  </a:solidFill>
                </a:rPr>
                <a:t>v</a:t>
              </a:r>
              <a:endParaRPr baseline="-25000" sz="1800">
                <a:solidFill>
                  <a:srgbClr val="6FA8DC"/>
                </a:solidFill>
              </a:endParaRPr>
            </a:p>
          </p:txBody>
        </p:sp>
      </p:grpSp>
      <p:pic>
        <p:nvPicPr>
          <p:cNvPr id="423" name="Google Shape;423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1687" y="3337925"/>
            <a:ext cx="1120450" cy="704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28"/>
          <p:cNvGrpSpPr/>
          <p:nvPr/>
        </p:nvGrpSpPr>
        <p:grpSpPr>
          <a:xfrm>
            <a:off x="2315887" y="1961927"/>
            <a:ext cx="4672585" cy="1728064"/>
            <a:chOff x="2163487" y="2114327"/>
            <a:chExt cx="4672585" cy="1728064"/>
          </a:xfrm>
        </p:grpSpPr>
        <p:cxnSp>
          <p:nvCxnSpPr>
            <p:cNvPr id="425" name="Google Shape;425;p28"/>
            <p:cNvCxnSpPr>
              <a:endCxn id="423" idx="1"/>
            </p:cNvCxnSpPr>
            <p:nvPr/>
          </p:nvCxnSpPr>
          <p:spPr>
            <a:xfrm>
              <a:off x="2163487" y="2258992"/>
              <a:ext cx="1795800" cy="1583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6" name="Google Shape;426;p28"/>
            <p:cNvCxnSpPr>
              <a:stCxn id="400" idx="1"/>
            </p:cNvCxnSpPr>
            <p:nvPr/>
          </p:nvCxnSpPr>
          <p:spPr>
            <a:xfrm flipH="1">
              <a:off x="4523673" y="2114327"/>
              <a:ext cx="2312400" cy="1706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27" name="Google Shape;427;p28"/>
          <p:cNvGrpSpPr/>
          <p:nvPr/>
        </p:nvGrpSpPr>
        <p:grpSpPr>
          <a:xfrm>
            <a:off x="2703787" y="3656825"/>
            <a:ext cx="3710288" cy="129600"/>
            <a:chOff x="2551387" y="3809225"/>
            <a:chExt cx="3710288" cy="129600"/>
          </a:xfrm>
        </p:grpSpPr>
        <p:cxnSp>
          <p:nvCxnSpPr>
            <p:cNvPr id="428" name="Google Shape;428;p28"/>
            <p:cNvCxnSpPr>
              <a:stCxn id="423" idx="1"/>
              <a:endCxn id="421" idx="3"/>
            </p:cNvCxnSpPr>
            <p:nvPr/>
          </p:nvCxnSpPr>
          <p:spPr>
            <a:xfrm flipH="1">
              <a:off x="2551387" y="3842392"/>
              <a:ext cx="1407900" cy="624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9" name="Google Shape;429;p28"/>
            <p:cNvCxnSpPr/>
            <p:nvPr/>
          </p:nvCxnSpPr>
          <p:spPr>
            <a:xfrm>
              <a:off x="4535475" y="3809225"/>
              <a:ext cx="1726200" cy="1296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30" name="Google Shape;430;p28"/>
          <p:cNvGrpSpPr/>
          <p:nvPr/>
        </p:nvGrpSpPr>
        <p:grpSpPr>
          <a:xfrm>
            <a:off x="6414075" y="3593350"/>
            <a:ext cx="1120475" cy="820775"/>
            <a:chOff x="6414075" y="3898150"/>
            <a:chExt cx="1120475" cy="820775"/>
          </a:xfrm>
        </p:grpSpPr>
        <p:pic>
          <p:nvPicPr>
            <p:cNvPr id="431" name="Google Shape;431;p28"/>
            <p:cNvPicPr preferRelativeResize="0"/>
            <p:nvPr/>
          </p:nvPicPr>
          <p:blipFill rotWithShape="1">
            <a:blip r:embed="rId9">
              <a:alphaModFix/>
            </a:blip>
            <a:srcRect b="30935" l="12086" r="12418" t="35717"/>
            <a:stretch/>
          </p:blipFill>
          <p:spPr>
            <a:xfrm>
              <a:off x="6414075" y="3898150"/>
              <a:ext cx="1120474" cy="3299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28"/>
            <p:cNvSpPr txBox="1"/>
            <p:nvPr/>
          </p:nvSpPr>
          <p:spPr>
            <a:xfrm>
              <a:off x="6745250" y="4257225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Mary</a:t>
              </a:r>
              <a:r>
                <a:rPr baseline="-25000" lang="en" sz="1800">
                  <a:solidFill>
                    <a:srgbClr val="6FA8DC"/>
                  </a:solidFill>
                </a:rPr>
                <a:t>v </a:t>
              </a:r>
              <a:endParaRPr>
                <a:solidFill>
                  <a:srgbClr val="6FA8DC"/>
                </a:solidFill>
              </a:endParaRPr>
            </a:p>
          </p:txBody>
        </p:sp>
      </p:grpSp>
      <p:grpSp>
        <p:nvGrpSpPr>
          <p:cNvPr id="433" name="Google Shape;433;p28"/>
          <p:cNvGrpSpPr/>
          <p:nvPr/>
        </p:nvGrpSpPr>
        <p:grpSpPr>
          <a:xfrm>
            <a:off x="2734650" y="2822968"/>
            <a:ext cx="4153130" cy="1691118"/>
            <a:chOff x="2899807" y="3775186"/>
            <a:chExt cx="1937275" cy="1114190"/>
          </a:xfrm>
        </p:grpSpPr>
        <p:grpSp>
          <p:nvGrpSpPr>
            <p:cNvPr id="434" name="Google Shape;434;p28"/>
            <p:cNvGrpSpPr/>
            <p:nvPr/>
          </p:nvGrpSpPr>
          <p:grpSpPr>
            <a:xfrm>
              <a:off x="2899807" y="3775186"/>
              <a:ext cx="1937275" cy="1114190"/>
              <a:chOff x="2829462" y="541822"/>
              <a:chExt cx="1905641" cy="2650940"/>
            </a:xfrm>
          </p:grpSpPr>
          <p:sp>
            <p:nvSpPr>
              <p:cNvPr id="435" name="Google Shape;435;p28"/>
              <p:cNvSpPr/>
              <p:nvPr/>
            </p:nvSpPr>
            <p:spPr>
              <a:xfrm>
                <a:off x="2829462" y="616331"/>
                <a:ext cx="1882060" cy="2576430"/>
              </a:xfrm>
              <a:custGeom>
                <a:rect b="b" l="l" r="r" t="t"/>
                <a:pathLst>
                  <a:path extrusionOk="0" h="49338" w="74353">
                    <a:moveTo>
                      <a:pt x="0" y="49338"/>
                    </a:moveTo>
                    <a:cubicBezTo>
                      <a:pt x="3808" y="44061"/>
                      <a:pt x="10454" y="25897"/>
                      <a:pt x="22846" y="17674"/>
                    </a:cubicBezTo>
                    <a:cubicBezTo>
                      <a:pt x="35238" y="9451"/>
                      <a:pt x="65769" y="2946"/>
                      <a:pt x="74353" y="0"/>
                    </a:cubicBezTo>
                  </a:path>
                </a:pathLst>
              </a:custGeom>
              <a:noFill/>
              <a:ln cap="flat" cmpd="sng" w="19050">
                <a:solidFill>
                  <a:srgbClr val="FF99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436" name="Google Shape;436;p28"/>
              <p:cNvCxnSpPr/>
              <p:nvPr/>
            </p:nvCxnSpPr>
            <p:spPr>
              <a:xfrm flipH="1" rot="10800000">
                <a:off x="4593203" y="541822"/>
                <a:ext cx="141900" cy="184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37" name="Google Shape;437;p28"/>
            <p:cNvSpPr txBox="1"/>
            <p:nvPr/>
          </p:nvSpPr>
          <p:spPr>
            <a:xfrm>
              <a:off x="2956561" y="4401031"/>
              <a:ext cx="209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%</a:t>
              </a:r>
              <a:endParaRPr sz="1800">
                <a:solidFill>
                  <a:srgbClr val="FF9900"/>
                </a:solidFill>
              </a:endParaRPr>
            </a:p>
          </p:txBody>
        </p:sp>
      </p:grpSp>
      <p:grpSp>
        <p:nvGrpSpPr>
          <p:cNvPr id="438" name="Google Shape;438;p28"/>
          <p:cNvGrpSpPr/>
          <p:nvPr/>
        </p:nvGrpSpPr>
        <p:grpSpPr>
          <a:xfrm>
            <a:off x="1554532" y="4355397"/>
            <a:ext cx="1219200" cy="763742"/>
            <a:chOff x="1554532" y="4355397"/>
            <a:chExt cx="1219200" cy="763742"/>
          </a:xfrm>
        </p:grpSpPr>
        <p:pic>
          <p:nvPicPr>
            <p:cNvPr id="439" name="Google Shape;439;p2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54532" y="4355397"/>
              <a:ext cx="1219200" cy="40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28"/>
            <p:cNvSpPr txBox="1"/>
            <p:nvPr/>
          </p:nvSpPr>
          <p:spPr>
            <a:xfrm>
              <a:off x="1828273" y="4657439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John</a:t>
              </a:r>
              <a:r>
                <a:rPr baseline="-25000" lang="en" sz="1800">
                  <a:solidFill>
                    <a:srgbClr val="FF9900"/>
                  </a:solidFill>
                </a:rPr>
                <a:t>k</a:t>
              </a:r>
              <a:endParaRPr baseline="-25000" sz="1800">
                <a:solidFill>
                  <a:srgbClr val="FF9900"/>
                </a:solidFill>
              </a:endParaRPr>
            </a:p>
          </p:txBody>
        </p:sp>
      </p:grpSp>
      <p:pic>
        <p:nvPicPr>
          <p:cNvPr id="441" name="Google Shape;441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27054" y="4189964"/>
            <a:ext cx="1171575" cy="717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28"/>
          <p:cNvGrpSpPr/>
          <p:nvPr/>
        </p:nvGrpSpPr>
        <p:grpSpPr>
          <a:xfrm>
            <a:off x="2292254" y="1961927"/>
            <a:ext cx="4696219" cy="2599200"/>
            <a:chOff x="1987454" y="1961927"/>
            <a:chExt cx="4696219" cy="2599200"/>
          </a:xfrm>
        </p:grpSpPr>
        <p:cxnSp>
          <p:nvCxnSpPr>
            <p:cNvPr id="443" name="Google Shape;443;p28"/>
            <p:cNvCxnSpPr>
              <a:endCxn id="441" idx="1"/>
            </p:cNvCxnSpPr>
            <p:nvPr/>
          </p:nvCxnSpPr>
          <p:spPr>
            <a:xfrm>
              <a:off x="1987454" y="2083126"/>
              <a:ext cx="1834800" cy="2465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4" name="Google Shape;444;p28"/>
            <p:cNvCxnSpPr>
              <a:stCxn id="400" idx="1"/>
            </p:cNvCxnSpPr>
            <p:nvPr/>
          </p:nvCxnSpPr>
          <p:spPr>
            <a:xfrm flipH="1">
              <a:off x="4347873" y="1961927"/>
              <a:ext cx="2335800" cy="25992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5" name="Google Shape;445;p28"/>
          <p:cNvGrpSpPr/>
          <p:nvPr/>
        </p:nvGrpSpPr>
        <p:grpSpPr>
          <a:xfrm>
            <a:off x="2773576" y="4506847"/>
            <a:ext cx="3828399" cy="54600"/>
            <a:chOff x="2608987" y="3809297"/>
            <a:chExt cx="3805187" cy="54600"/>
          </a:xfrm>
        </p:grpSpPr>
        <p:cxnSp>
          <p:nvCxnSpPr>
            <p:cNvPr id="446" name="Google Shape;446;p28"/>
            <p:cNvCxnSpPr/>
            <p:nvPr/>
          </p:nvCxnSpPr>
          <p:spPr>
            <a:xfrm rot="10800000">
              <a:off x="2608987" y="3816592"/>
              <a:ext cx="1350300" cy="258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7" name="Google Shape;447;p28"/>
            <p:cNvCxnSpPr>
              <a:endCxn id="448" idx="1"/>
            </p:cNvCxnSpPr>
            <p:nvPr/>
          </p:nvCxnSpPr>
          <p:spPr>
            <a:xfrm>
              <a:off x="4535275" y="3809297"/>
              <a:ext cx="1878900" cy="546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9" name="Google Shape;449;p28"/>
          <p:cNvGrpSpPr/>
          <p:nvPr/>
        </p:nvGrpSpPr>
        <p:grpSpPr>
          <a:xfrm>
            <a:off x="6601975" y="4417134"/>
            <a:ext cx="1031175" cy="640804"/>
            <a:chOff x="6601975" y="4417134"/>
            <a:chExt cx="1031175" cy="640804"/>
          </a:xfrm>
        </p:grpSpPr>
        <p:pic>
          <p:nvPicPr>
            <p:cNvPr id="448" name="Google Shape;448;p28"/>
            <p:cNvPicPr preferRelativeResize="0"/>
            <p:nvPr/>
          </p:nvPicPr>
          <p:blipFill rotWithShape="1">
            <a:blip r:embed="rId12">
              <a:alphaModFix/>
            </a:blip>
            <a:srcRect b="37263" l="16502" r="11653" t="32218"/>
            <a:stretch/>
          </p:blipFill>
          <p:spPr>
            <a:xfrm>
              <a:off x="6601975" y="4417134"/>
              <a:ext cx="1019274" cy="28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" name="Google Shape;450;p28"/>
            <p:cNvSpPr txBox="1"/>
            <p:nvPr/>
          </p:nvSpPr>
          <p:spPr>
            <a:xfrm>
              <a:off x="6843850" y="4596239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Mary</a:t>
              </a:r>
              <a:r>
                <a:rPr baseline="-25000" lang="en" sz="1800">
                  <a:solidFill>
                    <a:srgbClr val="FF9900"/>
                  </a:solidFill>
                </a:rPr>
                <a:t>k</a:t>
              </a:r>
              <a:r>
                <a:rPr baseline="-25000" lang="en" sz="1800">
                  <a:solidFill>
                    <a:srgbClr val="FF9900"/>
                  </a:solidFill>
                </a:rPr>
                <a:t> </a:t>
              </a:r>
              <a:endParaRPr>
                <a:solidFill>
                  <a:srgbClr val="FF99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How to get </a:t>
            </a:r>
            <a:r>
              <a:rPr lang="en" sz="1920">
                <a:solidFill>
                  <a:srgbClr val="FF0000"/>
                </a:solidFill>
              </a:rPr>
              <a:t>%</a:t>
            </a:r>
            <a:r>
              <a:rPr lang="en" sz="1920"/>
              <a:t> from Dot Product?</a:t>
            </a:r>
            <a:endParaRPr sz="1920"/>
          </a:p>
        </p:txBody>
      </p:sp>
      <p:pic>
        <p:nvPicPr>
          <p:cNvPr id="456" name="Google Shape;456;p29"/>
          <p:cNvPicPr preferRelativeResize="0"/>
          <p:nvPr/>
        </p:nvPicPr>
        <p:blipFill rotWithShape="1">
          <a:blip r:embed="rId3">
            <a:alphaModFix/>
          </a:blip>
          <a:srcRect b="56265" l="19903" r="61953" t="0"/>
          <a:stretch/>
        </p:blipFill>
        <p:spPr>
          <a:xfrm>
            <a:off x="1105175" y="1317200"/>
            <a:ext cx="1620974" cy="6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9"/>
          <p:cNvPicPr preferRelativeResize="0"/>
          <p:nvPr/>
        </p:nvPicPr>
        <p:blipFill rotWithShape="1">
          <a:blip r:embed="rId3">
            <a:alphaModFix/>
          </a:blip>
          <a:srcRect b="56265" l="76514" r="5796" t="0"/>
          <a:stretch/>
        </p:blipFill>
        <p:spPr>
          <a:xfrm>
            <a:off x="6448298" y="1328943"/>
            <a:ext cx="1580401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9"/>
          <p:cNvSpPr txBox="1"/>
          <p:nvPr/>
        </p:nvSpPr>
        <p:spPr>
          <a:xfrm>
            <a:off x="1665611" y="178242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459" name="Google Shape;459;p29"/>
          <p:cNvSpPr txBox="1"/>
          <p:nvPr/>
        </p:nvSpPr>
        <p:spPr>
          <a:xfrm>
            <a:off x="6988473" y="1731077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460" name="Google Shape;460;p29"/>
          <p:cNvGrpSpPr/>
          <p:nvPr/>
        </p:nvGrpSpPr>
        <p:grpSpPr>
          <a:xfrm>
            <a:off x="1382300" y="2244123"/>
            <a:ext cx="1322737" cy="1310989"/>
            <a:chOff x="1382300" y="2244123"/>
            <a:chExt cx="1322737" cy="1310989"/>
          </a:xfrm>
        </p:grpSpPr>
        <p:pic>
          <p:nvPicPr>
            <p:cNvPr id="461" name="Google Shape;461;p29"/>
            <p:cNvPicPr preferRelativeResize="0"/>
            <p:nvPr/>
          </p:nvPicPr>
          <p:blipFill rotWithShape="1">
            <a:blip r:embed="rId4">
              <a:alphaModFix/>
            </a:blip>
            <a:srcRect b="18727" l="6934" r="8391" t="30780"/>
            <a:stretch/>
          </p:blipFill>
          <p:spPr>
            <a:xfrm>
              <a:off x="1382300" y="2731400"/>
              <a:ext cx="1322725" cy="46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2" name="Google Shape;462;p29"/>
            <p:cNvSpPr txBox="1"/>
            <p:nvPr/>
          </p:nvSpPr>
          <p:spPr>
            <a:xfrm>
              <a:off x="1800536" y="3093412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John</a:t>
              </a:r>
              <a:r>
                <a:rPr baseline="-25000" lang="en" sz="1800">
                  <a:solidFill>
                    <a:srgbClr val="9900FF"/>
                  </a:solidFill>
                </a:rPr>
                <a:t>q</a:t>
              </a:r>
              <a:endParaRPr baseline="-25000" sz="1800">
                <a:solidFill>
                  <a:srgbClr val="9900FF"/>
                </a:solidFill>
              </a:endParaRPr>
            </a:p>
          </p:txBody>
        </p:sp>
        <p:cxnSp>
          <p:nvCxnSpPr>
            <p:cNvPr id="463" name="Google Shape;463;p29"/>
            <p:cNvCxnSpPr>
              <a:stCxn id="458" idx="2"/>
              <a:endCxn id="461" idx="0"/>
            </p:cNvCxnSpPr>
            <p:nvPr/>
          </p:nvCxnSpPr>
          <p:spPr>
            <a:xfrm flipH="1">
              <a:off x="2043761" y="2244123"/>
              <a:ext cx="741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64" name="Google Shape;464;p29"/>
          <p:cNvGrpSpPr/>
          <p:nvPr/>
        </p:nvGrpSpPr>
        <p:grpSpPr>
          <a:xfrm>
            <a:off x="6531275" y="2320323"/>
            <a:ext cx="2625900" cy="1211302"/>
            <a:chOff x="6531275" y="2320323"/>
            <a:chExt cx="2625900" cy="1211302"/>
          </a:xfrm>
        </p:grpSpPr>
        <p:sp>
          <p:nvSpPr>
            <p:cNvPr id="465" name="Google Shape;465;p29"/>
            <p:cNvSpPr txBox="1"/>
            <p:nvPr/>
          </p:nvSpPr>
          <p:spPr>
            <a:xfrm>
              <a:off x="6531275" y="3069925"/>
              <a:ext cx="262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Mary</a:t>
              </a:r>
              <a:r>
                <a:rPr baseline="-25000" lang="en" sz="1800">
                  <a:solidFill>
                    <a:srgbClr val="FF0000"/>
                  </a:solidFill>
                </a:rPr>
                <a:t>q </a:t>
              </a:r>
              <a:r>
                <a:rPr lang="en" sz="1800">
                  <a:solidFill>
                    <a:srgbClr val="FF0000"/>
                  </a:solidFill>
                </a:rPr>
                <a:t>→ Query (Target)</a:t>
              </a:r>
              <a:endParaRPr sz="1800">
                <a:solidFill>
                  <a:srgbClr val="FF0000"/>
                </a:solidFill>
              </a:endParaRPr>
            </a:p>
          </p:txBody>
        </p:sp>
        <p:cxnSp>
          <p:nvCxnSpPr>
            <p:cNvPr id="466" name="Google Shape;466;p29"/>
            <p:cNvCxnSpPr/>
            <p:nvPr/>
          </p:nvCxnSpPr>
          <p:spPr>
            <a:xfrm flipH="1">
              <a:off x="7443161" y="2320323"/>
              <a:ext cx="87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467" name="Google Shape;467;p29"/>
            <p:cNvPicPr preferRelativeResize="0"/>
            <p:nvPr/>
          </p:nvPicPr>
          <p:blipFill rotWithShape="1">
            <a:blip r:embed="rId5">
              <a:alphaModFix/>
            </a:blip>
            <a:srcRect b="38166" l="10149" r="8523" t="38056"/>
            <a:stretch/>
          </p:blipFill>
          <p:spPr>
            <a:xfrm>
              <a:off x="6887275" y="2807525"/>
              <a:ext cx="1120438" cy="327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8" name="Google Shape;46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3250" y="2318280"/>
            <a:ext cx="1120450" cy="7290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9" name="Google Shape;469;p29"/>
          <p:cNvGrpSpPr/>
          <p:nvPr/>
        </p:nvGrpSpPr>
        <p:grpSpPr>
          <a:xfrm>
            <a:off x="2304050" y="1961927"/>
            <a:ext cx="4684423" cy="755400"/>
            <a:chOff x="2304050" y="1961927"/>
            <a:chExt cx="4684423" cy="755400"/>
          </a:xfrm>
        </p:grpSpPr>
        <p:cxnSp>
          <p:nvCxnSpPr>
            <p:cNvPr id="470" name="Google Shape;470;p29"/>
            <p:cNvCxnSpPr>
              <a:endCxn id="468" idx="1"/>
            </p:cNvCxnSpPr>
            <p:nvPr/>
          </p:nvCxnSpPr>
          <p:spPr>
            <a:xfrm>
              <a:off x="2304050" y="2095094"/>
              <a:ext cx="1789200" cy="587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71" name="Google Shape;471;p29"/>
            <p:cNvCxnSpPr>
              <a:stCxn id="459" idx="1"/>
            </p:cNvCxnSpPr>
            <p:nvPr/>
          </p:nvCxnSpPr>
          <p:spPr>
            <a:xfrm flipH="1">
              <a:off x="4582173" y="1961927"/>
              <a:ext cx="2406300" cy="755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72" name="Google Shape;472;p29"/>
          <p:cNvGrpSpPr/>
          <p:nvPr/>
        </p:nvGrpSpPr>
        <p:grpSpPr>
          <a:xfrm>
            <a:off x="2515550" y="2682794"/>
            <a:ext cx="4371725" cy="288518"/>
            <a:chOff x="2515550" y="2682794"/>
            <a:chExt cx="4371725" cy="288518"/>
          </a:xfrm>
        </p:grpSpPr>
        <p:cxnSp>
          <p:nvCxnSpPr>
            <p:cNvPr id="473" name="Google Shape;473;p29"/>
            <p:cNvCxnSpPr>
              <a:stCxn id="468" idx="1"/>
            </p:cNvCxnSpPr>
            <p:nvPr/>
          </p:nvCxnSpPr>
          <p:spPr>
            <a:xfrm flipH="1">
              <a:off x="2515550" y="2682794"/>
              <a:ext cx="1577700" cy="257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74" name="Google Shape;474;p29"/>
            <p:cNvCxnSpPr>
              <a:endCxn id="467" idx="1"/>
            </p:cNvCxnSpPr>
            <p:nvPr/>
          </p:nvCxnSpPr>
          <p:spPr>
            <a:xfrm>
              <a:off x="4664275" y="2705513"/>
              <a:ext cx="2223000" cy="2658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75" name="Google Shape;475;p29"/>
          <p:cNvSpPr/>
          <p:nvPr/>
        </p:nvSpPr>
        <p:spPr>
          <a:xfrm>
            <a:off x="6876976" y="2641429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9"/>
          <p:cNvSpPr txBox="1"/>
          <p:nvPr/>
        </p:nvSpPr>
        <p:spPr>
          <a:xfrm>
            <a:off x="3360525" y="1394575"/>
            <a:ext cx="24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9900"/>
                </a:solidFill>
              </a:rPr>
              <a:t>%</a:t>
            </a:r>
            <a:r>
              <a:rPr i="1" lang="en" sz="1800">
                <a:solidFill>
                  <a:srgbClr val="FF0000"/>
                </a:solidFill>
              </a:rPr>
              <a:t> = Softmax</a:t>
            </a:r>
            <a:r>
              <a:rPr i="1" lang="en" sz="1800">
                <a:solidFill>
                  <a:schemeClr val="dk1"/>
                </a:solidFill>
              </a:rPr>
              <a:t>(</a:t>
            </a:r>
            <a:r>
              <a:rPr i="1" lang="en" sz="1800">
                <a:solidFill>
                  <a:srgbClr val="FF9900"/>
                </a:solidFill>
              </a:rPr>
              <a:t>k</a:t>
            </a:r>
            <a:r>
              <a:rPr baseline="-25000" i="1" lang="en" sz="1800">
                <a:solidFill>
                  <a:srgbClr val="FF9900"/>
                </a:solidFill>
              </a:rPr>
              <a:t>1 </a:t>
            </a:r>
            <a:r>
              <a:rPr b="1" i="1" lang="en" sz="1800">
                <a:solidFill>
                  <a:schemeClr val="dk1"/>
                </a:solidFill>
              </a:rPr>
              <a:t>. </a:t>
            </a:r>
            <a:r>
              <a:rPr i="1" lang="en" sz="1800">
                <a:solidFill>
                  <a:srgbClr val="FF0000"/>
                </a:solidFill>
              </a:rPr>
              <a:t>q</a:t>
            </a:r>
            <a:r>
              <a:rPr baseline="-25000" i="1" lang="en" sz="1800">
                <a:solidFill>
                  <a:srgbClr val="FF0000"/>
                </a:solidFill>
              </a:rPr>
              <a:t>3 </a:t>
            </a:r>
            <a:r>
              <a:rPr i="1" lang="en" sz="1800">
                <a:solidFill>
                  <a:schemeClr val="dk1"/>
                </a:solidFill>
              </a:rPr>
              <a:t>)</a:t>
            </a:r>
            <a:endParaRPr baseline="-25000">
              <a:solidFill>
                <a:srgbClr val="FF0000"/>
              </a:solidFill>
            </a:endParaRPr>
          </a:p>
        </p:txBody>
      </p:sp>
      <p:grpSp>
        <p:nvGrpSpPr>
          <p:cNvPr id="477" name="Google Shape;477;p29"/>
          <p:cNvGrpSpPr/>
          <p:nvPr/>
        </p:nvGrpSpPr>
        <p:grpSpPr>
          <a:xfrm>
            <a:off x="1532063" y="3552387"/>
            <a:ext cx="1171575" cy="861750"/>
            <a:chOff x="1532063" y="3857187"/>
            <a:chExt cx="1171575" cy="861750"/>
          </a:xfrm>
        </p:grpSpPr>
        <p:pic>
          <p:nvPicPr>
            <p:cNvPr id="478" name="Google Shape;47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32063" y="3857187"/>
              <a:ext cx="1171575" cy="400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479;p29"/>
            <p:cNvSpPr txBox="1"/>
            <p:nvPr/>
          </p:nvSpPr>
          <p:spPr>
            <a:xfrm>
              <a:off x="1763461" y="4257237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John</a:t>
              </a:r>
              <a:r>
                <a:rPr baseline="-25000" lang="en" sz="1800">
                  <a:solidFill>
                    <a:srgbClr val="6FA8DC"/>
                  </a:solidFill>
                </a:rPr>
                <a:t>v</a:t>
              </a:r>
              <a:endParaRPr baseline="-25000" sz="1800">
                <a:solidFill>
                  <a:srgbClr val="6FA8DC"/>
                </a:solidFill>
              </a:endParaRPr>
            </a:p>
          </p:txBody>
        </p:sp>
      </p:grpSp>
      <p:pic>
        <p:nvPicPr>
          <p:cNvPr id="480" name="Google Shape;480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1687" y="3337925"/>
            <a:ext cx="1120450" cy="704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29"/>
          <p:cNvGrpSpPr/>
          <p:nvPr/>
        </p:nvGrpSpPr>
        <p:grpSpPr>
          <a:xfrm>
            <a:off x="2315887" y="1961927"/>
            <a:ext cx="4672585" cy="1728064"/>
            <a:chOff x="2163487" y="2114327"/>
            <a:chExt cx="4672585" cy="1728064"/>
          </a:xfrm>
        </p:grpSpPr>
        <p:cxnSp>
          <p:nvCxnSpPr>
            <p:cNvPr id="482" name="Google Shape;482;p29"/>
            <p:cNvCxnSpPr>
              <a:endCxn id="480" idx="1"/>
            </p:cNvCxnSpPr>
            <p:nvPr/>
          </p:nvCxnSpPr>
          <p:spPr>
            <a:xfrm>
              <a:off x="2163487" y="2258992"/>
              <a:ext cx="1795800" cy="1583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3" name="Google Shape;483;p29"/>
            <p:cNvCxnSpPr>
              <a:stCxn id="459" idx="1"/>
            </p:cNvCxnSpPr>
            <p:nvPr/>
          </p:nvCxnSpPr>
          <p:spPr>
            <a:xfrm flipH="1">
              <a:off x="4523673" y="2114327"/>
              <a:ext cx="2312400" cy="1706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84" name="Google Shape;484;p29"/>
          <p:cNvGrpSpPr/>
          <p:nvPr/>
        </p:nvGrpSpPr>
        <p:grpSpPr>
          <a:xfrm>
            <a:off x="2703787" y="3656825"/>
            <a:ext cx="3710288" cy="129600"/>
            <a:chOff x="2551387" y="3809225"/>
            <a:chExt cx="3710288" cy="129600"/>
          </a:xfrm>
        </p:grpSpPr>
        <p:cxnSp>
          <p:nvCxnSpPr>
            <p:cNvPr id="485" name="Google Shape;485;p29"/>
            <p:cNvCxnSpPr>
              <a:stCxn id="480" idx="1"/>
              <a:endCxn id="478" idx="3"/>
            </p:cNvCxnSpPr>
            <p:nvPr/>
          </p:nvCxnSpPr>
          <p:spPr>
            <a:xfrm flipH="1">
              <a:off x="2551387" y="3842392"/>
              <a:ext cx="1407900" cy="624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6" name="Google Shape;486;p29"/>
            <p:cNvCxnSpPr/>
            <p:nvPr/>
          </p:nvCxnSpPr>
          <p:spPr>
            <a:xfrm>
              <a:off x="4535475" y="3809225"/>
              <a:ext cx="1726200" cy="1296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87" name="Google Shape;487;p29"/>
          <p:cNvGrpSpPr/>
          <p:nvPr/>
        </p:nvGrpSpPr>
        <p:grpSpPr>
          <a:xfrm>
            <a:off x="6414075" y="3593350"/>
            <a:ext cx="1120475" cy="820775"/>
            <a:chOff x="6414075" y="3898150"/>
            <a:chExt cx="1120475" cy="820775"/>
          </a:xfrm>
        </p:grpSpPr>
        <p:pic>
          <p:nvPicPr>
            <p:cNvPr id="488" name="Google Shape;488;p29"/>
            <p:cNvPicPr preferRelativeResize="0"/>
            <p:nvPr/>
          </p:nvPicPr>
          <p:blipFill rotWithShape="1">
            <a:blip r:embed="rId9">
              <a:alphaModFix/>
            </a:blip>
            <a:srcRect b="30935" l="12086" r="12418" t="35717"/>
            <a:stretch/>
          </p:blipFill>
          <p:spPr>
            <a:xfrm>
              <a:off x="6414075" y="3898150"/>
              <a:ext cx="1120474" cy="3299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29"/>
            <p:cNvSpPr txBox="1"/>
            <p:nvPr/>
          </p:nvSpPr>
          <p:spPr>
            <a:xfrm>
              <a:off x="6745250" y="4257225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Mary</a:t>
              </a:r>
              <a:r>
                <a:rPr baseline="-25000" lang="en" sz="1800">
                  <a:solidFill>
                    <a:srgbClr val="6FA8DC"/>
                  </a:solidFill>
                </a:rPr>
                <a:t>v </a:t>
              </a:r>
              <a:endParaRPr>
                <a:solidFill>
                  <a:srgbClr val="6FA8DC"/>
                </a:solidFill>
              </a:endParaRPr>
            </a:p>
          </p:txBody>
        </p:sp>
      </p:grpSp>
      <p:grpSp>
        <p:nvGrpSpPr>
          <p:cNvPr id="490" name="Google Shape;490;p29"/>
          <p:cNvGrpSpPr/>
          <p:nvPr/>
        </p:nvGrpSpPr>
        <p:grpSpPr>
          <a:xfrm>
            <a:off x="2734650" y="2822968"/>
            <a:ext cx="4153130" cy="1691118"/>
            <a:chOff x="2899807" y="3775186"/>
            <a:chExt cx="1937275" cy="1114190"/>
          </a:xfrm>
        </p:grpSpPr>
        <p:grpSp>
          <p:nvGrpSpPr>
            <p:cNvPr id="491" name="Google Shape;491;p29"/>
            <p:cNvGrpSpPr/>
            <p:nvPr/>
          </p:nvGrpSpPr>
          <p:grpSpPr>
            <a:xfrm>
              <a:off x="2899807" y="3775186"/>
              <a:ext cx="1937275" cy="1114190"/>
              <a:chOff x="2829462" y="541822"/>
              <a:chExt cx="1905641" cy="2650940"/>
            </a:xfrm>
          </p:grpSpPr>
          <p:sp>
            <p:nvSpPr>
              <p:cNvPr id="492" name="Google Shape;492;p29"/>
              <p:cNvSpPr/>
              <p:nvPr/>
            </p:nvSpPr>
            <p:spPr>
              <a:xfrm>
                <a:off x="2829462" y="616331"/>
                <a:ext cx="1882060" cy="2576430"/>
              </a:xfrm>
              <a:custGeom>
                <a:rect b="b" l="l" r="r" t="t"/>
                <a:pathLst>
                  <a:path extrusionOk="0" h="49338" w="74353">
                    <a:moveTo>
                      <a:pt x="0" y="49338"/>
                    </a:moveTo>
                    <a:cubicBezTo>
                      <a:pt x="3808" y="44061"/>
                      <a:pt x="10454" y="25897"/>
                      <a:pt x="22846" y="17674"/>
                    </a:cubicBezTo>
                    <a:cubicBezTo>
                      <a:pt x="35238" y="9451"/>
                      <a:pt x="65769" y="2946"/>
                      <a:pt x="74353" y="0"/>
                    </a:cubicBezTo>
                  </a:path>
                </a:pathLst>
              </a:custGeom>
              <a:noFill/>
              <a:ln cap="flat" cmpd="sng" w="19050">
                <a:solidFill>
                  <a:srgbClr val="FF99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493" name="Google Shape;493;p29"/>
              <p:cNvCxnSpPr/>
              <p:nvPr/>
            </p:nvCxnSpPr>
            <p:spPr>
              <a:xfrm flipH="1" rot="10800000">
                <a:off x="4593203" y="541822"/>
                <a:ext cx="141900" cy="184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94" name="Google Shape;494;p29"/>
            <p:cNvSpPr txBox="1"/>
            <p:nvPr/>
          </p:nvSpPr>
          <p:spPr>
            <a:xfrm>
              <a:off x="2956561" y="4401031"/>
              <a:ext cx="209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%</a:t>
              </a:r>
              <a:endParaRPr sz="1800">
                <a:solidFill>
                  <a:srgbClr val="FF9900"/>
                </a:solidFill>
              </a:endParaRPr>
            </a:p>
          </p:txBody>
        </p:sp>
      </p:grpSp>
      <p:grpSp>
        <p:nvGrpSpPr>
          <p:cNvPr id="495" name="Google Shape;495;p29"/>
          <p:cNvGrpSpPr/>
          <p:nvPr/>
        </p:nvGrpSpPr>
        <p:grpSpPr>
          <a:xfrm>
            <a:off x="1554532" y="4355397"/>
            <a:ext cx="1219200" cy="763742"/>
            <a:chOff x="1554532" y="4355397"/>
            <a:chExt cx="1219200" cy="763742"/>
          </a:xfrm>
        </p:grpSpPr>
        <p:pic>
          <p:nvPicPr>
            <p:cNvPr id="496" name="Google Shape;496;p29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54532" y="4355397"/>
              <a:ext cx="1219200" cy="40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29"/>
            <p:cNvSpPr txBox="1"/>
            <p:nvPr/>
          </p:nvSpPr>
          <p:spPr>
            <a:xfrm>
              <a:off x="1828273" y="4657439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John</a:t>
              </a:r>
              <a:r>
                <a:rPr baseline="-25000" lang="en" sz="1800">
                  <a:solidFill>
                    <a:srgbClr val="FF9900"/>
                  </a:solidFill>
                </a:rPr>
                <a:t>k</a:t>
              </a:r>
              <a:endParaRPr baseline="-25000" sz="1800">
                <a:solidFill>
                  <a:srgbClr val="FF9900"/>
                </a:solidFill>
              </a:endParaRPr>
            </a:p>
          </p:txBody>
        </p:sp>
      </p:grpSp>
      <p:pic>
        <p:nvPicPr>
          <p:cNvPr id="498" name="Google Shape;498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27054" y="4189964"/>
            <a:ext cx="1171575" cy="717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p29"/>
          <p:cNvGrpSpPr/>
          <p:nvPr/>
        </p:nvGrpSpPr>
        <p:grpSpPr>
          <a:xfrm>
            <a:off x="2292254" y="1961927"/>
            <a:ext cx="4696219" cy="2599200"/>
            <a:chOff x="1987454" y="1961927"/>
            <a:chExt cx="4696219" cy="2599200"/>
          </a:xfrm>
        </p:grpSpPr>
        <p:cxnSp>
          <p:nvCxnSpPr>
            <p:cNvPr id="500" name="Google Shape;500;p29"/>
            <p:cNvCxnSpPr>
              <a:endCxn id="498" idx="1"/>
            </p:cNvCxnSpPr>
            <p:nvPr/>
          </p:nvCxnSpPr>
          <p:spPr>
            <a:xfrm>
              <a:off x="1987454" y="2083126"/>
              <a:ext cx="1834800" cy="2465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1" name="Google Shape;501;p29"/>
            <p:cNvCxnSpPr>
              <a:stCxn id="459" idx="1"/>
            </p:cNvCxnSpPr>
            <p:nvPr/>
          </p:nvCxnSpPr>
          <p:spPr>
            <a:xfrm flipH="1">
              <a:off x="4347873" y="1961927"/>
              <a:ext cx="2335800" cy="25992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02" name="Google Shape;502;p29"/>
          <p:cNvGrpSpPr/>
          <p:nvPr/>
        </p:nvGrpSpPr>
        <p:grpSpPr>
          <a:xfrm>
            <a:off x="2773576" y="4506847"/>
            <a:ext cx="3828399" cy="54600"/>
            <a:chOff x="2608987" y="3809297"/>
            <a:chExt cx="3805187" cy="54600"/>
          </a:xfrm>
        </p:grpSpPr>
        <p:cxnSp>
          <p:nvCxnSpPr>
            <p:cNvPr id="503" name="Google Shape;503;p29"/>
            <p:cNvCxnSpPr/>
            <p:nvPr/>
          </p:nvCxnSpPr>
          <p:spPr>
            <a:xfrm rot="10800000">
              <a:off x="2608987" y="3816592"/>
              <a:ext cx="1350300" cy="258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4" name="Google Shape;504;p29"/>
            <p:cNvCxnSpPr>
              <a:endCxn id="505" idx="1"/>
            </p:cNvCxnSpPr>
            <p:nvPr/>
          </p:nvCxnSpPr>
          <p:spPr>
            <a:xfrm>
              <a:off x="4535275" y="3809297"/>
              <a:ext cx="1878900" cy="546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06" name="Google Shape;506;p29"/>
          <p:cNvGrpSpPr/>
          <p:nvPr/>
        </p:nvGrpSpPr>
        <p:grpSpPr>
          <a:xfrm>
            <a:off x="6601975" y="4417134"/>
            <a:ext cx="1031175" cy="640804"/>
            <a:chOff x="6601975" y="4417134"/>
            <a:chExt cx="1031175" cy="640804"/>
          </a:xfrm>
        </p:grpSpPr>
        <p:pic>
          <p:nvPicPr>
            <p:cNvPr id="505" name="Google Shape;505;p29"/>
            <p:cNvPicPr preferRelativeResize="0"/>
            <p:nvPr/>
          </p:nvPicPr>
          <p:blipFill rotWithShape="1">
            <a:blip r:embed="rId12">
              <a:alphaModFix/>
            </a:blip>
            <a:srcRect b="37263" l="16502" r="11653" t="32218"/>
            <a:stretch/>
          </p:blipFill>
          <p:spPr>
            <a:xfrm>
              <a:off x="6601975" y="4417134"/>
              <a:ext cx="1019274" cy="28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29"/>
            <p:cNvSpPr txBox="1"/>
            <p:nvPr/>
          </p:nvSpPr>
          <p:spPr>
            <a:xfrm>
              <a:off x="6843850" y="4596239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Mary</a:t>
              </a:r>
              <a:r>
                <a:rPr baseline="-25000" lang="en" sz="1800">
                  <a:solidFill>
                    <a:srgbClr val="FF9900"/>
                  </a:solidFill>
                </a:rPr>
                <a:t>k </a:t>
              </a:r>
              <a:endParaRPr>
                <a:solidFill>
                  <a:srgbClr val="FF99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What if the Dot Product explodes? → </a:t>
            </a:r>
            <a:r>
              <a:rPr i="1" lang="en" sz="1920">
                <a:solidFill>
                  <a:srgbClr val="FF0000"/>
                </a:solidFill>
              </a:rPr>
              <a:t>Higher influence can get exaggerated</a:t>
            </a:r>
            <a:endParaRPr i="1" sz="1920">
              <a:solidFill>
                <a:srgbClr val="FF0000"/>
              </a:solidFill>
            </a:endParaRPr>
          </a:p>
        </p:txBody>
      </p:sp>
      <p:pic>
        <p:nvPicPr>
          <p:cNvPr id="513" name="Google Shape;513;p30"/>
          <p:cNvPicPr preferRelativeResize="0"/>
          <p:nvPr/>
        </p:nvPicPr>
        <p:blipFill rotWithShape="1">
          <a:blip r:embed="rId3">
            <a:alphaModFix/>
          </a:blip>
          <a:srcRect b="56265" l="19903" r="61953" t="0"/>
          <a:stretch/>
        </p:blipFill>
        <p:spPr>
          <a:xfrm>
            <a:off x="1105175" y="1317200"/>
            <a:ext cx="1620974" cy="6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0"/>
          <p:cNvPicPr preferRelativeResize="0"/>
          <p:nvPr/>
        </p:nvPicPr>
        <p:blipFill rotWithShape="1">
          <a:blip r:embed="rId3">
            <a:alphaModFix/>
          </a:blip>
          <a:srcRect b="56265" l="76514" r="5796" t="0"/>
          <a:stretch/>
        </p:blipFill>
        <p:spPr>
          <a:xfrm>
            <a:off x="6448298" y="1328943"/>
            <a:ext cx="1580401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0"/>
          <p:cNvSpPr txBox="1"/>
          <p:nvPr/>
        </p:nvSpPr>
        <p:spPr>
          <a:xfrm>
            <a:off x="1665611" y="178242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516" name="Google Shape;516;p30"/>
          <p:cNvSpPr txBox="1"/>
          <p:nvPr/>
        </p:nvSpPr>
        <p:spPr>
          <a:xfrm>
            <a:off x="6988473" y="1731077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517" name="Google Shape;517;p30"/>
          <p:cNvGrpSpPr/>
          <p:nvPr/>
        </p:nvGrpSpPr>
        <p:grpSpPr>
          <a:xfrm>
            <a:off x="1382300" y="2244123"/>
            <a:ext cx="1322737" cy="1310989"/>
            <a:chOff x="1382300" y="2244123"/>
            <a:chExt cx="1322737" cy="1310989"/>
          </a:xfrm>
        </p:grpSpPr>
        <p:pic>
          <p:nvPicPr>
            <p:cNvPr id="518" name="Google Shape;518;p30"/>
            <p:cNvPicPr preferRelativeResize="0"/>
            <p:nvPr/>
          </p:nvPicPr>
          <p:blipFill rotWithShape="1">
            <a:blip r:embed="rId4">
              <a:alphaModFix/>
            </a:blip>
            <a:srcRect b="18727" l="6934" r="8391" t="30780"/>
            <a:stretch/>
          </p:blipFill>
          <p:spPr>
            <a:xfrm>
              <a:off x="1382300" y="2731400"/>
              <a:ext cx="1322725" cy="46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30"/>
            <p:cNvSpPr txBox="1"/>
            <p:nvPr/>
          </p:nvSpPr>
          <p:spPr>
            <a:xfrm>
              <a:off x="1800536" y="3093412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John</a:t>
              </a:r>
              <a:r>
                <a:rPr baseline="-25000" lang="en" sz="1800">
                  <a:solidFill>
                    <a:srgbClr val="9900FF"/>
                  </a:solidFill>
                </a:rPr>
                <a:t>q</a:t>
              </a:r>
              <a:endParaRPr baseline="-25000" sz="1800">
                <a:solidFill>
                  <a:srgbClr val="9900FF"/>
                </a:solidFill>
              </a:endParaRPr>
            </a:p>
          </p:txBody>
        </p:sp>
        <p:cxnSp>
          <p:nvCxnSpPr>
            <p:cNvPr id="520" name="Google Shape;520;p30"/>
            <p:cNvCxnSpPr>
              <a:stCxn id="515" idx="2"/>
              <a:endCxn id="518" idx="0"/>
            </p:cNvCxnSpPr>
            <p:nvPr/>
          </p:nvCxnSpPr>
          <p:spPr>
            <a:xfrm flipH="1">
              <a:off x="2043761" y="2244123"/>
              <a:ext cx="741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1" name="Google Shape;521;p30"/>
          <p:cNvGrpSpPr/>
          <p:nvPr/>
        </p:nvGrpSpPr>
        <p:grpSpPr>
          <a:xfrm>
            <a:off x="6531275" y="2320323"/>
            <a:ext cx="2625900" cy="1211302"/>
            <a:chOff x="6531275" y="2320323"/>
            <a:chExt cx="2625900" cy="1211302"/>
          </a:xfrm>
        </p:grpSpPr>
        <p:sp>
          <p:nvSpPr>
            <p:cNvPr id="522" name="Google Shape;522;p30"/>
            <p:cNvSpPr txBox="1"/>
            <p:nvPr/>
          </p:nvSpPr>
          <p:spPr>
            <a:xfrm>
              <a:off x="6531275" y="3069925"/>
              <a:ext cx="262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Mary</a:t>
              </a:r>
              <a:r>
                <a:rPr baseline="-25000" lang="en" sz="1800">
                  <a:solidFill>
                    <a:srgbClr val="FF0000"/>
                  </a:solidFill>
                </a:rPr>
                <a:t>q </a:t>
              </a:r>
              <a:r>
                <a:rPr lang="en" sz="1800">
                  <a:solidFill>
                    <a:srgbClr val="FF0000"/>
                  </a:solidFill>
                </a:rPr>
                <a:t>→ Query (Target)</a:t>
              </a:r>
              <a:endParaRPr sz="1800">
                <a:solidFill>
                  <a:srgbClr val="FF0000"/>
                </a:solidFill>
              </a:endParaRPr>
            </a:p>
          </p:txBody>
        </p:sp>
        <p:cxnSp>
          <p:nvCxnSpPr>
            <p:cNvPr id="523" name="Google Shape;523;p30"/>
            <p:cNvCxnSpPr/>
            <p:nvPr/>
          </p:nvCxnSpPr>
          <p:spPr>
            <a:xfrm flipH="1">
              <a:off x="7443161" y="2320323"/>
              <a:ext cx="87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524" name="Google Shape;524;p30"/>
            <p:cNvPicPr preferRelativeResize="0"/>
            <p:nvPr/>
          </p:nvPicPr>
          <p:blipFill rotWithShape="1">
            <a:blip r:embed="rId5">
              <a:alphaModFix/>
            </a:blip>
            <a:srcRect b="38166" l="10149" r="8523" t="38056"/>
            <a:stretch/>
          </p:blipFill>
          <p:spPr>
            <a:xfrm>
              <a:off x="6887275" y="2807525"/>
              <a:ext cx="1120438" cy="327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5" name="Google Shape;52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3250" y="2318280"/>
            <a:ext cx="1120450" cy="7290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30"/>
          <p:cNvGrpSpPr/>
          <p:nvPr/>
        </p:nvGrpSpPr>
        <p:grpSpPr>
          <a:xfrm>
            <a:off x="2304050" y="1961927"/>
            <a:ext cx="4684423" cy="755400"/>
            <a:chOff x="2304050" y="1961927"/>
            <a:chExt cx="4684423" cy="755400"/>
          </a:xfrm>
        </p:grpSpPr>
        <p:cxnSp>
          <p:nvCxnSpPr>
            <p:cNvPr id="527" name="Google Shape;527;p30"/>
            <p:cNvCxnSpPr>
              <a:endCxn id="525" idx="1"/>
            </p:cNvCxnSpPr>
            <p:nvPr/>
          </p:nvCxnSpPr>
          <p:spPr>
            <a:xfrm>
              <a:off x="2304050" y="2095094"/>
              <a:ext cx="1789200" cy="587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8" name="Google Shape;528;p30"/>
            <p:cNvCxnSpPr>
              <a:stCxn id="516" idx="1"/>
            </p:cNvCxnSpPr>
            <p:nvPr/>
          </p:nvCxnSpPr>
          <p:spPr>
            <a:xfrm flipH="1">
              <a:off x="4582173" y="1961927"/>
              <a:ext cx="2406300" cy="755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9" name="Google Shape;529;p30"/>
          <p:cNvGrpSpPr/>
          <p:nvPr/>
        </p:nvGrpSpPr>
        <p:grpSpPr>
          <a:xfrm>
            <a:off x="2515550" y="2682794"/>
            <a:ext cx="4371725" cy="288518"/>
            <a:chOff x="2515550" y="2682794"/>
            <a:chExt cx="4371725" cy="288518"/>
          </a:xfrm>
        </p:grpSpPr>
        <p:cxnSp>
          <p:nvCxnSpPr>
            <p:cNvPr id="530" name="Google Shape;530;p30"/>
            <p:cNvCxnSpPr>
              <a:stCxn id="525" idx="1"/>
            </p:cNvCxnSpPr>
            <p:nvPr/>
          </p:nvCxnSpPr>
          <p:spPr>
            <a:xfrm flipH="1">
              <a:off x="2515550" y="2682794"/>
              <a:ext cx="1577700" cy="257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1" name="Google Shape;531;p30"/>
            <p:cNvCxnSpPr>
              <a:endCxn id="524" idx="1"/>
            </p:cNvCxnSpPr>
            <p:nvPr/>
          </p:nvCxnSpPr>
          <p:spPr>
            <a:xfrm>
              <a:off x="4664275" y="2705513"/>
              <a:ext cx="2223000" cy="2658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32" name="Google Shape;532;p30"/>
          <p:cNvSpPr/>
          <p:nvPr/>
        </p:nvSpPr>
        <p:spPr>
          <a:xfrm>
            <a:off x="6876976" y="2641429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3" name="Google Shape;533;p30"/>
          <p:cNvGrpSpPr/>
          <p:nvPr/>
        </p:nvGrpSpPr>
        <p:grpSpPr>
          <a:xfrm>
            <a:off x="1532063" y="3552387"/>
            <a:ext cx="1171575" cy="861750"/>
            <a:chOff x="1532063" y="3857187"/>
            <a:chExt cx="1171575" cy="861750"/>
          </a:xfrm>
        </p:grpSpPr>
        <p:pic>
          <p:nvPicPr>
            <p:cNvPr id="534" name="Google Shape;534;p3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32063" y="3857187"/>
              <a:ext cx="1171575" cy="400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0"/>
            <p:cNvSpPr txBox="1"/>
            <p:nvPr/>
          </p:nvSpPr>
          <p:spPr>
            <a:xfrm>
              <a:off x="1763461" y="4257237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John</a:t>
              </a:r>
              <a:r>
                <a:rPr baseline="-25000" lang="en" sz="1800">
                  <a:solidFill>
                    <a:srgbClr val="6FA8DC"/>
                  </a:solidFill>
                </a:rPr>
                <a:t>v</a:t>
              </a:r>
              <a:endParaRPr baseline="-25000" sz="1800">
                <a:solidFill>
                  <a:srgbClr val="6FA8DC"/>
                </a:solidFill>
              </a:endParaRPr>
            </a:p>
          </p:txBody>
        </p:sp>
      </p:grpSp>
      <p:pic>
        <p:nvPicPr>
          <p:cNvPr id="536" name="Google Shape;536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1687" y="3337925"/>
            <a:ext cx="1120450" cy="704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30"/>
          <p:cNvGrpSpPr/>
          <p:nvPr/>
        </p:nvGrpSpPr>
        <p:grpSpPr>
          <a:xfrm>
            <a:off x="2315887" y="1961927"/>
            <a:ext cx="4672585" cy="1728064"/>
            <a:chOff x="2163487" y="2114327"/>
            <a:chExt cx="4672585" cy="1728064"/>
          </a:xfrm>
        </p:grpSpPr>
        <p:cxnSp>
          <p:nvCxnSpPr>
            <p:cNvPr id="538" name="Google Shape;538;p30"/>
            <p:cNvCxnSpPr>
              <a:endCxn id="536" idx="1"/>
            </p:cNvCxnSpPr>
            <p:nvPr/>
          </p:nvCxnSpPr>
          <p:spPr>
            <a:xfrm>
              <a:off x="2163487" y="2258992"/>
              <a:ext cx="1795800" cy="1583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9" name="Google Shape;539;p30"/>
            <p:cNvCxnSpPr>
              <a:stCxn id="516" idx="1"/>
            </p:cNvCxnSpPr>
            <p:nvPr/>
          </p:nvCxnSpPr>
          <p:spPr>
            <a:xfrm flipH="1">
              <a:off x="4523673" y="2114327"/>
              <a:ext cx="2312400" cy="1706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0" name="Google Shape;540;p30"/>
          <p:cNvGrpSpPr/>
          <p:nvPr/>
        </p:nvGrpSpPr>
        <p:grpSpPr>
          <a:xfrm>
            <a:off x="2703787" y="3656825"/>
            <a:ext cx="3710288" cy="129600"/>
            <a:chOff x="2551387" y="3809225"/>
            <a:chExt cx="3710288" cy="129600"/>
          </a:xfrm>
        </p:grpSpPr>
        <p:cxnSp>
          <p:nvCxnSpPr>
            <p:cNvPr id="541" name="Google Shape;541;p30"/>
            <p:cNvCxnSpPr>
              <a:stCxn id="536" idx="1"/>
              <a:endCxn id="534" idx="3"/>
            </p:cNvCxnSpPr>
            <p:nvPr/>
          </p:nvCxnSpPr>
          <p:spPr>
            <a:xfrm flipH="1">
              <a:off x="2551387" y="3842392"/>
              <a:ext cx="1407900" cy="624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2" name="Google Shape;542;p30"/>
            <p:cNvCxnSpPr/>
            <p:nvPr/>
          </p:nvCxnSpPr>
          <p:spPr>
            <a:xfrm>
              <a:off x="4535475" y="3809225"/>
              <a:ext cx="1726200" cy="1296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3" name="Google Shape;543;p30"/>
          <p:cNvGrpSpPr/>
          <p:nvPr/>
        </p:nvGrpSpPr>
        <p:grpSpPr>
          <a:xfrm>
            <a:off x="6414075" y="3593350"/>
            <a:ext cx="1120475" cy="820775"/>
            <a:chOff x="6414075" y="3898150"/>
            <a:chExt cx="1120475" cy="820775"/>
          </a:xfrm>
        </p:grpSpPr>
        <p:pic>
          <p:nvPicPr>
            <p:cNvPr id="544" name="Google Shape;544;p30"/>
            <p:cNvPicPr preferRelativeResize="0"/>
            <p:nvPr/>
          </p:nvPicPr>
          <p:blipFill rotWithShape="1">
            <a:blip r:embed="rId9">
              <a:alphaModFix/>
            </a:blip>
            <a:srcRect b="30935" l="12086" r="12418" t="35717"/>
            <a:stretch/>
          </p:blipFill>
          <p:spPr>
            <a:xfrm>
              <a:off x="6414075" y="3898150"/>
              <a:ext cx="1120474" cy="3299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" name="Google Shape;545;p30"/>
            <p:cNvSpPr txBox="1"/>
            <p:nvPr/>
          </p:nvSpPr>
          <p:spPr>
            <a:xfrm>
              <a:off x="6745250" y="4257225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Mary</a:t>
              </a:r>
              <a:r>
                <a:rPr baseline="-25000" lang="en" sz="1800">
                  <a:solidFill>
                    <a:srgbClr val="6FA8DC"/>
                  </a:solidFill>
                </a:rPr>
                <a:t>v </a:t>
              </a:r>
              <a:endParaRPr>
                <a:solidFill>
                  <a:srgbClr val="6FA8DC"/>
                </a:solidFill>
              </a:endParaRPr>
            </a:p>
          </p:txBody>
        </p:sp>
      </p:grpSp>
      <p:grpSp>
        <p:nvGrpSpPr>
          <p:cNvPr id="546" name="Google Shape;546;p30"/>
          <p:cNvGrpSpPr/>
          <p:nvPr/>
        </p:nvGrpSpPr>
        <p:grpSpPr>
          <a:xfrm>
            <a:off x="2734650" y="2822968"/>
            <a:ext cx="4153130" cy="1691118"/>
            <a:chOff x="2899807" y="3775186"/>
            <a:chExt cx="1937275" cy="1114190"/>
          </a:xfrm>
        </p:grpSpPr>
        <p:grpSp>
          <p:nvGrpSpPr>
            <p:cNvPr id="547" name="Google Shape;547;p30"/>
            <p:cNvGrpSpPr/>
            <p:nvPr/>
          </p:nvGrpSpPr>
          <p:grpSpPr>
            <a:xfrm>
              <a:off x="2899807" y="3775186"/>
              <a:ext cx="1937275" cy="1114190"/>
              <a:chOff x="2829462" y="541822"/>
              <a:chExt cx="1905641" cy="2650940"/>
            </a:xfrm>
          </p:grpSpPr>
          <p:sp>
            <p:nvSpPr>
              <p:cNvPr id="548" name="Google Shape;548;p30"/>
              <p:cNvSpPr/>
              <p:nvPr/>
            </p:nvSpPr>
            <p:spPr>
              <a:xfrm>
                <a:off x="2829462" y="616331"/>
                <a:ext cx="1882060" cy="2576430"/>
              </a:xfrm>
              <a:custGeom>
                <a:rect b="b" l="l" r="r" t="t"/>
                <a:pathLst>
                  <a:path extrusionOk="0" h="49338" w="74353">
                    <a:moveTo>
                      <a:pt x="0" y="49338"/>
                    </a:moveTo>
                    <a:cubicBezTo>
                      <a:pt x="3808" y="44061"/>
                      <a:pt x="10454" y="25897"/>
                      <a:pt x="22846" y="17674"/>
                    </a:cubicBezTo>
                    <a:cubicBezTo>
                      <a:pt x="35238" y="9451"/>
                      <a:pt x="65769" y="2946"/>
                      <a:pt x="74353" y="0"/>
                    </a:cubicBezTo>
                  </a:path>
                </a:pathLst>
              </a:custGeom>
              <a:noFill/>
              <a:ln cap="flat" cmpd="sng" w="19050">
                <a:solidFill>
                  <a:srgbClr val="FF99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549" name="Google Shape;549;p30"/>
              <p:cNvCxnSpPr/>
              <p:nvPr/>
            </p:nvCxnSpPr>
            <p:spPr>
              <a:xfrm flipH="1" rot="10800000">
                <a:off x="4593203" y="541822"/>
                <a:ext cx="141900" cy="184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50" name="Google Shape;550;p30"/>
            <p:cNvSpPr txBox="1"/>
            <p:nvPr/>
          </p:nvSpPr>
          <p:spPr>
            <a:xfrm>
              <a:off x="2956561" y="4401031"/>
              <a:ext cx="209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%</a:t>
              </a:r>
              <a:endParaRPr sz="1800">
                <a:solidFill>
                  <a:srgbClr val="FF9900"/>
                </a:solidFill>
              </a:endParaRPr>
            </a:p>
          </p:txBody>
        </p:sp>
      </p:grpSp>
      <p:grpSp>
        <p:nvGrpSpPr>
          <p:cNvPr id="551" name="Google Shape;551;p30"/>
          <p:cNvGrpSpPr/>
          <p:nvPr/>
        </p:nvGrpSpPr>
        <p:grpSpPr>
          <a:xfrm>
            <a:off x="1554532" y="4355397"/>
            <a:ext cx="1219200" cy="763742"/>
            <a:chOff x="1554532" y="4355397"/>
            <a:chExt cx="1219200" cy="763742"/>
          </a:xfrm>
        </p:grpSpPr>
        <p:pic>
          <p:nvPicPr>
            <p:cNvPr id="552" name="Google Shape;552;p3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54532" y="4355397"/>
              <a:ext cx="1219200" cy="40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30"/>
            <p:cNvSpPr txBox="1"/>
            <p:nvPr/>
          </p:nvSpPr>
          <p:spPr>
            <a:xfrm>
              <a:off x="1828273" y="4657439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John</a:t>
              </a:r>
              <a:r>
                <a:rPr baseline="-25000" lang="en" sz="1800">
                  <a:solidFill>
                    <a:srgbClr val="FF9900"/>
                  </a:solidFill>
                </a:rPr>
                <a:t>k</a:t>
              </a:r>
              <a:endParaRPr baseline="-25000" sz="1800">
                <a:solidFill>
                  <a:srgbClr val="FF9900"/>
                </a:solidFill>
              </a:endParaRPr>
            </a:p>
          </p:txBody>
        </p:sp>
      </p:grpSp>
      <p:pic>
        <p:nvPicPr>
          <p:cNvPr id="554" name="Google Shape;554;p3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27054" y="4189964"/>
            <a:ext cx="1171575" cy="717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5" name="Google Shape;555;p30"/>
          <p:cNvGrpSpPr/>
          <p:nvPr/>
        </p:nvGrpSpPr>
        <p:grpSpPr>
          <a:xfrm>
            <a:off x="2292254" y="1961927"/>
            <a:ext cx="4696219" cy="2599200"/>
            <a:chOff x="1987454" y="1961927"/>
            <a:chExt cx="4696219" cy="2599200"/>
          </a:xfrm>
        </p:grpSpPr>
        <p:cxnSp>
          <p:nvCxnSpPr>
            <p:cNvPr id="556" name="Google Shape;556;p30"/>
            <p:cNvCxnSpPr>
              <a:endCxn id="554" idx="1"/>
            </p:cNvCxnSpPr>
            <p:nvPr/>
          </p:nvCxnSpPr>
          <p:spPr>
            <a:xfrm>
              <a:off x="1987454" y="2083126"/>
              <a:ext cx="1834800" cy="2465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7" name="Google Shape;557;p30"/>
            <p:cNvCxnSpPr>
              <a:stCxn id="516" idx="1"/>
            </p:cNvCxnSpPr>
            <p:nvPr/>
          </p:nvCxnSpPr>
          <p:spPr>
            <a:xfrm flipH="1">
              <a:off x="4347873" y="1961927"/>
              <a:ext cx="2335800" cy="25992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58" name="Google Shape;558;p30"/>
          <p:cNvGrpSpPr/>
          <p:nvPr/>
        </p:nvGrpSpPr>
        <p:grpSpPr>
          <a:xfrm>
            <a:off x="2773576" y="4506847"/>
            <a:ext cx="3828399" cy="54600"/>
            <a:chOff x="2608987" y="3809297"/>
            <a:chExt cx="3805187" cy="54600"/>
          </a:xfrm>
        </p:grpSpPr>
        <p:cxnSp>
          <p:nvCxnSpPr>
            <p:cNvPr id="559" name="Google Shape;559;p30"/>
            <p:cNvCxnSpPr/>
            <p:nvPr/>
          </p:nvCxnSpPr>
          <p:spPr>
            <a:xfrm rot="10800000">
              <a:off x="2608987" y="3816592"/>
              <a:ext cx="1350300" cy="258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0" name="Google Shape;560;p30"/>
            <p:cNvCxnSpPr>
              <a:endCxn id="561" idx="1"/>
            </p:cNvCxnSpPr>
            <p:nvPr/>
          </p:nvCxnSpPr>
          <p:spPr>
            <a:xfrm>
              <a:off x="4535275" y="3809297"/>
              <a:ext cx="1878900" cy="546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2" name="Google Shape;562;p30"/>
          <p:cNvGrpSpPr/>
          <p:nvPr/>
        </p:nvGrpSpPr>
        <p:grpSpPr>
          <a:xfrm>
            <a:off x="6601975" y="4417134"/>
            <a:ext cx="1031175" cy="640804"/>
            <a:chOff x="6601975" y="4417134"/>
            <a:chExt cx="1031175" cy="640804"/>
          </a:xfrm>
        </p:grpSpPr>
        <p:pic>
          <p:nvPicPr>
            <p:cNvPr id="561" name="Google Shape;561;p30"/>
            <p:cNvPicPr preferRelativeResize="0"/>
            <p:nvPr/>
          </p:nvPicPr>
          <p:blipFill rotWithShape="1">
            <a:blip r:embed="rId12">
              <a:alphaModFix/>
            </a:blip>
            <a:srcRect b="37263" l="16502" r="11653" t="32218"/>
            <a:stretch/>
          </p:blipFill>
          <p:spPr>
            <a:xfrm>
              <a:off x="6601975" y="4417134"/>
              <a:ext cx="1019274" cy="28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30"/>
            <p:cNvSpPr txBox="1"/>
            <p:nvPr/>
          </p:nvSpPr>
          <p:spPr>
            <a:xfrm>
              <a:off x="6843850" y="4596239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Mary</a:t>
              </a:r>
              <a:r>
                <a:rPr baseline="-25000" lang="en" sz="1800">
                  <a:solidFill>
                    <a:srgbClr val="FF9900"/>
                  </a:solidFill>
                </a:rPr>
                <a:t>k </a:t>
              </a:r>
              <a:endParaRPr>
                <a:solidFill>
                  <a:srgbClr val="FF9900"/>
                </a:solidFill>
              </a:endParaRPr>
            </a:p>
          </p:txBody>
        </p:sp>
      </p:grpSp>
      <p:grpSp>
        <p:nvGrpSpPr>
          <p:cNvPr id="564" name="Google Shape;564;p30"/>
          <p:cNvGrpSpPr/>
          <p:nvPr/>
        </p:nvGrpSpPr>
        <p:grpSpPr>
          <a:xfrm>
            <a:off x="3090268" y="1017725"/>
            <a:ext cx="3114707" cy="1041114"/>
            <a:chOff x="2785468" y="1017725"/>
            <a:chExt cx="3114707" cy="1041114"/>
          </a:xfrm>
        </p:grpSpPr>
        <p:pic>
          <p:nvPicPr>
            <p:cNvPr id="565" name="Google Shape;565;p30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274275" y="1017725"/>
              <a:ext cx="2625900" cy="1041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30"/>
            <p:cNvSpPr txBox="1"/>
            <p:nvPr/>
          </p:nvSpPr>
          <p:spPr>
            <a:xfrm>
              <a:off x="2785468" y="1480984"/>
              <a:ext cx="60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9900"/>
                  </a:solidFill>
                </a:rPr>
                <a:t>%</a:t>
              </a:r>
              <a:r>
                <a:rPr i="1" lang="en" sz="1800">
                  <a:solidFill>
                    <a:srgbClr val="FF0000"/>
                  </a:solidFill>
                </a:rPr>
                <a:t> =</a:t>
              </a:r>
              <a:endParaRPr baseline="-25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Getting back to the </a:t>
            </a:r>
            <a:r>
              <a:rPr lang="en" sz="1920">
                <a:solidFill>
                  <a:srgbClr val="6FA8DC"/>
                </a:solidFill>
              </a:rPr>
              <a:t>Donor (Value)</a:t>
            </a:r>
            <a:endParaRPr i="1" sz="1920">
              <a:solidFill>
                <a:srgbClr val="6FA8DC"/>
              </a:solidFill>
            </a:endParaRPr>
          </a:p>
        </p:txBody>
      </p:sp>
      <p:pic>
        <p:nvPicPr>
          <p:cNvPr id="572" name="Google Shape;572;p31"/>
          <p:cNvPicPr preferRelativeResize="0"/>
          <p:nvPr/>
        </p:nvPicPr>
        <p:blipFill rotWithShape="1">
          <a:blip r:embed="rId3">
            <a:alphaModFix/>
          </a:blip>
          <a:srcRect b="56265" l="19903" r="61953" t="0"/>
          <a:stretch/>
        </p:blipFill>
        <p:spPr>
          <a:xfrm>
            <a:off x="1105175" y="1317200"/>
            <a:ext cx="1620974" cy="6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/>
          <p:cNvPicPr preferRelativeResize="0"/>
          <p:nvPr/>
        </p:nvPicPr>
        <p:blipFill rotWithShape="1">
          <a:blip r:embed="rId3">
            <a:alphaModFix/>
          </a:blip>
          <a:srcRect b="56265" l="76514" r="5796" t="0"/>
          <a:stretch/>
        </p:blipFill>
        <p:spPr>
          <a:xfrm>
            <a:off x="6448298" y="1328943"/>
            <a:ext cx="1580401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1"/>
          <p:cNvSpPr txBox="1"/>
          <p:nvPr/>
        </p:nvSpPr>
        <p:spPr>
          <a:xfrm>
            <a:off x="1665611" y="1782423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6988473" y="1731077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576" name="Google Shape;576;p31"/>
          <p:cNvGrpSpPr/>
          <p:nvPr/>
        </p:nvGrpSpPr>
        <p:grpSpPr>
          <a:xfrm>
            <a:off x="1382300" y="2244123"/>
            <a:ext cx="1322737" cy="1310989"/>
            <a:chOff x="1382300" y="2244123"/>
            <a:chExt cx="1322737" cy="1310989"/>
          </a:xfrm>
        </p:grpSpPr>
        <p:pic>
          <p:nvPicPr>
            <p:cNvPr id="577" name="Google Shape;577;p31"/>
            <p:cNvPicPr preferRelativeResize="0"/>
            <p:nvPr/>
          </p:nvPicPr>
          <p:blipFill rotWithShape="1">
            <a:blip r:embed="rId4">
              <a:alphaModFix/>
            </a:blip>
            <a:srcRect b="18727" l="6934" r="8391" t="30780"/>
            <a:stretch/>
          </p:blipFill>
          <p:spPr>
            <a:xfrm>
              <a:off x="1382300" y="2731400"/>
              <a:ext cx="1322725" cy="46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31"/>
            <p:cNvSpPr txBox="1"/>
            <p:nvPr/>
          </p:nvSpPr>
          <p:spPr>
            <a:xfrm>
              <a:off x="1800536" y="3093412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John</a:t>
              </a:r>
              <a:r>
                <a:rPr baseline="-25000" lang="en" sz="1800">
                  <a:solidFill>
                    <a:srgbClr val="9900FF"/>
                  </a:solidFill>
                </a:rPr>
                <a:t>q</a:t>
              </a:r>
              <a:endParaRPr baseline="-25000" sz="1800">
                <a:solidFill>
                  <a:srgbClr val="9900FF"/>
                </a:solidFill>
              </a:endParaRPr>
            </a:p>
          </p:txBody>
        </p:sp>
        <p:cxnSp>
          <p:nvCxnSpPr>
            <p:cNvPr id="579" name="Google Shape;579;p31"/>
            <p:cNvCxnSpPr>
              <a:stCxn id="574" idx="2"/>
              <a:endCxn id="577" idx="0"/>
            </p:cNvCxnSpPr>
            <p:nvPr/>
          </p:nvCxnSpPr>
          <p:spPr>
            <a:xfrm flipH="1">
              <a:off x="2043761" y="2244123"/>
              <a:ext cx="741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80" name="Google Shape;580;p31"/>
          <p:cNvGrpSpPr/>
          <p:nvPr/>
        </p:nvGrpSpPr>
        <p:grpSpPr>
          <a:xfrm>
            <a:off x="6531275" y="2320323"/>
            <a:ext cx="2625900" cy="1211302"/>
            <a:chOff x="6531275" y="2320323"/>
            <a:chExt cx="2625900" cy="1211302"/>
          </a:xfrm>
        </p:grpSpPr>
        <p:sp>
          <p:nvSpPr>
            <p:cNvPr id="581" name="Google Shape;581;p31"/>
            <p:cNvSpPr txBox="1"/>
            <p:nvPr/>
          </p:nvSpPr>
          <p:spPr>
            <a:xfrm>
              <a:off x="6531275" y="3069925"/>
              <a:ext cx="262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Mary</a:t>
              </a:r>
              <a:r>
                <a:rPr baseline="-25000" lang="en" sz="1800">
                  <a:solidFill>
                    <a:srgbClr val="FF0000"/>
                  </a:solidFill>
                </a:rPr>
                <a:t>q </a:t>
              </a:r>
              <a:r>
                <a:rPr lang="en" sz="1800">
                  <a:solidFill>
                    <a:srgbClr val="FF0000"/>
                  </a:solidFill>
                </a:rPr>
                <a:t>→ Query (Target)</a:t>
              </a:r>
              <a:endParaRPr sz="1800">
                <a:solidFill>
                  <a:srgbClr val="FF0000"/>
                </a:solidFill>
              </a:endParaRPr>
            </a:p>
          </p:txBody>
        </p:sp>
        <p:cxnSp>
          <p:nvCxnSpPr>
            <p:cNvPr id="582" name="Google Shape;582;p31"/>
            <p:cNvCxnSpPr/>
            <p:nvPr/>
          </p:nvCxnSpPr>
          <p:spPr>
            <a:xfrm flipH="1">
              <a:off x="7443161" y="2320323"/>
              <a:ext cx="87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583" name="Google Shape;583;p31"/>
            <p:cNvPicPr preferRelativeResize="0"/>
            <p:nvPr/>
          </p:nvPicPr>
          <p:blipFill rotWithShape="1">
            <a:blip r:embed="rId5">
              <a:alphaModFix/>
            </a:blip>
            <a:srcRect b="38166" l="10149" r="8523" t="38056"/>
            <a:stretch/>
          </p:blipFill>
          <p:spPr>
            <a:xfrm>
              <a:off x="6887275" y="2807525"/>
              <a:ext cx="1120438" cy="327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4" name="Google Shape;58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3250" y="2318280"/>
            <a:ext cx="1120450" cy="7290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5" name="Google Shape;585;p31"/>
          <p:cNvGrpSpPr/>
          <p:nvPr/>
        </p:nvGrpSpPr>
        <p:grpSpPr>
          <a:xfrm>
            <a:off x="2304050" y="1961927"/>
            <a:ext cx="4684423" cy="755400"/>
            <a:chOff x="2304050" y="1961927"/>
            <a:chExt cx="4684423" cy="755400"/>
          </a:xfrm>
        </p:grpSpPr>
        <p:cxnSp>
          <p:nvCxnSpPr>
            <p:cNvPr id="586" name="Google Shape;586;p31"/>
            <p:cNvCxnSpPr>
              <a:endCxn id="584" idx="1"/>
            </p:cNvCxnSpPr>
            <p:nvPr/>
          </p:nvCxnSpPr>
          <p:spPr>
            <a:xfrm>
              <a:off x="2304050" y="2095094"/>
              <a:ext cx="1789200" cy="587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7" name="Google Shape;587;p31"/>
            <p:cNvCxnSpPr>
              <a:stCxn id="575" idx="1"/>
            </p:cNvCxnSpPr>
            <p:nvPr/>
          </p:nvCxnSpPr>
          <p:spPr>
            <a:xfrm flipH="1">
              <a:off x="4582173" y="1961927"/>
              <a:ext cx="2406300" cy="755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88" name="Google Shape;588;p31"/>
          <p:cNvGrpSpPr/>
          <p:nvPr/>
        </p:nvGrpSpPr>
        <p:grpSpPr>
          <a:xfrm>
            <a:off x="2515550" y="2682794"/>
            <a:ext cx="4371725" cy="288518"/>
            <a:chOff x="2515550" y="2682794"/>
            <a:chExt cx="4371725" cy="288518"/>
          </a:xfrm>
        </p:grpSpPr>
        <p:cxnSp>
          <p:nvCxnSpPr>
            <p:cNvPr id="589" name="Google Shape;589;p31"/>
            <p:cNvCxnSpPr>
              <a:stCxn id="584" idx="1"/>
            </p:cNvCxnSpPr>
            <p:nvPr/>
          </p:nvCxnSpPr>
          <p:spPr>
            <a:xfrm flipH="1">
              <a:off x="2515550" y="2682794"/>
              <a:ext cx="1577700" cy="257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0" name="Google Shape;590;p31"/>
            <p:cNvCxnSpPr>
              <a:endCxn id="583" idx="1"/>
            </p:cNvCxnSpPr>
            <p:nvPr/>
          </p:nvCxnSpPr>
          <p:spPr>
            <a:xfrm>
              <a:off x="4664275" y="2705513"/>
              <a:ext cx="2223000" cy="2658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91" name="Google Shape;591;p31"/>
          <p:cNvSpPr/>
          <p:nvPr/>
        </p:nvSpPr>
        <p:spPr>
          <a:xfrm>
            <a:off x="6876976" y="2641429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2" name="Google Shape;592;p31"/>
          <p:cNvGrpSpPr/>
          <p:nvPr/>
        </p:nvGrpSpPr>
        <p:grpSpPr>
          <a:xfrm>
            <a:off x="1532063" y="3552387"/>
            <a:ext cx="1171575" cy="861750"/>
            <a:chOff x="1532063" y="3857187"/>
            <a:chExt cx="1171575" cy="861750"/>
          </a:xfrm>
        </p:grpSpPr>
        <p:pic>
          <p:nvPicPr>
            <p:cNvPr id="593" name="Google Shape;593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32063" y="3857187"/>
              <a:ext cx="1171575" cy="400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31"/>
            <p:cNvSpPr txBox="1"/>
            <p:nvPr/>
          </p:nvSpPr>
          <p:spPr>
            <a:xfrm>
              <a:off x="1763461" y="4257237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John</a:t>
              </a:r>
              <a:r>
                <a:rPr baseline="-25000" lang="en" sz="1800">
                  <a:solidFill>
                    <a:srgbClr val="6FA8DC"/>
                  </a:solidFill>
                </a:rPr>
                <a:t>v</a:t>
              </a:r>
              <a:endParaRPr baseline="-25000" sz="1800">
                <a:solidFill>
                  <a:srgbClr val="6FA8DC"/>
                </a:solidFill>
              </a:endParaRPr>
            </a:p>
          </p:txBody>
        </p:sp>
      </p:grpSp>
      <p:pic>
        <p:nvPicPr>
          <p:cNvPr id="595" name="Google Shape;595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1687" y="3337925"/>
            <a:ext cx="1120450" cy="704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1"/>
          <p:cNvGrpSpPr/>
          <p:nvPr/>
        </p:nvGrpSpPr>
        <p:grpSpPr>
          <a:xfrm>
            <a:off x="2315887" y="1961927"/>
            <a:ext cx="4672585" cy="1728064"/>
            <a:chOff x="2163487" y="2114327"/>
            <a:chExt cx="4672585" cy="1728064"/>
          </a:xfrm>
        </p:grpSpPr>
        <p:cxnSp>
          <p:nvCxnSpPr>
            <p:cNvPr id="597" name="Google Shape;597;p31"/>
            <p:cNvCxnSpPr>
              <a:endCxn id="595" idx="1"/>
            </p:cNvCxnSpPr>
            <p:nvPr/>
          </p:nvCxnSpPr>
          <p:spPr>
            <a:xfrm>
              <a:off x="2163487" y="2258992"/>
              <a:ext cx="1795800" cy="1583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8" name="Google Shape;598;p31"/>
            <p:cNvCxnSpPr>
              <a:stCxn id="575" idx="1"/>
            </p:cNvCxnSpPr>
            <p:nvPr/>
          </p:nvCxnSpPr>
          <p:spPr>
            <a:xfrm flipH="1">
              <a:off x="4523673" y="2114327"/>
              <a:ext cx="2312400" cy="1706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99" name="Google Shape;599;p31"/>
          <p:cNvGrpSpPr/>
          <p:nvPr/>
        </p:nvGrpSpPr>
        <p:grpSpPr>
          <a:xfrm>
            <a:off x="2703787" y="3656825"/>
            <a:ext cx="3710288" cy="129600"/>
            <a:chOff x="2551387" y="3809225"/>
            <a:chExt cx="3710288" cy="129600"/>
          </a:xfrm>
        </p:grpSpPr>
        <p:cxnSp>
          <p:nvCxnSpPr>
            <p:cNvPr id="600" name="Google Shape;600;p31"/>
            <p:cNvCxnSpPr>
              <a:stCxn id="595" idx="1"/>
              <a:endCxn id="593" idx="3"/>
            </p:cNvCxnSpPr>
            <p:nvPr/>
          </p:nvCxnSpPr>
          <p:spPr>
            <a:xfrm flipH="1">
              <a:off x="2551387" y="3842392"/>
              <a:ext cx="1407900" cy="624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1" name="Google Shape;601;p31"/>
            <p:cNvCxnSpPr/>
            <p:nvPr/>
          </p:nvCxnSpPr>
          <p:spPr>
            <a:xfrm>
              <a:off x="4535475" y="3809225"/>
              <a:ext cx="1726200" cy="129600"/>
            </a:xfrm>
            <a:prstGeom prst="straightConnector1">
              <a:avLst/>
            </a:prstGeom>
            <a:noFill/>
            <a:ln cap="flat" cmpd="sng" w="19050">
              <a:solidFill>
                <a:srgbClr val="6FA8D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02" name="Google Shape;602;p31"/>
          <p:cNvGrpSpPr/>
          <p:nvPr/>
        </p:nvGrpSpPr>
        <p:grpSpPr>
          <a:xfrm>
            <a:off x="6414075" y="3593350"/>
            <a:ext cx="1120475" cy="820775"/>
            <a:chOff x="6414075" y="3898150"/>
            <a:chExt cx="1120475" cy="820775"/>
          </a:xfrm>
        </p:grpSpPr>
        <p:pic>
          <p:nvPicPr>
            <p:cNvPr id="603" name="Google Shape;603;p31"/>
            <p:cNvPicPr preferRelativeResize="0"/>
            <p:nvPr/>
          </p:nvPicPr>
          <p:blipFill rotWithShape="1">
            <a:blip r:embed="rId9">
              <a:alphaModFix/>
            </a:blip>
            <a:srcRect b="30935" l="12086" r="12418" t="35717"/>
            <a:stretch/>
          </p:blipFill>
          <p:spPr>
            <a:xfrm>
              <a:off x="6414075" y="3898150"/>
              <a:ext cx="1120474" cy="3299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31"/>
            <p:cNvSpPr txBox="1"/>
            <p:nvPr/>
          </p:nvSpPr>
          <p:spPr>
            <a:xfrm>
              <a:off x="6745250" y="4257225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FA8DC"/>
                  </a:solidFill>
                </a:rPr>
                <a:t>Mary</a:t>
              </a:r>
              <a:r>
                <a:rPr baseline="-25000" lang="en" sz="1800">
                  <a:solidFill>
                    <a:srgbClr val="6FA8DC"/>
                  </a:solidFill>
                </a:rPr>
                <a:t>v </a:t>
              </a:r>
              <a:endParaRPr>
                <a:solidFill>
                  <a:srgbClr val="6FA8DC"/>
                </a:solidFill>
              </a:endParaRPr>
            </a:p>
          </p:txBody>
        </p:sp>
      </p:grpSp>
      <p:grpSp>
        <p:nvGrpSpPr>
          <p:cNvPr id="605" name="Google Shape;605;p31"/>
          <p:cNvGrpSpPr/>
          <p:nvPr/>
        </p:nvGrpSpPr>
        <p:grpSpPr>
          <a:xfrm>
            <a:off x="2734650" y="2822968"/>
            <a:ext cx="4153130" cy="1691118"/>
            <a:chOff x="2899807" y="3775186"/>
            <a:chExt cx="1937275" cy="1114190"/>
          </a:xfrm>
        </p:grpSpPr>
        <p:grpSp>
          <p:nvGrpSpPr>
            <p:cNvPr id="606" name="Google Shape;606;p31"/>
            <p:cNvGrpSpPr/>
            <p:nvPr/>
          </p:nvGrpSpPr>
          <p:grpSpPr>
            <a:xfrm>
              <a:off x="2899807" y="3775186"/>
              <a:ext cx="1937275" cy="1114190"/>
              <a:chOff x="2829462" y="541822"/>
              <a:chExt cx="1905641" cy="2650940"/>
            </a:xfrm>
          </p:grpSpPr>
          <p:sp>
            <p:nvSpPr>
              <p:cNvPr id="607" name="Google Shape;607;p31"/>
              <p:cNvSpPr/>
              <p:nvPr/>
            </p:nvSpPr>
            <p:spPr>
              <a:xfrm>
                <a:off x="2829462" y="616331"/>
                <a:ext cx="1882060" cy="2576430"/>
              </a:xfrm>
              <a:custGeom>
                <a:rect b="b" l="l" r="r" t="t"/>
                <a:pathLst>
                  <a:path extrusionOk="0" h="49338" w="74353">
                    <a:moveTo>
                      <a:pt x="0" y="49338"/>
                    </a:moveTo>
                    <a:cubicBezTo>
                      <a:pt x="3808" y="44061"/>
                      <a:pt x="10454" y="25897"/>
                      <a:pt x="22846" y="17674"/>
                    </a:cubicBezTo>
                    <a:cubicBezTo>
                      <a:pt x="35238" y="9451"/>
                      <a:pt x="65769" y="2946"/>
                      <a:pt x="74353" y="0"/>
                    </a:cubicBezTo>
                  </a:path>
                </a:pathLst>
              </a:custGeom>
              <a:noFill/>
              <a:ln cap="flat" cmpd="sng" w="19050">
                <a:solidFill>
                  <a:srgbClr val="FF99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608" name="Google Shape;608;p31"/>
              <p:cNvCxnSpPr/>
              <p:nvPr/>
            </p:nvCxnSpPr>
            <p:spPr>
              <a:xfrm flipH="1" rot="10800000">
                <a:off x="4593203" y="541822"/>
                <a:ext cx="141900" cy="184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09" name="Google Shape;609;p31"/>
            <p:cNvSpPr txBox="1"/>
            <p:nvPr/>
          </p:nvSpPr>
          <p:spPr>
            <a:xfrm>
              <a:off x="2956561" y="4401031"/>
              <a:ext cx="209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%</a:t>
              </a:r>
              <a:endParaRPr sz="1800">
                <a:solidFill>
                  <a:srgbClr val="FF9900"/>
                </a:solidFill>
              </a:endParaRPr>
            </a:p>
          </p:txBody>
        </p:sp>
      </p:grpSp>
      <p:grpSp>
        <p:nvGrpSpPr>
          <p:cNvPr id="610" name="Google Shape;610;p31"/>
          <p:cNvGrpSpPr/>
          <p:nvPr/>
        </p:nvGrpSpPr>
        <p:grpSpPr>
          <a:xfrm>
            <a:off x="1508269" y="4355659"/>
            <a:ext cx="1219200" cy="763742"/>
            <a:chOff x="1554532" y="4355397"/>
            <a:chExt cx="1219200" cy="763742"/>
          </a:xfrm>
        </p:grpSpPr>
        <p:pic>
          <p:nvPicPr>
            <p:cNvPr id="611" name="Google Shape;611;p3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54532" y="4355397"/>
              <a:ext cx="1219200" cy="40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" name="Google Shape;612;p31"/>
            <p:cNvSpPr txBox="1"/>
            <p:nvPr/>
          </p:nvSpPr>
          <p:spPr>
            <a:xfrm>
              <a:off x="1828273" y="4657439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John</a:t>
              </a:r>
              <a:r>
                <a:rPr baseline="-25000" lang="en" sz="1800">
                  <a:solidFill>
                    <a:srgbClr val="FF9900"/>
                  </a:solidFill>
                </a:rPr>
                <a:t>k</a:t>
              </a:r>
              <a:endParaRPr baseline="-25000" sz="1800">
                <a:solidFill>
                  <a:srgbClr val="FF9900"/>
                </a:solidFill>
              </a:endParaRPr>
            </a:p>
          </p:txBody>
        </p:sp>
      </p:grpSp>
      <p:pic>
        <p:nvPicPr>
          <p:cNvPr id="613" name="Google Shape;613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27054" y="4189964"/>
            <a:ext cx="1171575" cy="717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4" name="Google Shape;614;p31"/>
          <p:cNvGrpSpPr/>
          <p:nvPr/>
        </p:nvGrpSpPr>
        <p:grpSpPr>
          <a:xfrm>
            <a:off x="2292254" y="1961927"/>
            <a:ext cx="4696219" cy="2599200"/>
            <a:chOff x="1987454" y="1961927"/>
            <a:chExt cx="4696219" cy="2599200"/>
          </a:xfrm>
        </p:grpSpPr>
        <p:cxnSp>
          <p:nvCxnSpPr>
            <p:cNvPr id="615" name="Google Shape;615;p31"/>
            <p:cNvCxnSpPr>
              <a:endCxn id="613" idx="1"/>
            </p:cNvCxnSpPr>
            <p:nvPr/>
          </p:nvCxnSpPr>
          <p:spPr>
            <a:xfrm>
              <a:off x="1987454" y="2083126"/>
              <a:ext cx="1834800" cy="24657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6" name="Google Shape;616;p31"/>
            <p:cNvCxnSpPr>
              <a:stCxn id="575" idx="1"/>
            </p:cNvCxnSpPr>
            <p:nvPr/>
          </p:nvCxnSpPr>
          <p:spPr>
            <a:xfrm flipH="1">
              <a:off x="4347873" y="1961927"/>
              <a:ext cx="2335800" cy="25992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17" name="Google Shape;617;p31"/>
          <p:cNvGrpSpPr/>
          <p:nvPr/>
        </p:nvGrpSpPr>
        <p:grpSpPr>
          <a:xfrm>
            <a:off x="2773576" y="4506847"/>
            <a:ext cx="3828399" cy="54600"/>
            <a:chOff x="2608987" y="3809297"/>
            <a:chExt cx="3805187" cy="54600"/>
          </a:xfrm>
        </p:grpSpPr>
        <p:cxnSp>
          <p:nvCxnSpPr>
            <p:cNvPr id="618" name="Google Shape;618;p31"/>
            <p:cNvCxnSpPr/>
            <p:nvPr/>
          </p:nvCxnSpPr>
          <p:spPr>
            <a:xfrm rot="10800000">
              <a:off x="2608987" y="3816592"/>
              <a:ext cx="1350300" cy="258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9" name="Google Shape;619;p31"/>
            <p:cNvCxnSpPr>
              <a:endCxn id="620" idx="1"/>
            </p:cNvCxnSpPr>
            <p:nvPr/>
          </p:nvCxnSpPr>
          <p:spPr>
            <a:xfrm>
              <a:off x="4535275" y="3809297"/>
              <a:ext cx="1878900" cy="546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21" name="Google Shape;621;p31"/>
          <p:cNvGrpSpPr/>
          <p:nvPr/>
        </p:nvGrpSpPr>
        <p:grpSpPr>
          <a:xfrm>
            <a:off x="6601975" y="4417134"/>
            <a:ext cx="1031175" cy="640804"/>
            <a:chOff x="6601975" y="4417134"/>
            <a:chExt cx="1031175" cy="640804"/>
          </a:xfrm>
        </p:grpSpPr>
        <p:pic>
          <p:nvPicPr>
            <p:cNvPr id="620" name="Google Shape;620;p31"/>
            <p:cNvPicPr preferRelativeResize="0"/>
            <p:nvPr/>
          </p:nvPicPr>
          <p:blipFill rotWithShape="1">
            <a:blip r:embed="rId12">
              <a:alphaModFix/>
            </a:blip>
            <a:srcRect b="37263" l="16502" r="11653" t="32218"/>
            <a:stretch/>
          </p:blipFill>
          <p:spPr>
            <a:xfrm>
              <a:off x="6601975" y="4417134"/>
              <a:ext cx="1019274" cy="28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2" name="Google Shape;622;p31"/>
            <p:cNvSpPr txBox="1"/>
            <p:nvPr/>
          </p:nvSpPr>
          <p:spPr>
            <a:xfrm>
              <a:off x="6843850" y="4596239"/>
              <a:ext cx="78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9900"/>
                  </a:solidFill>
                </a:rPr>
                <a:t>Mary</a:t>
              </a:r>
              <a:r>
                <a:rPr baseline="-25000" lang="en" sz="1800">
                  <a:solidFill>
                    <a:srgbClr val="FF9900"/>
                  </a:solidFill>
                </a:rPr>
                <a:t>k </a:t>
              </a:r>
              <a:endParaRPr>
                <a:solidFill>
                  <a:srgbClr val="FF9900"/>
                </a:solidFill>
              </a:endParaRPr>
            </a:p>
          </p:txBody>
        </p:sp>
      </p:grpSp>
      <p:grpSp>
        <p:nvGrpSpPr>
          <p:cNvPr id="623" name="Google Shape;623;p31"/>
          <p:cNvGrpSpPr/>
          <p:nvPr/>
        </p:nvGrpSpPr>
        <p:grpSpPr>
          <a:xfrm>
            <a:off x="2773656" y="2975464"/>
            <a:ext cx="4266654" cy="763777"/>
            <a:chOff x="2899807" y="3775186"/>
            <a:chExt cx="1937275" cy="1114190"/>
          </a:xfrm>
        </p:grpSpPr>
        <p:grpSp>
          <p:nvGrpSpPr>
            <p:cNvPr id="624" name="Google Shape;624;p31"/>
            <p:cNvGrpSpPr/>
            <p:nvPr/>
          </p:nvGrpSpPr>
          <p:grpSpPr>
            <a:xfrm>
              <a:off x="2899807" y="3775186"/>
              <a:ext cx="1937275" cy="1114190"/>
              <a:chOff x="2829462" y="541822"/>
              <a:chExt cx="1905641" cy="2650940"/>
            </a:xfrm>
          </p:grpSpPr>
          <p:sp>
            <p:nvSpPr>
              <p:cNvPr id="625" name="Google Shape;625;p31"/>
              <p:cNvSpPr/>
              <p:nvPr/>
            </p:nvSpPr>
            <p:spPr>
              <a:xfrm>
                <a:off x="2829462" y="616331"/>
                <a:ext cx="1882060" cy="2576430"/>
              </a:xfrm>
              <a:custGeom>
                <a:rect b="b" l="l" r="r" t="t"/>
                <a:pathLst>
                  <a:path extrusionOk="0" h="49338" w="74353">
                    <a:moveTo>
                      <a:pt x="0" y="49338"/>
                    </a:moveTo>
                    <a:cubicBezTo>
                      <a:pt x="3808" y="44061"/>
                      <a:pt x="10454" y="25897"/>
                      <a:pt x="22846" y="17674"/>
                    </a:cubicBezTo>
                    <a:cubicBezTo>
                      <a:pt x="35238" y="9451"/>
                      <a:pt x="65769" y="2946"/>
                      <a:pt x="74353" y="0"/>
                    </a:cubicBezTo>
                  </a:path>
                </a:pathLst>
              </a:custGeom>
              <a:noFill/>
              <a:ln cap="flat" cmpd="sng" w="28575">
                <a:solidFill>
                  <a:srgbClr val="6FA8DC"/>
                </a:solidFill>
                <a:prstDash val="dash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</p:sp>
          <p:cxnSp>
            <p:nvCxnSpPr>
              <p:cNvPr id="626" name="Google Shape;626;p31"/>
              <p:cNvCxnSpPr/>
              <p:nvPr/>
            </p:nvCxnSpPr>
            <p:spPr>
              <a:xfrm flipH="1" rot="10800000">
                <a:off x="4593203" y="541822"/>
                <a:ext cx="141900" cy="184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27" name="Google Shape;627;p31"/>
            <p:cNvSpPr txBox="1"/>
            <p:nvPr/>
          </p:nvSpPr>
          <p:spPr>
            <a:xfrm>
              <a:off x="2951237" y="4144029"/>
              <a:ext cx="209700" cy="6735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</a:rPr>
                <a:t>%</a:t>
              </a:r>
              <a:endParaRPr b="1" sz="1800">
                <a:solidFill>
                  <a:srgbClr val="FF9900"/>
                </a:solidFill>
              </a:endParaRPr>
            </a:p>
          </p:txBody>
        </p:sp>
      </p:grpSp>
      <p:grpSp>
        <p:nvGrpSpPr>
          <p:cNvPr id="628" name="Google Shape;628;p31"/>
          <p:cNvGrpSpPr/>
          <p:nvPr/>
        </p:nvGrpSpPr>
        <p:grpSpPr>
          <a:xfrm>
            <a:off x="3018962" y="1146843"/>
            <a:ext cx="3277027" cy="892542"/>
            <a:chOff x="3018962" y="1146843"/>
            <a:chExt cx="3277027" cy="892542"/>
          </a:xfrm>
        </p:grpSpPr>
        <p:sp>
          <p:nvSpPr>
            <p:cNvPr id="629" name="Google Shape;629;p31"/>
            <p:cNvSpPr txBox="1"/>
            <p:nvPr/>
          </p:nvSpPr>
          <p:spPr>
            <a:xfrm>
              <a:off x="3395072" y="1480975"/>
              <a:ext cx="329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=</a:t>
              </a:r>
              <a:endParaRPr baseline="-25000">
                <a:solidFill>
                  <a:srgbClr val="FF0000"/>
                </a:solidFill>
              </a:endParaRPr>
            </a:p>
          </p:txBody>
        </p:sp>
        <p:pic>
          <p:nvPicPr>
            <p:cNvPr id="630" name="Google Shape;630;p31"/>
            <p:cNvPicPr preferRelativeResize="0"/>
            <p:nvPr/>
          </p:nvPicPr>
          <p:blipFill rotWithShape="1">
            <a:blip r:embed="rId13">
              <a:alphaModFix/>
            </a:blip>
            <a:srcRect b="36122" l="14226" r="12324" t="0"/>
            <a:stretch/>
          </p:blipFill>
          <p:spPr>
            <a:xfrm>
              <a:off x="3670089" y="1146843"/>
              <a:ext cx="2625900" cy="892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1" name="Google Shape;631;p31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018962" y="1347157"/>
              <a:ext cx="446115" cy="48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Transformer Architecture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Architecture (Task: Machine Translation)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2" name="Google Shape;6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50" y="1728550"/>
            <a:ext cx="5266401" cy="1373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Architecture: Encoder-Decoder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8" name="Google Shape;6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66725"/>
            <a:ext cx="3527524" cy="2211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3" name="Google Shape;653;p35"/>
          <p:cNvGrpSpPr/>
          <p:nvPr/>
        </p:nvGrpSpPr>
        <p:grpSpPr>
          <a:xfrm>
            <a:off x="314075" y="1498525"/>
            <a:ext cx="5927950" cy="3479099"/>
            <a:chOff x="314075" y="1498525"/>
            <a:chExt cx="5927950" cy="3479099"/>
          </a:xfrm>
        </p:grpSpPr>
        <p:pic>
          <p:nvPicPr>
            <p:cNvPr id="654" name="Google Shape;654;p35"/>
            <p:cNvPicPr preferRelativeResize="0"/>
            <p:nvPr/>
          </p:nvPicPr>
          <p:blipFill rotWithShape="1">
            <a:blip r:embed="rId3">
              <a:alphaModFix/>
            </a:blip>
            <a:srcRect b="0" l="0" r="0" t="8416"/>
            <a:stretch/>
          </p:blipFill>
          <p:spPr>
            <a:xfrm>
              <a:off x="314075" y="1498525"/>
              <a:ext cx="5927799" cy="3479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35"/>
            <p:cNvSpPr/>
            <p:nvPr/>
          </p:nvSpPr>
          <p:spPr>
            <a:xfrm>
              <a:off x="4490625" y="1498525"/>
              <a:ext cx="1751400" cy="74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35"/>
          <p:cNvSpPr txBox="1"/>
          <p:nvPr>
            <p:ph type="title"/>
          </p:nvPr>
        </p:nvSpPr>
        <p:spPr>
          <a:xfrm>
            <a:off x="217125" y="445025"/>
            <a:ext cx="87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20"/>
              <a:t>DECODER TASK: </a:t>
            </a:r>
            <a:r>
              <a:rPr i="1" lang="en" sz="2020"/>
              <a:t>Next token prediction</a:t>
            </a:r>
            <a:endParaRPr/>
          </a:p>
        </p:txBody>
      </p:sp>
      <p:grpSp>
        <p:nvGrpSpPr>
          <p:cNvPr id="657" name="Google Shape;657;p35"/>
          <p:cNvGrpSpPr/>
          <p:nvPr/>
        </p:nvGrpSpPr>
        <p:grpSpPr>
          <a:xfrm>
            <a:off x="754596" y="1430642"/>
            <a:ext cx="3151447" cy="2812554"/>
            <a:chOff x="754596" y="1430642"/>
            <a:chExt cx="3151447" cy="2812554"/>
          </a:xfrm>
        </p:grpSpPr>
        <p:sp>
          <p:nvSpPr>
            <p:cNvPr id="658" name="Google Shape;658;p35"/>
            <p:cNvSpPr txBox="1"/>
            <p:nvPr/>
          </p:nvSpPr>
          <p:spPr>
            <a:xfrm>
              <a:off x="3329143" y="3203442"/>
              <a:ext cx="5769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FF0000"/>
                  </a:solidFill>
                </a:rPr>
                <a:t>-ness</a:t>
              </a:r>
              <a:endParaRPr b="1" i="1" sz="1100">
                <a:solidFill>
                  <a:srgbClr val="FF0000"/>
                </a:solidFill>
              </a:endParaRPr>
            </a:p>
          </p:txBody>
        </p:sp>
        <p:sp>
          <p:nvSpPr>
            <p:cNvPr id="659" name="Google Shape;659;p35"/>
            <p:cNvSpPr txBox="1"/>
            <p:nvPr/>
          </p:nvSpPr>
          <p:spPr>
            <a:xfrm>
              <a:off x="754596" y="3889196"/>
              <a:ext cx="5769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FF0000"/>
                  </a:solidFill>
                </a:rPr>
                <a:t>-ness</a:t>
              </a:r>
              <a:endParaRPr b="1" i="1" sz="1100">
                <a:solidFill>
                  <a:srgbClr val="FF0000"/>
                </a:solidFill>
              </a:endParaRPr>
            </a:p>
          </p:txBody>
        </p:sp>
        <p:sp>
          <p:nvSpPr>
            <p:cNvPr id="660" name="Google Shape;660;p35"/>
            <p:cNvSpPr txBox="1"/>
            <p:nvPr/>
          </p:nvSpPr>
          <p:spPr>
            <a:xfrm>
              <a:off x="1175731" y="1430642"/>
              <a:ext cx="5769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FF0000"/>
                  </a:solidFill>
                </a:rPr>
                <a:t>-ness</a:t>
              </a:r>
              <a:endParaRPr b="1" i="1" sz="1100">
                <a:solidFill>
                  <a:srgbClr val="FF0000"/>
                </a:solidFill>
              </a:endParaRPr>
            </a:p>
          </p:txBody>
        </p:sp>
      </p:grpSp>
      <p:grpSp>
        <p:nvGrpSpPr>
          <p:cNvPr id="661" name="Google Shape;661;p35"/>
          <p:cNvGrpSpPr/>
          <p:nvPr/>
        </p:nvGrpSpPr>
        <p:grpSpPr>
          <a:xfrm>
            <a:off x="5503528" y="2246226"/>
            <a:ext cx="995673" cy="1166445"/>
            <a:chOff x="4817670" y="2561504"/>
            <a:chExt cx="832433" cy="1014300"/>
          </a:xfrm>
        </p:grpSpPr>
        <p:sp>
          <p:nvSpPr>
            <p:cNvPr id="662" name="Google Shape;662;p35"/>
            <p:cNvSpPr/>
            <p:nvPr/>
          </p:nvSpPr>
          <p:spPr>
            <a:xfrm>
              <a:off x="4817670" y="2561504"/>
              <a:ext cx="273000" cy="1014300"/>
            </a:xfrm>
            <a:prstGeom prst="rightBrace">
              <a:avLst>
                <a:gd fmla="val 50000" name="adj1"/>
                <a:gd fmla="val 48955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5"/>
            <p:cNvSpPr txBox="1"/>
            <p:nvPr/>
          </p:nvSpPr>
          <p:spPr>
            <a:xfrm>
              <a:off x="5073203" y="2863085"/>
              <a:ext cx="5769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>
                  <a:solidFill>
                    <a:srgbClr val="FF0000"/>
                  </a:solidFill>
                </a:rPr>
                <a:t>-ness</a:t>
              </a:r>
              <a:endParaRPr b="1" i="1">
                <a:solidFill>
                  <a:srgbClr val="FF0000"/>
                </a:solidFill>
              </a:endParaRPr>
            </a:p>
          </p:txBody>
        </p:sp>
      </p:grpSp>
      <p:sp>
        <p:nvSpPr>
          <p:cNvPr id="664" name="Google Shape;664;p35"/>
          <p:cNvSpPr/>
          <p:nvPr/>
        </p:nvSpPr>
        <p:spPr>
          <a:xfrm>
            <a:off x="4816875" y="2246225"/>
            <a:ext cx="432900" cy="1839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5" name="Google Shape;665;p35"/>
          <p:cNvGrpSpPr/>
          <p:nvPr/>
        </p:nvGrpSpPr>
        <p:grpSpPr>
          <a:xfrm>
            <a:off x="3926810" y="4781123"/>
            <a:ext cx="1055400" cy="369300"/>
            <a:chOff x="3926810" y="4781123"/>
            <a:chExt cx="1055400" cy="369300"/>
          </a:xfrm>
        </p:grpSpPr>
        <p:cxnSp>
          <p:nvCxnSpPr>
            <p:cNvPr id="666" name="Google Shape;666;p35"/>
            <p:cNvCxnSpPr/>
            <p:nvPr/>
          </p:nvCxnSpPr>
          <p:spPr>
            <a:xfrm>
              <a:off x="4100788" y="4866537"/>
              <a:ext cx="385200" cy="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7" name="Google Shape;667;p35"/>
            <p:cNvSpPr txBox="1"/>
            <p:nvPr/>
          </p:nvSpPr>
          <p:spPr>
            <a:xfrm>
              <a:off x="3926810" y="4781123"/>
              <a:ext cx="1055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00FF"/>
                  </a:solidFill>
                </a:rPr>
                <a:t>Arg max: x</a:t>
              </a:r>
              <a:r>
                <a:rPr b="1" baseline="30000" lang="en" sz="1200">
                  <a:solidFill>
                    <a:srgbClr val="FF00FF"/>
                  </a:solidFill>
                </a:rPr>
                <a:t>*</a:t>
              </a:r>
              <a:r>
                <a:rPr b="1" baseline="-25000" lang="en" sz="1200">
                  <a:solidFill>
                    <a:srgbClr val="FF00FF"/>
                  </a:solidFill>
                </a:rPr>
                <a:t>t</a:t>
              </a:r>
              <a:endParaRPr b="1" baseline="-25000" sz="1200">
                <a:solidFill>
                  <a:srgbClr val="FF00FF"/>
                </a:solidFill>
              </a:endParaRPr>
            </a:p>
          </p:txBody>
        </p:sp>
      </p:grpSp>
      <p:sp>
        <p:nvSpPr>
          <p:cNvPr id="668" name="Google Shape;668;p35"/>
          <p:cNvSpPr/>
          <p:nvPr/>
        </p:nvSpPr>
        <p:spPr>
          <a:xfrm>
            <a:off x="4723250" y="2205211"/>
            <a:ext cx="647700" cy="11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??</a:t>
            </a:r>
            <a:endParaRPr/>
          </a:p>
        </p:txBody>
      </p:sp>
      <p:sp>
        <p:nvSpPr>
          <p:cNvPr id="669" name="Google Shape;669;p35"/>
          <p:cNvSpPr/>
          <p:nvPr/>
        </p:nvSpPr>
        <p:spPr>
          <a:xfrm>
            <a:off x="4358675" y="1498550"/>
            <a:ext cx="4152900" cy="51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p(</a:t>
            </a:r>
            <a:r>
              <a:rPr i="1" lang="en" sz="1500">
                <a:solidFill>
                  <a:srgbClr val="FF00FF"/>
                </a:solidFill>
              </a:rPr>
              <a:t>x</a:t>
            </a:r>
            <a:r>
              <a:rPr baseline="-25000" i="1" lang="en" sz="1500">
                <a:solidFill>
                  <a:srgbClr val="FF00FF"/>
                </a:solidFill>
              </a:rPr>
              <a:t>t=5</a:t>
            </a:r>
            <a:r>
              <a:rPr i="1" lang="en" sz="1500">
                <a:solidFill>
                  <a:srgbClr val="FF0000"/>
                </a:solidFill>
              </a:rPr>
              <a:t> </a:t>
            </a:r>
            <a:r>
              <a:rPr lang="en" sz="1500"/>
              <a:t>= </a:t>
            </a:r>
            <a:r>
              <a:rPr i="1" lang="en" sz="1500">
                <a:solidFill>
                  <a:srgbClr val="FF00FF"/>
                </a:solidFill>
              </a:rPr>
              <a:t>drink</a:t>
            </a:r>
            <a:r>
              <a:rPr i="1" lang="en" sz="1500">
                <a:solidFill>
                  <a:srgbClr val="FF00FF"/>
                </a:solidFill>
              </a:rPr>
              <a:t> </a:t>
            </a:r>
            <a:r>
              <a:rPr i="1" lang="en" sz="1500"/>
              <a:t>|</a:t>
            </a:r>
            <a:r>
              <a:rPr i="1" lang="en" sz="1500">
                <a:solidFill>
                  <a:srgbClr val="FF0000"/>
                </a:solidFill>
              </a:rPr>
              <a:t> </a:t>
            </a:r>
            <a:r>
              <a:rPr i="1" lang="en" sz="1500">
                <a:solidFill>
                  <a:srgbClr val="9900FF"/>
                </a:solidFill>
              </a:rPr>
              <a:t>START</a:t>
            </a:r>
            <a:r>
              <a:rPr i="1" lang="en" sz="1500">
                <a:solidFill>
                  <a:schemeClr val="dk1"/>
                </a:solidFill>
              </a:rPr>
              <a:t>→</a:t>
            </a:r>
            <a:r>
              <a:rPr i="1" lang="en" sz="1500">
                <a:solidFill>
                  <a:srgbClr val="9900FF"/>
                </a:solidFill>
              </a:rPr>
              <a:t>pour </a:t>
            </a:r>
            <a:r>
              <a:rPr i="1" lang="en" sz="1500"/>
              <a:t>→</a:t>
            </a:r>
            <a:r>
              <a:rPr i="1" lang="en" sz="1500">
                <a:solidFill>
                  <a:srgbClr val="9900FF"/>
                </a:solidFill>
              </a:rPr>
              <a:t> wine </a:t>
            </a:r>
            <a:r>
              <a:rPr i="1" lang="en" sz="1500">
                <a:solidFill>
                  <a:schemeClr val="dk1"/>
                </a:solidFill>
              </a:rPr>
              <a:t>→ </a:t>
            </a:r>
            <a:r>
              <a:rPr i="1" lang="en" sz="1500">
                <a:solidFill>
                  <a:srgbClr val="FF0000"/>
                </a:solidFill>
              </a:rPr>
              <a:t>klsl</a:t>
            </a:r>
            <a:r>
              <a:rPr i="1" lang="en" sz="1500">
                <a:solidFill>
                  <a:srgbClr val="FF0000"/>
                </a:solidFill>
              </a:rPr>
              <a:t> </a:t>
            </a:r>
            <a:r>
              <a:rPr lang="en" sz="1500"/>
              <a:t>)</a:t>
            </a:r>
            <a:endParaRPr sz="1000"/>
          </a:p>
        </p:txBody>
      </p:sp>
      <p:grpSp>
        <p:nvGrpSpPr>
          <p:cNvPr id="670" name="Google Shape;670;p35"/>
          <p:cNvGrpSpPr/>
          <p:nvPr/>
        </p:nvGrpSpPr>
        <p:grpSpPr>
          <a:xfrm>
            <a:off x="6631775" y="2246225"/>
            <a:ext cx="1716475" cy="1813875"/>
            <a:chOff x="6631775" y="2246225"/>
            <a:chExt cx="1716475" cy="1813875"/>
          </a:xfrm>
        </p:grpSpPr>
        <p:pic>
          <p:nvPicPr>
            <p:cNvPr id="671" name="Google Shape;671;p35"/>
            <p:cNvPicPr preferRelativeResize="0"/>
            <p:nvPr/>
          </p:nvPicPr>
          <p:blipFill rotWithShape="1">
            <a:blip r:embed="rId4">
              <a:alphaModFix/>
            </a:blip>
            <a:srcRect b="26884" l="13679" r="3264" t="4320"/>
            <a:stretch/>
          </p:blipFill>
          <p:spPr>
            <a:xfrm>
              <a:off x="6631775" y="2246225"/>
              <a:ext cx="1716475" cy="1413675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72" name="Google Shape;672;p35"/>
            <p:cNvSpPr txBox="1"/>
            <p:nvPr/>
          </p:nvSpPr>
          <p:spPr>
            <a:xfrm>
              <a:off x="6962313" y="3659900"/>
              <a:ext cx="1055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??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Training the Transformer (DECODER TASK: </a:t>
            </a:r>
            <a:r>
              <a:rPr i="1" lang="en" sz="2020"/>
              <a:t>Next token prediction</a:t>
            </a:r>
            <a:r>
              <a:rPr lang="en" sz="2020"/>
              <a:t>)</a:t>
            </a:r>
            <a:endParaRPr sz="2020"/>
          </a:p>
        </p:txBody>
      </p:sp>
      <p:pic>
        <p:nvPicPr>
          <p:cNvPr id="678" name="Google Shape;6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300" y="1491043"/>
            <a:ext cx="3971949" cy="30795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79" name="Google Shape;679;p36"/>
          <p:cNvGrpSpPr/>
          <p:nvPr/>
        </p:nvGrpSpPr>
        <p:grpSpPr>
          <a:xfrm>
            <a:off x="4294249" y="1482825"/>
            <a:ext cx="4538050" cy="3087750"/>
            <a:chOff x="4294249" y="1482825"/>
            <a:chExt cx="4538050" cy="3087750"/>
          </a:xfrm>
        </p:grpSpPr>
        <p:pic>
          <p:nvPicPr>
            <p:cNvPr id="680" name="Google Shape;68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60349" y="1482825"/>
              <a:ext cx="3971950" cy="308775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681" name="Google Shape;681;p36"/>
            <p:cNvCxnSpPr>
              <a:stCxn id="678" idx="3"/>
              <a:endCxn id="680" idx="1"/>
            </p:cNvCxnSpPr>
            <p:nvPr/>
          </p:nvCxnSpPr>
          <p:spPr>
            <a:xfrm flipH="1" rot="10800000">
              <a:off x="4294249" y="3026610"/>
              <a:ext cx="566100" cy="4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682" name="Google Shape;682;p36"/>
          <p:cNvPicPr preferRelativeResize="0"/>
          <p:nvPr/>
        </p:nvPicPr>
        <p:blipFill rotWithShape="1">
          <a:blip r:embed="rId5">
            <a:alphaModFix/>
          </a:blip>
          <a:srcRect b="24217" l="13679" r="3264" t="4323"/>
          <a:stretch/>
        </p:blipFill>
        <p:spPr>
          <a:xfrm>
            <a:off x="102487" y="3807112"/>
            <a:ext cx="1360600" cy="1163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83" name="Google Shape;683;p36"/>
          <p:cNvGrpSpPr/>
          <p:nvPr/>
        </p:nvGrpSpPr>
        <p:grpSpPr>
          <a:xfrm>
            <a:off x="231825" y="916007"/>
            <a:ext cx="4152900" cy="1237743"/>
            <a:chOff x="231825" y="916007"/>
            <a:chExt cx="4152900" cy="1237743"/>
          </a:xfrm>
        </p:grpSpPr>
        <p:sp>
          <p:nvSpPr>
            <p:cNvPr id="684" name="Google Shape;684;p36"/>
            <p:cNvSpPr/>
            <p:nvPr/>
          </p:nvSpPr>
          <p:spPr>
            <a:xfrm>
              <a:off x="231825" y="916007"/>
              <a:ext cx="4152900" cy="51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/>
                <a:t>p(</a:t>
              </a:r>
              <a:r>
                <a:rPr i="1" lang="en" sz="1500">
                  <a:solidFill>
                    <a:srgbClr val="FF00FF"/>
                  </a:solidFill>
                </a:rPr>
                <a:t>x</a:t>
              </a:r>
              <a:r>
                <a:rPr baseline="-25000" i="1" lang="en" sz="1500">
                  <a:solidFill>
                    <a:srgbClr val="FF00FF"/>
                  </a:solidFill>
                </a:rPr>
                <a:t>t=5</a:t>
              </a:r>
              <a:r>
                <a:rPr i="1" lang="en" sz="1500">
                  <a:solidFill>
                    <a:srgbClr val="FF0000"/>
                  </a:solidFill>
                </a:rPr>
                <a:t> </a:t>
              </a:r>
              <a:r>
                <a:rPr lang="en" sz="1500"/>
                <a:t>= </a:t>
              </a:r>
              <a:r>
                <a:rPr i="1" lang="en" sz="1500">
                  <a:solidFill>
                    <a:srgbClr val="FF00FF"/>
                  </a:solidFill>
                </a:rPr>
                <a:t>w</a:t>
              </a:r>
              <a:r>
                <a:rPr baseline="-25000" i="1" lang="en" sz="1500">
                  <a:solidFill>
                    <a:srgbClr val="FF00FF"/>
                  </a:solidFill>
                </a:rPr>
                <a:t>6</a:t>
              </a:r>
              <a:r>
                <a:rPr i="1" lang="en" sz="1500">
                  <a:solidFill>
                    <a:srgbClr val="FF00FF"/>
                  </a:solidFill>
                </a:rPr>
                <a:t>-ness</a:t>
              </a:r>
              <a:r>
                <a:rPr i="1" lang="en" sz="1500">
                  <a:solidFill>
                    <a:srgbClr val="FF00FF"/>
                  </a:solidFill>
                </a:rPr>
                <a:t> </a:t>
              </a:r>
              <a:r>
                <a:rPr i="1" lang="en" sz="1500"/>
                <a:t>|</a:t>
              </a:r>
              <a:r>
                <a:rPr i="1" lang="en" sz="1500">
                  <a:solidFill>
                    <a:srgbClr val="FF0000"/>
                  </a:solidFill>
                </a:rPr>
                <a:t> </a:t>
              </a:r>
              <a:r>
                <a:rPr i="1" lang="en" sz="1500">
                  <a:solidFill>
                    <a:srgbClr val="9900FF"/>
                  </a:solidFill>
                </a:rPr>
                <a:t>w</a:t>
              </a:r>
              <a:r>
                <a:rPr baseline="-25000" i="1" lang="en" sz="1500">
                  <a:solidFill>
                    <a:srgbClr val="9900FF"/>
                  </a:solidFill>
                </a:rPr>
                <a:t>3</a:t>
              </a:r>
              <a:r>
                <a:rPr i="1" lang="en" sz="1500">
                  <a:solidFill>
                    <a:schemeClr val="dk1"/>
                  </a:solidFill>
                </a:rPr>
                <a:t>→</a:t>
              </a:r>
              <a:r>
                <a:rPr i="1" lang="en" sz="1500">
                  <a:solidFill>
                    <a:srgbClr val="9900FF"/>
                  </a:solidFill>
                </a:rPr>
                <a:t>w</a:t>
              </a:r>
              <a:r>
                <a:rPr baseline="-25000" i="1" lang="en" sz="1500">
                  <a:solidFill>
                    <a:srgbClr val="9900FF"/>
                  </a:solidFill>
                </a:rPr>
                <a:t>2</a:t>
              </a:r>
              <a:r>
                <a:rPr i="1" lang="en" sz="1500">
                  <a:solidFill>
                    <a:srgbClr val="9900FF"/>
                  </a:solidFill>
                </a:rPr>
                <a:t> </a:t>
              </a:r>
              <a:r>
                <a:rPr i="1" lang="en" sz="1500"/>
                <a:t>→</a:t>
              </a:r>
              <a:r>
                <a:rPr i="1" lang="en" sz="1500">
                  <a:solidFill>
                    <a:srgbClr val="9900FF"/>
                  </a:solidFill>
                </a:rPr>
                <a:t> </a:t>
              </a:r>
              <a:r>
                <a:rPr i="1" lang="en" sz="1500">
                  <a:solidFill>
                    <a:srgbClr val="9900FF"/>
                  </a:solidFill>
                </a:rPr>
                <a:t>w</a:t>
              </a:r>
              <a:r>
                <a:rPr baseline="-25000" i="1" lang="en" sz="1500">
                  <a:solidFill>
                    <a:srgbClr val="9900FF"/>
                  </a:solidFill>
                </a:rPr>
                <a:t>1</a:t>
              </a:r>
              <a:r>
                <a:rPr i="1" lang="en" sz="1500">
                  <a:solidFill>
                    <a:srgbClr val="9900FF"/>
                  </a:solidFill>
                </a:rPr>
                <a:t> </a:t>
              </a:r>
              <a:r>
                <a:rPr i="1" lang="en" sz="1500">
                  <a:solidFill>
                    <a:schemeClr val="dk1"/>
                  </a:solidFill>
                </a:rPr>
                <a:t>→ </a:t>
              </a:r>
              <a:r>
                <a:rPr i="1" lang="en" sz="1500">
                  <a:solidFill>
                    <a:srgbClr val="9900FF"/>
                  </a:solidFill>
                </a:rPr>
                <a:t>w</a:t>
              </a:r>
              <a:r>
                <a:rPr baseline="-25000" i="1" lang="en" sz="1500">
                  <a:solidFill>
                    <a:srgbClr val="9900FF"/>
                  </a:solidFill>
                </a:rPr>
                <a:t>5</a:t>
              </a:r>
              <a:r>
                <a:rPr i="1" lang="en" sz="1500">
                  <a:solidFill>
                    <a:srgbClr val="FF0000"/>
                  </a:solidFill>
                </a:rPr>
                <a:t> </a:t>
              </a:r>
              <a:r>
                <a:rPr lang="en" sz="1500"/>
                <a:t>)</a:t>
              </a:r>
              <a:endParaRPr sz="1000"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3238226" y="1667750"/>
              <a:ext cx="431700" cy="486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86" name="Google Shape;686;p36"/>
            <p:cNvCxnSpPr>
              <a:endCxn id="685" idx="0"/>
            </p:cNvCxnSpPr>
            <p:nvPr/>
          </p:nvCxnSpPr>
          <p:spPr>
            <a:xfrm>
              <a:off x="1727276" y="1266050"/>
              <a:ext cx="1726800" cy="4017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87" name="Google Shape;687;p36"/>
          <p:cNvGrpSpPr/>
          <p:nvPr/>
        </p:nvGrpSpPr>
        <p:grpSpPr>
          <a:xfrm>
            <a:off x="4384724" y="916000"/>
            <a:ext cx="1833201" cy="512100"/>
            <a:chOff x="4384724" y="916000"/>
            <a:chExt cx="1833201" cy="512100"/>
          </a:xfrm>
        </p:grpSpPr>
        <p:sp>
          <p:nvSpPr>
            <p:cNvPr id="688" name="Google Shape;688;p36"/>
            <p:cNvSpPr/>
            <p:nvPr/>
          </p:nvSpPr>
          <p:spPr>
            <a:xfrm>
              <a:off x="4857425" y="916000"/>
              <a:ext cx="1360500" cy="51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/>
                <a:t>= 1 (ideally)</a:t>
              </a:r>
              <a:endParaRPr sz="1000"/>
            </a:p>
          </p:txBody>
        </p:sp>
        <p:cxnSp>
          <p:nvCxnSpPr>
            <p:cNvPr id="689" name="Google Shape;689;p36"/>
            <p:cNvCxnSpPr/>
            <p:nvPr/>
          </p:nvCxnSpPr>
          <p:spPr>
            <a:xfrm flipH="1" rot="10800000">
              <a:off x="4384724" y="1169960"/>
              <a:ext cx="566100" cy="4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Decoder → Causal (Auto-regressive) Language Model (CLM)</a:t>
            </a:r>
            <a:endParaRPr sz="2320"/>
          </a:p>
        </p:txBody>
      </p:sp>
      <p:pic>
        <p:nvPicPr>
          <p:cNvPr id="695" name="Google Shape;695;p37"/>
          <p:cNvPicPr preferRelativeResize="0"/>
          <p:nvPr/>
        </p:nvPicPr>
        <p:blipFill rotWithShape="1">
          <a:blip r:embed="rId3">
            <a:alphaModFix/>
          </a:blip>
          <a:srcRect b="21053" l="6783" r="7128" t="16135"/>
          <a:stretch/>
        </p:blipFill>
        <p:spPr>
          <a:xfrm>
            <a:off x="195250" y="3269671"/>
            <a:ext cx="3365224" cy="153930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96" name="Google Shape;696;p37"/>
          <p:cNvGrpSpPr/>
          <p:nvPr/>
        </p:nvGrpSpPr>
        <p:grpSpPr>
          <a:xfrm>
            <a:off x="3150025" y="1265850"/>
            <a:ext cx="5682276" cy="3369300"/>
            <a:chOff x="3150025" y="1265850"/>
            <a:chExt cx="5682276" cy="3369300"/>
          </a:xfrm>
        </p:grpSpPr>
        <p:pic>
          <p:nvPicPr>
            <p:cNvPr id="697" name="Google Shape;6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6225" y="1267438"/>
              <a:ext cx="4826076" cy="2608626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698" name="Google Shape;698;p37"/>
            <p:cNvGrpSpPr/>
            <p:nvPr/>
          </p:nvGrpSpPr>
          <p:grpSpPr>
            <a:xfrm>
              <a:off x="3150025" y="1265850"/>
              <a:ext cx="916550" cy="3369300"/>
              <a:chOff x="3751925" y="699725"/>
              <a:chExt cx="916550" cy="3369300"/>
            </a:xfrm>
          </p:grpSpPr>
          <p:cxnSp>
            <p:nvCxnSpPr>
              <p:cNvPr id="699" name="Google Shape;699;p37"/>
              <p:cNvCxnSpPr/>
              <p:nvPr/>
            </p:nvCxnSpPr>
            <p:spPr>
              <a:xfrm flipH="1" rot="10800000">
                <a:off x="3751925" y="699725"/>
                <a:ext cx="875700" cy="2229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0" name="Google Shape;700;p37"/>
              <p:cNvCxnSpPr/>
              <p:nvPr/>
            </p:nvCxnSpPr>
            <p:spPr>
              <a:xfrm flipH="1" rot="10800000">
                <a:off x="3853675" y="3312725"/>
                <a:ext cx="814800" cy="756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320"/>
              <a:t>Transformer Architecture: </a:t>
            </a:r>
            <a:r>
              <a:rPr i="1" lang="en" sz="2320">
                <a:solidFill>
                  <a:srgbClr val="FF0000"/>
                </a:solidFill>
              </a:rPr>
              <a:t>Multi-layer</a:t>
            </a:r>
            <a:r>
              <a:rPr lang="en" sz="2320"/>
              <a:t> Encoder-Decoder Model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706" name="Google Shape;70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1800"/>
            <a:ext cx="4015874" cy="261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Transformer Architecture: </a:t>
            </a:r>
            <a:r>
              <a:rPr i="1" lang="en" sz="2320">
                <a:solidFill>
                  <a:srgbClr val="000000"/>
                </a:solidFill>
              </a:rPr>
              <a:t>A peep inside the</a:t>
            </a:r>
            <a:r>
              <a:rPr i="1" lang="en" sz="2320">
                <a:solidFill>
                  <a:srgbClr val="FF0000"/>
                </a:solidFill>
              </a:rPr>
              <a:t> Encoder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712" name="Google Shape;712;p39"/>
          <p:cNvPicPr preferRelativeResize="0"/>
          <p:nvPr/>
        </p:nvPicPr>
        <p:blipFill rotWithShape="1">
          <a:blip r:embed="rId3">
            <a:alphaModFix/>
          </a:blip>
          <a:srcRect b="7011" l="0" r="0" t="7174"/>
          <a:stretch/>
        </p:blipFill>
        <p:spPr>
          <a:xfrm>
            <a:off x="4706050" y="1305525"/>
            <a:ext cx="3426026" cy="152575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3" name="Google Shape;71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675" y="1972325"/>
            <a:ext cx="4015874" cy="261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14" name="Google Shape;714;p39"/>
          <p:cNvGrpSpPr/>
          <p:nvPr/>
        </p:nvGrpSpPr>
        <p:grpSpPr>
          <a:xfrm>
            <a:off x="1635850" y="1541525"/>
            <a:ext cx="3271575" cy="2555975"/>
            <a:chOff x="1635850" y="1541525"/>
            <a:chExt cx="3271575" cy="2555975"/>
          </a:xfrm>
        </p:grpSpPr>
        <p:cxnSp>
          <p:nvCxnSpPr>
            <p:cNvPr id="715" name="Google Shape;715;p39"/>
            <p:cNvCxnSpPr/>
            <p:nvPr/>
          </p:nvCxnSpPr>
          <p:spPr>
            <a:xfrm flipH="1" rot="10800000">
              <a:off x="1635850" y="1541525"/>
              <a:ext cx="3224400" cy="2375100"/>
            </a:xfrm>
            <a:prstGeom prst="straightConnector1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6" name="Google Shape;716;p39"/>
            <p:cNvCxnSpPr/>
            <p:nvPr/>
          </p:nvCxnSpPr>
          <p:spPr>
            <a:xfrm flipH="1" rot="10800000">
              <a:off x="1643725" y="2595400"/>
              <a:ext cx="3263700" cy="1502100"/>
            </a:xfrm>
            <a:prstGeom prst="straightConnector1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40"/>
          <p:cNvPicPr preferRelativeResize="0"/>
          <p:nvPr/>
        </p:nvPicPr>
        <p:blipFill rotWithShape="1">
          <a:blip r:embed="rId3">
            <a:alphaModFix/>
          </a:blip>
          <a:srcRect b="0" l="1739" r="0" t="0"/>
          <a:stretch/>
        </p:blipFill>
        <p:spPr>
          <a:xfrm>
            <a:off x="4572000" y="1754225"/>
            <a:ext cx="4442875" cy="1435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2" name="Google Shape;7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Transformer Architecture: </a:t>
            </a:r>
            <a:r>
              <a:rPr i="1" lang="en" sz="2320">
                <a:solidFill>
                  <a:srgbClr val="FF0000"/>
                </a:solidFill>
              </a:rPr>
              <a:t>Multi-layer</a:t>
            </a:r>
            <a:r>
              <a:rPr lang="en" sz="2320"/>
              <a:t> Encoder-Decoder Model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723" name="Google Shape;72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675" y="1972325"/>
            <a:ext cx="4015874" cy="261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24" name="Google Shape;724;p40"/>
          <p:cNvGrpSpPr/>
          <p:nvPr/>
        </p:nvGrpSpPr>
        <p:grpSpPr>
          <a:xfrm>
            <a:off x="1616200" y="2312225"/>
            <a:ext cx="3393600" cy="739250"/>
            <a:chOff x="1616200" y="2312225"/>
            <a:chExt cx="3393600" cy="739250"/>
          </a:xfrm>
        </p:grpSpPr>
        <p:cxnSp>
          <p:nvCxnSpPr>
            <p:cNvPr id="725" name="Google Shape;725;p40"/>
            <p:cNvCxnSpPr/>
            <p:nvPr/>
          </p:nvCxnSpPr>
          <p:spPr>
            <a:xfrm flipH="1" rot="10800000">
              <a:off x="1635850" y="2312225"/>
              <a:ext cx="3358200" cy="110100"/>
            </a:xfrm>
            <a:prstGeom prst="straightConnector1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40"/>
            <p:cNvCxnSpPr/>
            <p:nvPr/>
          </p:nvCxnSpPr>
          <p:spPr>
            <a:xfrm>
              <a:off x="1616200" y="2611075"/>
              <a:ext cx="3393600" cy="440400"/>
            </a:xfrm>
            <a:prstGeom prst="straightConnector1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27" name="Google Shape;727;p40"/>
          <p:cNvGrpSpPr/>
          <p:nvPr/>
        </p:nvGrpSpPr>
        <p:grpSpPr>
          <a:xfrm>
            <a:off x="3802550" y="2005625"/>
            <a:ext cx="3275525" cy="2063400"/>
            <a:chOff x="3802550" y="2005625"/>
            <a:chExt cx="3275525" cy="2063400"/>
          </a:xfrm>
        </p:grpSpPr>
        <p:cxnSp>
          <p:nvCxnSpPr>
            <p:cNvPr id="728" name="Google Shape;728;p40"/>
            <p:cNvCxnSpPr/>
            <p:nvPr/>
          </p:nvCxnSpPr>
          <p:spPr>
            <a:xfrm flipH="1" rot="10800000">
              <a:off x="3802550" y="2005625"/>
              <a:ext cx="3204900" cy="18825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40"/>
            <p:cNvCxnSpPr/>
            <p:nvPr/>
          </p:nvCxnSpPr>
          <p:spPr>
            <a:xfrm flipH="1" rot="10800000">
              <a:off x="3853675" y="3028025"/>
              <a:ext cx="3224400" cy="10410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Contextual Embedding: Self-Influence (preserving the DNA)</a:t>
            </a:r>
            <a:endParaRPr sz="2020"/>
          </a:p>
        </p:txBody>
      </p:sp>
      <p:pic>
        <p:nvPicPr>
          <p:cNvPr id="735" name="Google Shape;735;p41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1"/>
          <p:cNvSpPr txBox="1"/>
          <p:nvPr/>
        </p:nvSpPr>
        <p:spPr>
          <a:xfrm>
            <a:off x="2327925" y="3845825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737" name="Google Shape;737;p41"/>
          <p:cNvSpPr txBox="1"/>
          <p:nvPr/>
        </p:nvSpPr>
        <p:spPr>
          <a:xfrm>
            <a:off x="4704600" y="3880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loves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738" name="Google Shape;738;p41"/>
          <p:cNvSpPr txBox="1"/>
          <p:nvPr/>
        </p:nvSpPr>
        <p:spPr>
          <a:xfrm>
            <a:off x="7398700" y="3759250"/>
            <a:ext cx="904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Mary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739" name="Google Shape;739;p41"/>
          <p:cNvGrpSpPr/>
          <p:nvPr/>
        </p:nvGrpSpPr>
        <p:grpSpPr>
          <a:xfrm>
            <a:off x="5363700" y="2110050"/>
            <a:ext cx="3122176" cy="1626979"/>
            <a:chOff x="5363700" y="2110050"/>
            <a:chExt cx="3122176" cy="1626979"/>
          </a:xfrm>
        </p:grpSpPr>
        <p:grpSp>
          <p:nvGrpSpPr>
            <p:cNvPr id="740" name="Google Shape;740;p41"/>
            <p:cNvGrpSpPr/>
            <p:nvPr/>
          </p:nvGrpSpPr>
          <p:grpSpPr>
            <a:xfrm>
              <a:off x="5363700" y="2174514"/>
              <a:ext cx="2618949" cy="1164215"/>
              <a:chOff x="5180040" y="2021541"/>
              <a:chExt cx="2650758" cy="1341725"/>
            </a:xfrm>
          </p:grpSpPr>
          <p:sp>
            <p:nvSpPr>
              <p:cNvPr id="741" name="Google Shape;741;p41"/>
              <p:cNvSpPr/>
              <p:nvPr/>
            </p:nvSpPr>
            <p:spPr>
              <a:xfrm>
                <a:off x="5180040" y="2021541"/>
                <a:ext cx="2650750" cy="1341725"/>
              </a:xfrm>
              <a:custGeom>
                <a:rect b="b" l="l" r="r" t="t"/>
                <a:pathLst>
                  <a:path extrusionOk="0" h="53669" w="106030">
                    <a:moveTo>
                      <a:pt x="0" y="53669"/>
                    </a:moveTo>
                    <a:cubicBezTo>
                      <a:pt x="10667" y="44726"/>
                      <a:pt x="46331" y="705"/>
                      <a:pt x="64003" y="9"/>
                    </a:cubicBezTo>
                    <a:cubicBezTo>
                      <a:pt x="81675" y="-687"/>
                      <a:pt x="99026" y="41244"/>
                      <a:pt x="106030" y="49491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742" name="Google Shape;742;p41"/>
              <p:cNvCxnSpPr/>
              <p:nvPr/>
            </p:nvCxnSpPr>
            <p:spPr>
              <a:xfrm>
                <a:off x="7634899" y="2941687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743" name="Google Shape;743;p41"/>
            <p:cNvSpPr/>
            <p:nvPr/>
          </p:nvSpPr>
          <p:spPr>
            <a:xfrm>
              <a:off x="6876976" y="3251029"/>
              <a:ext cx="1608900" cy="486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1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745" name="Google Shape;745;p41"/>
          <p:cNvGrpSpPr/>
          <p:nvPr/>
        </p:nvGrpSpPr>
        <p:grpSpPr>
          <a:xfrm>
            <a:off x="2862750" y="1077125"/>
            <a:ext cx="4866874" cy="2249635"/>
            <a:chOff x="3914900" y="2110050"/>
            <a:chExt cx="4866874" cy="2249635"/>
          </a:xfrm>
        </p:grpSpPr>
        <p:grpSp>
          <p:nvGrpSpPr>
            <p:cNvPr id="746" name="Google Shape;746;p41"/>
            <p:cNvGrpSpPr/>
            <p:nvPr/>
          </p:nvGrpSpPr>
          <p:grpSpPr>
            <a:xfrm>
              <a:off x="3914900" y="2178370"/>
              <a:ext cx="4866874" cy="2181315"/>
              <a:chOff x="3713644" y="2025984"/>
              <a:chExt cx="4925986" cy="2513904"/>
            </a:xfrm>
          </p:grpSpPr>
          <p:sp>
            <p:nvSpPr>
              <p:cNvPr id="747" name="Google Shape;747;p41"/>
              <p:cNvSpPr/>
              <p:nvPr/>
            </p:nvSpPr>
            <p:spPr>
              <a:xfrm>
                <a:off x="3713644" y="2025984"/>
                <a:ext cx="4871625" cy="2513900"/>
              </a:xfrm>
              <a:custGeom>
                <a:rect b="b" l="l" r="r" t="t"/>
                <a:pathLst>
                  <a:path extrusionOk="0" h="100556" w="194865">
                    <a:moveTo>
                      <a:pt x="0" y="100556"/>
                    </a:moveTo>
                    <a:cubicBezTo>
                      <a:pt x="20443" y="83798"/>
                      <a:pt x="90182" y="730"/>
                      <a:pt x="122659" y="5"/>
                    </a:cubicBezTo>
                    <a:cubicBezTo>
                      <a:pt x="155137" y="-720"/>
                      <a:pt x="182831" y="80172"/>
                      <a:pt x="194865" y="96205"/>
                    </a:cubicBezTo>
                  </a:path>
                </a:pathLst>
              </a:custGeom>
              <a:noFill/>
              <a:ln cap="flat" cmpd="sng" w="19050">
                <a:solidFill>
                  <a:srgbClr val="99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748" name="Google Shape;748;p41"/>
              <p:cNvCxnSpPr/>
              <p:nvPr/>
            </p:nvCxnSpPr>
            <p:spPr>
              <a:xfrm>
                <a:off x="8443730" y="4244989"/>
                <a:ext cx="195900" cy="294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749" name="Google Shape;749;p41"/>
            <p:cNvSpPr txBox="1"/>
            <p:nvPr/>
          </p:nvSpPr>
          <p:spPr>
            <a:xfrm>
              <a:off x="5770750" y="2110050"/>
              <a:ext cx="4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%</a:t>
              </a:r>
              <a:endParaRPr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750" name="Google Shape;750;p41"/>
          <p:cNvGrpSpPr/>
          <p:nvPr/>
        </p:nvGrpSpPr>
        <p:grpSpPr>
          <a:xfrm>
            <a:off x="7015525" y="3735639"/>
            <a:ext cx="1065975" cy="969236"/>
            <a:chOff x="7015525" y="3735639"/>
            <a:chExt cx="1065975" cy="969236"/>
          </a:xfrm>
        </p:grpSpPr>
        <p:grpSp>
          <p:nvGrpSpPr>
            <p:cNvPr id="751" name="Google Shape;751;p41"/>
            <p:cNvGrpSpPr/>
            <p:nvPr/>
          </p:nvGrpSpPr>
          <p:grpSpPr>
            <a:xfrm rot="10800000">
              <a:off x="7015525" y="3735639"/>
              <a:ext cx="981006" cy="877082"/>
              <a:chOff x="5428349" y="2025855"/>
              <a:chExt cx="2365581" cy="1156337"/>
            </a:xfrm>
          </p:grpSpPr>
          <p:sp>
            <p:nvSpPr>
              <p:cNvPr id="752" name="Google Shape;752;p41"/>
              <p:cNvSpPr/>
              <p:nvPr/>
            </p:nvSpPr>
            <p:spPr>
              <a:xfrm>
                <a:off x="5428349" y="2025855"/>
                <a:ext cx="2365581" cy="1156337"/>
              </a:xfrm>
              <a:custGeom>
                <a:rect b="b" l="l" r="r" t="t"/>
                <a:pathLst>
                  <a:path extrusionOk="0" h="47827" w="37436">
                    <a:moveTo>
                      <a:pt x="0" y="46884"/>
                    </a:moveTo>
                    <a:cubicBezTo>
                      <a:pt x="3565" y="39072"/>
                      <a:pt x="15153" y="-147"/>
                      <a:pt x="21392" y="10"/>
                    </a:cubicBezTo>
                    <a:cubicBezTo>
                      <a:pt x="27631" y="167"/>
                      <a:pt x="34762" y="39858"/>
                      <a:pt x="37436" y="47828"/>
                    </a:cubicBezTo>
                  </a:path>
                </a:pathLst>
              </a:custGeom>
              <a:noFill/>
              <a:ln cap="flat" cmpd="sng" w="19050">
                <a:solidFill>
                  <a:srgbClr val="00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753" name="Google Shape;753;p41"/>
              <p:cNvCxnSpPr/>
              <p:nvPr/>
            </p:nvCxnSpPr>
            <p:spPr>
              <a:xfrm>
                <a:off x="7554975" y="2773250"/>
                <a:ext cx="180900" cy="408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FF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754" name="Google Shape;754;p41"/>
            <p:cNvSpPr txBox="1"/>
            <p:nvPr/>
          </p:nvSpPr>
          <p:spPr>
            <a:xfrm>
              <a:off x="7620400" y="4243175"/>
              <a:ext cx="461100" cy="4617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FF"/>
                  </a:solidFill>
                </a:rPr>
                <a:t>%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/>
          <p:cNvSpPr txBox="1"/>
          <p:nvPr>
            <p:ph type="title"/>
          </p:nvPr>
        </p:nvSpPr>
        <p:spPr>
          <a:xfrm>
            <a:off x="311700" y="21054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Transformer Architecture: </a:t>
            </a:r>
            <a:r>
              <a:rPr i="1" lang="en" sz="2320">
                <a:solidFill>
                  <a:srgbClr val="000000"/>
                </a:solidFill>
              </a:rPr>
              <a:t>Deeper</a:t>
            </a:r>
            <a:r>
              <a:rPr i="1" lang="en" sz="2320">
                <a:solidFill>
                  <a:srgbClr val="000000"/>
                </a:solidFill>
              </a:rPr>
              <a:t> inside the</a:t>
            </a:r>
            <a:r>
              <a:rPr i="1" lang="en" sz="2320">
                <a:solidFill>
                  <a:srgbClr val="FF0000"/>
                </a:solidFill>
              </a:rPr>
              <a:t> Encoder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760" name="Google Shape;760;p42"/>
          <p:cNvPicPr preferRelativeResize="0"/>
          <p:nvPr/>
        </p:nvPicPr>
        <p:blipFill rotWithShape="1">
          <a:blip r:embed="rId3">
            <a:alphaModFix/>
          </a:blip>
          <a:srcRect b="7011" l="0" r="0" t="7174"/>
          <a:stretch/>
        </p:blipFill>
        <p:spPr>
          <a:xfrm>
            <a:off x="311700" y="2042225"/>
            <a:ext cx="3426026" cy="152575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61" name="Google Shape;761;p42"/>
          <p:cNvGrpSpPr/>
          <p:nvPr/>
        </p:nvGrpSpPr>
        <p:grpSpPr>
          <a:xfrm>
            <a:off x="1192584" y="3568075"/>
            <a:ext cx="1644725" cy="1037800"/>
            <a:chOff x="1178905" y="3187075"/>
            <a:chExt cx="1644725" cy="1037800"/>
          </a:xfrm>
        </p:grpSpPr>
        <p:pic>
          <p:nvPicPr>
            <p:cNvPr id="762" name="Google Shape;7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78905" y="3474775"/>
              <a:ext cx="1644725" cy="750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63" name="Google Shape;763;p42"/>
            <p:cNvCxnSpPr>
              <a:stCxn id="762" idx="0"/>
              <a:endCxn id="760" idx="2"/>
            </p:cNvCxnSpPr>
            <p:nvPr/>
          </p:nvCxnSpPr>
          <p:spPr>
            <a:xfrm flipH="1" rot="10800000">
              <a:off x="2001267" y="3187075"/>
              <a:ext cx="9900" cy="28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64" name="Google Shape;764;p42"/>
          <p:cNvGrpSpPr/>
          <p:nvPr/>
        </p:nvGrpSpPr>
        <p:grpSpPr>
          <a:xfrm>
            <a:off x="3259450" y="941448"/>
            <a:ext cx="5151299" cy="3996473"/>
            <a:chOff x="3183250" y="1017646"/>
            <a:chExt cx="5151299" cy="3996473"/>
          </a:xfrm>
        </p:grpSpPr>
        <p:pic>
          <p:nvPicPr>
            <p:cNvPr id="765" name="Google Shape;765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39575" y="1017725"/>
              <a:ext cx="4194974" cy="39868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66" name="Google Shape;766;p42"/>
            <p:cNvGrpSpPr/>
            <p:nvPr/>
          </p:nvGrpSpPr>
          <p:grpSpPr>
            <a:xfrm>
              <a:off x="3183250" y="1017646"/>
              <a:ext cx="945126" cy="3996473"/>
              <a:chOff x="3723516" y="2312234"/>
              <a:chExt cx="1271014" cy="1452576"/>
            </a:xfrm>
          </p:grpSpPr>
          <p:cxnSp>
            <p:nvCxnSpPr>
              <p:cNvPr id="767" name="Google Shape;767;p42"/>
              <p:cNvCxnSpPr/>
              <p:nvPr/>
            </p:nvCxnSpPr>
            <p:spPr>
              <a:xfrm flipH="1" rot="10800000">
                <a:off x="3760329" y="2312234"/>
                <a:ext cx="1234200" cy="714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8761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42"/>
              <p:cNvCxnSpPr/>
              <p:nvPr/>
            </p:nvCxnSpPr>
            <p:spPr>
              <a:xfrm>
                <a:off x="3723516" y="3190910"/>
                <a:ext cx="1242900" cy="573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8761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69" name="Google Shape;769;p42"/>
          <p:cNvGrpSpPr/>
          <p:nvPr/>
        </p:nvGrpSpPr>
        <p:grpSpPr>
          <a:xfrm>
            <a:off x="1700859" y="1093925"/>
            <a:ext cx="644571" cy="948300"/>
            <a:chOff x="1700859" y="1093925"/>
            <a:chExt cx="644571" cy="948300"/>
          </a:xfrm>
        </p:grpSpPr>
        <p:pic>
          <p:nvPicPr>
            <p:cNvPr id="770" name="Google Shape;770;p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00859" y="1093925"/>
              <a:ext cx="644571" cy="7021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71" name="Google Shape;771;p42"/>
            <p:cNvCxnSpPr>
              <a:stCxn id="760" idx="0"/>
              <a:endCxn id="770" idx="2"/>
            </p:cNvCxnSpPr>
            <p:nvPr/>
          </p:nvCxnSpPr>
          <p:spPr>
            <a:xfrm rot="10800000">
              <a:off x="2023213" y="1796225"/>
              <a:ext cx="1500" cy="24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3"/>
          <p:cNvSpPr txBox="1"/>
          <p:nvPr>
            <p:ph type="title"/>
          </p:nvPr>
        </p:nvSpPr>
        <p:spPr>
          <a:xfrm>
            <a:off x="311700" y="21054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320"/>
              <a:t>Transformer Architecture: </a:t>
            </a:r>
            <a:r>
              <a:rPr i="1" lang="en" sz="2320">
                <a:solidFill>
                  <a:srgbClr val="FF0000"/>
                </a:solidFill>
              </a:rPr>
              <a:t>Multi-head</a:t>
            </a:r>
            <a:r>
              <a:rPr lang="en" sz="2320"/>
              <a:t> Encoder-Decoder Model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777" name="Google Shape;777;p43"/>
          <p:cNvPicPr preferRelativeResize="0"/>
          <p:nvPr/>
        </p:nvPicPr>
        <p:blipFill rotWithShape="1">
          <a:blip r:embed="rId3">
            <a:alphaModFix/>
          </a:blip>
          <a:srcRect b="7011" l="0" r="0" t="7174"/>
          <a:stretch/>
        </p:blipFill>
        <p:spPr>
          <a:xfrm>
            <a:off x="311700" y="1862466"/>
            <a:ext cx="3426026" cy="152575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78" name="Google Shape;778;p43"/>
          <p:cNvGrpSpPr/>
          <p:nvPr/>
        </p:nvGrpSpPr>
        <p:grpSpPr>
          <a:xfrm>
            <a:off x="1206264" y="3388316"/>
            <a:ext cx="1644725" cy="1037800"/>
            <a:chOff x="1178905" y="3187075"/>
            <a:chExt cx="1644725" cy="1037800"/>
          </a:xfrm>
        </p:grpSpPr>
        <p:pic>
          <p:nvPicPr>
            <p:cNvPr id="779" name="Google Shape;7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78905" y="3474775"/>
              <a:ext cx="1644725" cy="750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0" name="Google Shape;780;p43"/>
            <p:cNvCxnSpPr>
              <a:stCxn id="779" idx="0"/>
              <a:endCxn id="777" idx="2"/>
            </p:cNvCxnSpPr>
            <p:nvPr/>
          </p:nvCxnSpPr>
          <p:spPr>
            <a:xfrm rot="10800000">
              <a:off x="1997367" y="3187075"/>
              <a:ext cx="3900" cy="28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81" name="Google Shape;781;p43"/>
          <p:cNvGrpSpPr/>
          <p:nvPr/>
        </p:nvGrpSpPr>
        <p:grpSpPr>
          <a:xfrm>
            <a:off x="3232100" y="1590224"/>
            <a:ext cx="5732124" cy="2489670"/>
            <a:chOff x="3232100" y="1388983"/>
            <a:chExt cx="5732124" cy="2489670"/>
          </a:xfrm>
        </p:grpSpPr>
        <p:pic>
          <p:nvPicPr>
            <p:cNvPr id="782" name="Google Shape;782;p43"/>
            <p:cNvPicPr preferRelativeResize="0"/>
            <p:nvPr/>
          </p:nvPicPr>
          <p:blipFill rotWithShape="1">
            <a:blip r:embed="rId5">
              <a:alphaModFix/>
            </a:blip>
            <a:srcRect b="0" l="0" r="0" t="18613"/>
            <a:stretch/>
          </p:blipFill>
          <p:spPr>
            <a:xfrm>
              <a:off x="3862750" y="1402776"/>
              <a:ext cx="5101474" cy="2453201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783" name="Google Shape;783;p43"/>
            <p:cNvGrpSpPr/>
            <p:nvPr/>
          </p:nvGrpSpPr>
          <p:grpSpPr>
            <a:xfrm>
              <a:off x="3232100" y="1388983"/>
              <a:ext cx="615701" cy="2489670"/>
              <a:chOff x="3789209" y="2447202"/>
              <a:chExt cx="828000" cy="904907"/>
            </a:xfrm>
          </p:grpSpPr>
          <p:cxnSp>
            <p:nvCxnSpPr>
              <p:cNvPr id="784" name="Google Shape;784;p43"/>
              <p:cNvCxnSpPr/>
              <p:nvPr/>
            </p:nvCxnSpPr>
            <p:spPr>
              <a:xfrm flipH="1" rot="10800000">
                <a:off x="3844380" y="2447202"/>
                <a:ext cx="772500" cy="397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8761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" name="Google Shape;785;p43"/>
              <p:cNvCxnSpPr/>
              <p:nvPr/>
            </p:nvCxnSpPr>
            <p:spPr>
              <a:xfrm>
                <a:off x="3789209" y="3004108"/>
                <a:ext cx="828000" cy="348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8761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id="786" name="Google Shape;78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1575" y="4215441"/>
            <a:ext cx="2187000" cy="7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87" name="Google Shape;787;p43"/>
          <p:cNvGrpSpPr/>
          <p:nvPr/>
        </p:nvGrpSpPr>
        <p:grpSpPr>
          <a:xfrm>
            <a:off x="1700859" y="900486"/>
            <a:ext cx="644571" cy="948187"/>
            <a:chOff x="1700859" y="1093925"/>
            <a:chExt cx="644571" cy="948187"/>
          </a:xfrm>
        </p:grpSpPr>
        <p:pic>
          <p:nvPicPr>
            <p:cNvPr id="788" name="Google Shape;788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700859" y="1093925"/>
              <a:ext cx="644571" cy="7021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9" name="Google Shape;789;p43"/>
            <p:cNvCxnSpPr>
              <a:endCxn id="788" idx="2"/>
            </p:cNvCxnSpPr>
            <p:nvPr/>
          </p:nvCxnSpPr>
          <p:spPr>
            <a:xfrm rot="10800000">
              <a:off x="2023144" y="1796112"/>
              <a:ext cx="1500" cy="24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90" name="Google Shape;790;p43"/>
          <p:cNvGrpSpPr/>
          <p:nvPr/>
        </p:nvGrpSpPr>
        <p:grpSpPr>
          <a:xfrm>
            <a:off x="3396259" y="4242661"/>
            <a:ext cx="1725316" cy="702187"/>
            <a:chOff x="3396259" y="4242661"/>
            <a:chExt cx="1725316" cy="702187"/>
          </a:xfrm>
        </p:grpSpPr>
        <p:pic>
          <p:nvPicPr>
            <p:cNvPr id="791" name="Google Shape;791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396259" y="4242661"/>
              <a:ext cx="644571" cy="7021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92" name="Google Shape;792;p43"/>
            <p:cNvCxnSpPr>
              <a:stCxn id="786" idx="1"/>
              <a:endCxn id="791" idx="3"/>
            </p:cNvCxnSpPr>
            <p:nvPr/>
          </p:nvCxnSpPr>
          <p:spPr>
            <a:xfrm rot="10800000">
              <a:off x="4040975" y="4593741"/>
              <a:ext cx="1080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4"/>
          <p:cNvSpPr txBox="1"/>
          <p:nvPr>
            <p:ph type="title"/>
          </p:nvPr>
        </p:nvSpPr>
        <p:spPr>
          <a:xfrm>
            <a:off x="311700" y="21054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Getting the final </a:t>
            </a:r>
            <a:r>
              <a:rPr lang="en" sz="2320">
                <a:solidFill>
                  <a:srgbClr val="FF00FF"/>
                </a:solidFill>
              </a:rPr>
              <a:t>Contextual Embeddings (Z)</a:t>
            </a:r>
            <a:endParaRPr sz="232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798" name="Google Shape;798;p44"/>
          <p:cNvPicPr preferRelativeResize="0"/>
          <p:nvPr/>
        </p:nvPicPr>
        <p:blipFill rotWithShape="1">
          <a:blip r:embed="rId3">
            <a:alphaModFix/>
          </a:blip>
          <a:srcRect b="7011" l="0" r="0" t="7174"/>
          <a:stretch/>
        </p:blipFill>
        <p:spPr>
          <a:xfrm>
            <a:off x="311700" y="1862466"/>
            <a:ext cx="3426026" cy="152575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99" name="Google Shape;799;p44"/>
          <p:cNvGrpSpPr/>
          <p:nvPr/>
        </p:nvGrpSpPr>
        <p:grpSpPr>
          <a:xfrm>
            <a:off x="1206264" y="3388316"/>
            <a:ext cx="1644725" cy="1037800"/>
            <a:chOff x="1178905" y="3187075"/>
            <a:chExt cx="1644725" cy="1037800"/>
          </a:xfrm>
        </p:grpSpPr>
        <p:pic>
          <p:nvPicPr>
            <p:cNvPr id="800" name="Google Shape;8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78905" y="3474775"/>
              <a:ext cx="1644725" cy="750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01" name="Google Shape;801;p44"/>
            <p:cNvCxnSpPr>
              <a:stCxn id="800" idx="0"/>
              <a:endCxn id="798" idx="2"/>
            </p:cNvCxnSpPr>
            <p:nvPr/>
          </p:nvCxnSpPr>
          <p:spPr>
            <a:xfrm rot="10800000">
              <a:off x="1997367" y="3187075"/>
              <a:ext cx="3900" cy="28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02" name="Google Shape;802;p44"/>
          <p:cNvGrpSpPr/>
          <p:nvPr/>
        </p:nvGrpSpPr>
        <p:grpSpPr>
          <a:xfrm>
            <a:off x="1700859" y="900486"/>
            <a:ext cx="644571" cy="948187"/>
            <a:chOff x="1700859" y="1093925"/>
            <a:chExt cx="644571" cy="948187"/>
          </a:xfrm>
        </p:grpSpPr>
        <p:pic>
          <p:nvPicPr>
            <p:cNvPr id="803" name="Google Shape;803;p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00859" y="1093925"/>
              <a:ext cx="644571" cy="7021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04" name="Google Shape;804;p44"/>
            <p:cNvCxnSpPr>
              <a:endCxn id="803" idx="2"/>
            </p:cNvCxnSpPr>
            <p:nvPr/>
          </p:nvCxnSpPr>
          <p:spPr>
            <a:xfrm rot="10800000">
              <a:off x="2023144" y="1796112"/>
              <a:ext cx="1500" cy="24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05" name="Google Shape;805;p44"/>
          <p:cNvGrpSpPr/>
          <p:nvPr/>
        </p:nvGrpSpPr>
        <p:grpSpPr>
          <a:xfrm>
            <a:off x="2345450" y="814586"/>
            <a:ext cx="6543374" cy="885500"/>
            <a:chOff x="2345450" y="814586"/>
            <a:chExt cx="6543374" cy="885500"/>
          </a:xfrm>
        </p:grpSpPr>
        <p:cxnSp>
          <p:nvCxnSpPr>
            <p:cNvPr id="806" name="Google Shape;806;p44"/>
            <p:cNvCxnSpPr>
              <a:stCxn id="807" idx="1"/>
              <a:endCxn id="803" idx="3"/>
            </p:cNvCxnSpPr>
            <p:nvPr/>
          </p:nvCxnSpPr>
          <p:spPr>
            <a:xfrm rot="10800000">
              <a:off x="2345450" y="1251636"/>
              <a:ext cx="1820700" cy="5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807" name="Google Shape;807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66150" y="814586"/>
              <a:ext cx="4722674" cy="885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8" name="Google Shape;808;p44"/>
          <p:cNvGrpSpPr/>
          <p:nvPr/>
        </p:nvGrpSpPr>
        <p:grpSpPr>
          <a:xfrm>
            <a:off x="6117413" y="1700086"/>
            <a:ext cx="806150" cy="3187232"/>
            <a:chOff x="6117413" y="1700086"/>
            <a:chExt cx="806150" cy="3187232"/>
          </a:xfrm>
        </p:grpSpPr>
        <p:pic>
          <p:nvPicPr>
            <p:cNvPr id="809" name="Google Shape;809;p4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17413" y="2126093"/>
              <a:ext cx="806150" cy="27612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0" name="Google Shape;810;p44"/>
            <p:cNvCxnSpPr>
              <a:stCxn id="807" idx="2"/>
              <a:endCxn id="809" idx="0"/>
            </p:cNvCxnSpPr>
            <p:nvPr/>
          </p:nvCxnSpPr>
          <p:spPr>
            <a:xfrm flipH="1">
              <a:off x="6520587" y="1700086"/>
              <a:ext cx="6900" cy="42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811" name="Google Shape;811;p44"/>
          <p:cNvCxnSpPr>
            <a:stCxn id="809" idx="1"/>
            <a:endCxn id="803" idx="3"/>
          </p:cNvCxnSpPr>
          <p:nvPr/>
        </p:nvCxnSpPr>
        <p:spPr>
          <a:xfrm rot="10800000">
            <a:off x="2345513" y="1251605"/>
            <a:ext cx="3771900" cy="2255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5"/>
          <p:cNvSpPr txBox="1"/>
          <p:nvPr>
            <p:ph type="title"/>
          </p:nvPr>
        </p:nvSpPr>
        <p:spPr>
          <a:xfrm>
            <a:off x="311700" y="21054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Multi-Layer Contextualization</a:t>
            </a:r>
            <a:endParaRPr sz="232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grpSp>
        <p:nvGrpSpPr>
          <p:cNvPr id="817" name="Google Shape;817;p45"/>
          <p:cNvGrpSpPr/>
          <p:nvPr/>
        </p:nvGrpSpPr>
        <p:grpSpPr>
          <a:xfrm>
            <a:off x="311700" y="1433886"/>
            <a:ext cx="3426026" cy="3525630"/>
            <a:chOff x="311700" y="900486"/>
            <a:chExt cx="3426026" cy="3525630"/>
          </a:xfrm>
        </p:grpSpPr>
        <p:pic>
          <p:nvPicPr>
            <p:cNvPr id="818" name="Google Shape;818;p45"/>
            <p:cNvPicPr preferRelativeResize="0"/>
            <p:nvPr/>
          </p:nvPicPr>
          <p:blipFill rotWithShape="1">
            <a:blip r:embed="rId3">
              <a:alphaModFix/>
            </a:blip>
            <a:srcRect b="7011" l="0" r="0" t="7174"/>
            <a:stretch/>
          </p:blipFill>
          <p:spPr>
            <a:xfrm>
              <a:off x="311700" y="1862466"/>
              <a:ext cx="3426026" cy="1525750"/>
            </a:xfrm>
            <a:prstGeom prst="rect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819" name="Google Shape;819;p45"/>
            <p:cNvGrpSpPr/>
            <p:nvPr/>
          </p:nvGrpSpPr>
          <p:grpSpPr>
            <a:xfrm>
              <a:off x="1206264" y="3388316"/>
              <a:ext cx="1644725" cy="1037800"/>
              <a:chOff x="1178905" y="3187075"/>
              <a:chExt cx="1644725" cy="1037800"/>
            </a:xfrm>
          </p:grpSpPr>
          <p:pic>
            <p:nvPicPr>
              <p:cNvPr id="820" name="Google Shape;820;p4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178905" y="3474775"/>
                <a:ext cx="1644725" cy="7501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21" name="Google Shape;821;p45"/>
              <p:cNvCxnSpPr>
                <a:stCxn id="820" idx="0"/>
                <a:endCxn id="818" idx="2"/>
              </p:cNvCxnSpPr>
              <p:nvPr/>
            </p:nvCxnSpPr>
            <p:spPr>
              <a:xfrm rot="10800000">
                <a:off x="1997367" y="3187075"/>
                <a:ext cx="3900" cy="28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822" name="Google Shape;822;p45"/>
            <p:cNvGrpSpPr/>
            <p:nvPr/>
          </p:nvGrpSpPr>
          <p:grpSpPr>
            <a:xfrm>
              <a:off x="1700859" y="900486"/>
              <a:ext cx="644571" cy="948187"/>
              <a:chOff x="1700859" y="1093925"/>
              <a:chExt cx="644571" cy="948187"/>
            </a:xfrm>
          </p:grpSpPr>
          <p:pic>
            <p:nvPicPr>
              <p:cNvPr id="823" name="Google Shape;823;p4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700859" y="1093925"/>
                <a:ext cx="644571" cy="70218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24" name="Google Shape;824;p45"/>
              <p:cNvCxnSpPr>
                <a:endCxn id="823" idx="2"/>
              </p:cNvCxnSpPr>
              <p:nvPr/>
            </p:nvCxnSpPr>
            <p:spPr>
              <a:xfrm rot="10800000">
                <a:off x="2023144" y="1796112"/>
                <a:ext cx="1500" cy="246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825" name="Google Shape;825;p45"/>
          <p:cNvGrpSpPr/>
          <p:nvPr/>
        </p:nvGrpSpPr>
        <p:grpSpPr>
          <a:xfrm>
            <a:off x="2345488" y="1216936"/>
            <a:ext cx="5963113" cy="2775430"/>
            <a:chOff x="2345488" y="1216936"/>
            <a:chExt cx="5963113" cy="2775430"/>
          </a:xfrm>
        </p:grpSpPr>
        <p:grpSp>
          <p:nvGrpSpPr>
            <p:cNvPr id="826" name="Google Shape;826;p45"/>
            <p:cNvGrpSpPr/>
            <p:nvPr/>
          </p:nvGrpSpPr>
          <p:grpSpPr>
            <a:xfrm>
              <a:off x="4882575" y="1216936"/>
              <a:ext cx="3426026" cy="2775430"/>
              <a:chOff x="311700" y="900486"/>
              <a:chExt cx="3426026" cy="2775430"/>
            </a:xfrm>
          </p:grpSpPr>
          <p:pic>
            <p:nvPicPr>
              <p:cNvPr id="827" name="Google Shape;827;p45"/>
              <p:cNvPicPr preferRelativeResize="0"/>
              <p:nvPr/>
            </p:nvPicPr>
            <p:blipFill rotWithShape="1">
              <a:blip r:embed="rId3">
                <a:alphaModFix/>
              </a:blip>
              <a:srcRect b="7011" l="0" r="0" t="7174"/>
              <a:stretch/>
            </p:blipFill>
            <p:spPr>
              <a:xfrm>
                <a:off x="311700" y="1862466"/>
                <a:ext cx="3426026" cy="1525750"/>
              </a:xfrm>
              <a:prstGeom prst="rect">
                <a:avLst/>
              </a:prstGeom>
              <a:noFill/>
              <a:ln cap="flat" cmpd="sng" w="19050">
                <a:solidFill>
                  <a:srgbClr val="38761D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cxnSp>
            <p:nvCxnSpPr>
              <p:cNvPr id="828" name="Google Shape;828;p45"/>
              <p:cNvCxnSpPr>
                <a:stCxn id="829" idx="0"/>
                <a:endCxn id="827" idx="2"/>
              </p:cNvCxnSpPr>
              <p:nvPr/>
            </p:nvCxnSpPr>
            <p:spPr>
              <a:xfrm rot="10800000">
                <a:off x="2024713" y="3388216"/>
                <a:ext cx="3900" cy="28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830" name="Google Shape;830;p45"/>
              <p:cNvGrpSpPr/>
              <p:nvPr/>
            </p:nvGrpSpPr>
            <p:grpSpPr>
              <a:xfrm>
                <a:off x="1700859" y="900486"/>
                <a:ext cx="644571" cy="948187"/>
                <a:chOff x="1700859" y="1093925"/>
                <a:chExt cx="644571" cy="948187"/>
              </a:xfrm>
            </p:grpSpPr>
            <p:pic>
              <p:nvPicPr>
                <p:cNvPr id="831" name="Google Shape;831;p4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700859" y="1093925"/>
                  <a:ext cx="644571" cy="70218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832" name="Google Shape;832;p45"/>
                <p:cNvCxnSpPr>
                  <a:endCxn id="831" idx="2"/>
                </p:cNvCxnSpPr>
                <p:nvPr/>
              </p:nvCxnSpPr>
              <p:spPr>
                <a:xfrm rot="10800000">
                  <a:off x="2023144" y="1796112"/>
                  <a:ext cx="1500" cy="246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</p:grpSp>
        <p:cxnSp>
          <p:nvCxnSpPr>
            <p:cNvPr id="833" name="Google Shape;833;p45"/>
            <p:cNvCxnSpPr>
              <a:endCxn id="827" idx="2"/>
            </p:cNvCxnSpPr>
            <p:nvPr/>
          </p:nvCxnSpPr>
          <p:spPr>
            <a:xfrm>
              <a:off x="2345488" y="1784966"/>
              <a:ext cx="4250100" cy="1919700"/>
            </a:xfrm>
            <a:prstGeom prst="bentConnector4">
              <a:avLst>
                <a:gd fmla="val 44035" name="adj1"/>
                <a:gd fmla="val 153962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Position influences semantics</a:t>
            </a:r>
            <a:endParaRPr sz="2020"/>
          </a:p>
        </p:txBody>
      </p:sp>
      <p:grpSp>
        <p:nvGrpSpPr>
          <p:cNvPr id="839" name="Google Shape;839;p46"/>
          <p:cNvGrpSpPr/>
          <p:nvPr/>
        </p:nvGrpSpPr>
        <p:grpSpPr>
          <a:xfrm>
            <a:off x="267436" y="1077134"/>
            <a:ext cx="5207923" cy="1869764"/>
            <a:chOff x="1845655" y="1077125"/>
            <a:chExt cx="7133164" cy="3942154"/>
          </a:xfrm>
        </p:grpSpPr>
        <p:pic>
          <p:nvPicPr>
            <p:cNvPr id="840" name="Google Shape;840;p46"/>
            <p:cNvPicPr preferRelativeResize="0"/>
            <p:nvPr/>
          </p:nvPicPr>
          <p:blipFill rotWithShape="1">
            <a:blip r:embed="rId3">
              <a:alphaModFix/>
            </a:blip>
            <a:srcRect b="56266" l="20159" r="0" t="0"/>
            <a:stretch/>
          </p:blipFill>
          <p:spPr>
            <a:xfrm>
              <a:off x="1845655" y="3181613"/>
              <a:ext cx="7133164" cy="624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46"/>
            <p:cNvSpPr txBox="1"/>
            <p:nvPr/>
          </p:nvSpPr>
          <p:spPr>
            <a:xfrm>
              <a:off x="2327945" y="3845819"/>
              <a:ext cx="1442400" cy="97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John</a:t>
              </a:r>
              <a:endParaRPr sz="1800">
                <a:solidFill>
                  <a:srgbClr val="9900FF"/>
                </a:solidFill>
              </a:endParaRPr>
            </a:p>
          </p:txBody>
        </p:sp>
        <p:sp>
          <p:nvSpPr>
            <p:cNvPr id="842" name="Google Shape;842;p46"/>
            <p:cNvSpPr txBox="1"/>
            <p:nvPr/>
          </p:nvSpPr>
          <p:spPr>
            <a:xfrm>
              <a:off x="4704598" y="3880238"/>
              <a:ext cx="1308000" cy="97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9900FF"/>
                  </a:solidFill>
                </a:rPr>
                <a:t>loves</a:t>
              </a:r>
              <a:endParaRPr sz="1800">
                <a:solidFill>
                  <a:srgbClr val="9900FF"/>
                </a:solidFill>
              </a:endParaRPr>
            </a:p>
          </p:txBody>
        </p:sp>
        <p:sp>
          <p:nvSpPr>
            <p:cNvPr id="843" name="Google Shape;843;p46"/>
            <p:cNvSpPr txBox="1"/>
            <p:nvPr/>
          </p:nvSpPr>
          <p:spPr>
            <a:xfrm>
              <a:off x="7398724" y="3759270"/>
              <a:ext cx="1442400" cy="97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Mary</a:t>
              </a:r>
              <a:endParaRPr i="1" sz="1800">
                <a:solidFill>
                  <a:srgbClr val="FF0000"/>
                </a:solidFill>
              </a:endParaRPr>
            </a:p>
          </p:txBody>
        </p:sp>
        <p:grpSp>
          <p:nvGrpSpPr>
            <p:cNvPr id="844" name="Google Shape;844;p46"/>
            <p:cNvGrpSpPr/>
            <p:nvPr/>
          </p:nvGrpSpPr>
          <p:grpSpPr>
            <a:xfrm>
              <a:off x="5363700" y="2110050"/>
              <a:ext cx="3122176" cy="1626979"/>
              <a:chOff x="5363700" y="2110050"/>
              <a:chExt cx="3122176" cy="1626979"/>
            </a:xfrm>
          </p:grpSpPr>
          <p:grpSp>
            <p:nvGrpSpPr>
              <p:cNvPr id="845" name="Google Shape;845;p46"/>
              <p:cNvGrpSpPr/>
              <p:nvPr/>
            </p:nvGrpSpPr>
            <p:grpSpPr>
              <a:xfrm>
                <a:off x="5363700" y="2174514"/>
                <a:ext cx="2618949" cy="1164215"/>
                <a:chOff x="5180040" y="2021541"/>
                <a:chExt cx="2650758" cy="1341725"/>
              </a:xfrm>
            </p:grpSpPr>
            <p:sp>
              <p:nvSpPr>
                <p:cNvPr id="846" name="Google Shape;846;p46"/>
                <p:cNvSpPr/>
                <p:nvPr/>
              </p:nvSpPr>
              <p:spPr>
                <a:xfrm>
                  <a:off x="5180040" y="2021541"/>
                  <a:ext cx="2650750" cy="1341725"/>
                </a:xfrm>
                <a:custGeom>
                  <a:rect b="b" l="l" r="r" t="t"/>
                  <a:pathLst>
                    <a:path extrusionOk="0" h="53669" w="106030">
                      <a:moveTo>
                        <a:pt x="0" y="53669"/>
                      </a:moveTo>
                      <a:cubicBezTo>
                        <a:pt x="10667" y="44726"/>
                        <a:pt x="46331" y="705"/>
                        <a:pt x="64003" y="9"/>
                      </a:cubicBezTo>
                      <a:cubicBezTo>
                        <a:pt x="81675" y="-687"/>
                        <a:pt x="99026" y="41244"/>
                        <a:pt x="106030" y="49491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9900FF"/>
                  </a:solidFill>
                  <a:prstDash val="dash"/>
                  <a:round/>
                  <a:headEnd len="med" w="med" type="none"/>
                  <a:tailEnd len="med" w="med" type="none"/>
                </a:ln>
              </p:spPr>
            </p:sp>
            <p:cxnSp>
              <p:nvCxnSpPr>
                <p:cNvPr id="847" name="Google Shape;847;p46"/>
                <p:cNvCxnSpPr/>
                <p:nvPr/>
              </p:nvCxnSpPr>
              <p:spPr>
                <a:xfrm>
                  <a:off x="7634899" y="2941687"/>
                  <a:ext cx="195900" cy="294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9900FF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848" name="Google Shape;848;p46"/>
              <p:cNvSpPr/>
              <p:nvPr/>
            </p:nvSpPr>
            <p:spPr>
              <a:xfrm>
                <a:off x="6876976" y="3251029"/>
                <a:ext cx="1608900" cy="4860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46"/>
              <p:cNvSpPr txBox="1"/>
              <p:nvPr/>
            </p:nvSpPr>
            <p:spPr>
              <a:xfrm>
                <a:off x="5770750" y="2110050"/>
                <a:ext cx="461100" cy="97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9900FF"/>
                    </a:solidFill>
                  </a:rPr>
                  <a:t>%</a:t>
                </a:r>
                <a:endParaRPr sz="1800">
                  <a:solidFill>
                    <a:srgbClr val="9900FF"/>
                  </a:solidFill>
                </a:endParaRPr>
              </a:p>
            </p:txBody>
          </p:sp>
        </p:grpSp>
        <p:grpSp>
          <p:nvGrpSpPr>
            <p:cNvPr id="850" name="Google Shape;850;p46"/>
            <p:cNvGrpSpPr/>
            <p:nvPr/>
          </p:nvGrpSpPr>
          <p:grpSpPr>
            <a:xfrm>
              <a:off x="2862750" y="1077125"/>
              <a:ext cx="4866874" cy="2249635"/>
              <a:chOff x="3914900" y="2110050"/>
              <a:chExt cx="4866874" cy="2249635"/>
            </a:xfrm>
          </p:grpSpPr>
          <p:grpSp>
            <p:nvGrpSpPr>
              <p:cNvPr id="851" name="Google Shape;851;p46"/>
              <p:cNvGrpSpPr/>
              <p:nvPr/>
            </p:nvGrpSpPr>
            <p:grpSpPr>
              <a:xfrm>
                <a:off x="3914900" y="2178370"/>
                <a:ext cx="4866874" cy="2181315"/>
                <a:chOff x="3713644" y="2025984"/>
                <a:chExt cx="4925986" cy="2513904"/>
              </a:xfrm>
            </p:grpSpPr>
            <p:sp>
              <p:nvSpPr>
                <p:cNvPr id="852" name="Google Shape;852;p46"/>
                <p:cNvSpPr/>
                <p:nvPr/>
              </p:nvSpPr>
              <p:spPr>
                <a:xfrm>
                  <a:off x="3713644" y="2025984"/>
                  <a:ext cx="4871625" cy="2513900"/>
                </a:xfrm>
                <a:custGeom>
                  <a:rect b="b" l="l" r="r" t="t"/>
                  <a:pathLst>
                    <a:path extrusionOk="0" h="100556" w="194865">
                      <a:moveTo>
                        <a:pt x="0" y="100556"/>
                      </a:moveTo>
                      <a:cubicBezTo>
                        <a:pt x="20443" y="83798"/>
                        <a:pt x="90182" y="730"/>
                        <a:pt x="122659" y="5"/>
                      </a:cubicBezTo>
                      <a:cubicBezTo>
                        <a:pt x="155137" y="-720"/>
                        <a:pt x="182831" y="80172"/>
                        <a:pt x="194865" y="96205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9900FF"/>
                  </a:solidFill>
                  <a:prstDash val="dash"/>
                  <a:round/>
                  <a:headEnd len="med" w="med" type="none"/>
                  <a:tailEnd len="med" w="med" type="none"/>
                </a:ln>
              </p:spPr>
            </p:sp>
            <p:cxnSp>
              <p:nvCxnSpPr>
                <p:cNvPr id="853" name="Google Shape;853;p46"/>
                <p:cNvCxnSpPr/>
                <p:nvPr/>
              </p:nvCxnSpPr>
              <p:spPr>
                <a:xfrm>
                  <a:off x="8443730" y="4244989"/>
                  <a:ext cx="195900" cy="294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9900FF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854" name="Google Shape;854;p46"/>
              <p:cNvSpPr txBox="1"/>
              <p:nvPr/>
            </p:nvSpPr>
            <p:spPr>
              <a:xfrm>
                <a:off x="5770750" y="2110050"/>
                <a:ext cx="461100" cy="97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9900FF"/>
                    </a:solidFill>
                  </a:rPr>
                  <a:t>%</a:t>
                </a:r>
                <a:endParaRPr sz="1800">
                  <a:solidFill>
                    <a:srgbClr val="9900FF"/>
                  </a:solidFill>
                </a:endParaRPr>
              </a:p>
            </p:txBody>
          </p:sp>
        </p:grpSp>
        <p:grpSp>
          <p:nvGrpSpPr>
            <p:cNvPr id="855" name="Google Shape;855;p46"/>
            <p:cNvGrpSpPr/>
            <p:nvPr/>
          </p:nvGrpSpPr>
          <p:grpSpPr>
            <a:xfrm>
              <a:off x="6946862" y="3735639"/>
              <a:ext cx="1049669" cy="1283640"/>
              <a:chOff x="6946862" y="3735639"/>
              <a:chExt cx="1049669" cy="1283640"/>
            </a:xfrm>
          </p:grpSpPr>
          <p:grpSp>
            <p:nvGrpSpPr>
              <p:cNvPr id="856" name="Google Shape;856;p46"/>
              <p:cNvGrpSpPr/>
              <p:nvPr/>
            </p:nvGrpSpPr>
            <p:grpSpPr>
              <a:xfrm rot="10800000">
                <a:off x="7015525" y="3735639"/>
                <a:ext cx="981006" cy="877082"/>
                <a:chOff x="5428349" y="2025855"/>
                <a:chExt cx="2365581" cy="1156337"/>
              </a:xfrm>
            </p:grpSpPr>
            <p:sp>
              <p:nvSpPr>
                <p:cNvPr id="857" name="Google Shape;857;p46"/>
                <p:cNvSpPr/>
                <p:nvPr/>
              </p:nvSpPr>
              <p:spPr>
                <a:xfrm>
                  <a:off x="5428349" y="2025855"/>
                  <a:ext cx="2365581" cy="1156337"/>
                </a:xfrm>
                <a:custGeom>
                  <a:rect b="b" l="l" r="r" t="t"/>
                  <a:pathLst>
                    <a:path extrusionOk="0" h="47827" w="37436">
                      <a:moveTo>
                        <a:pt x="0" y="46884"/>
                      </a:moveTo>
                      <a:cubicBezTo>
                        <a:pt x="3565" y="39072"/>
                        <a:pt x="15153" y="-147"/>
                        <a:pt x="21392" y="10"/>
                      </a:cubicBezTo>
                      <a:cubicBezTo>
                        <a:pt x="27631" y="167"/>
                        <a:pt x="34762" y="39858"/>
                        <a:pt x="37436" y="47828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0000FF"/>
                  </a:solidFill>
                  <a:prstDash val="dash"/>
                  <a:round/>
                  <a:headEnd len="med" w="med" type="none"/>
                  <a:tailEnd len="med" w="med" type="none"/>
                </a:ln>
              </p:spPr>
            </p:sp>
            <p:cxnSp>
              <p:nvCxnSpPr>
                <p:cNvPr id="858" name="Google Shape;858;p46"/>
                <p:cNvCxnSpPr/>
                <p:nvPr/>
              </p:nvCxnSpPr>
              <p:spPr>
                <a:xfrm>
                  <a:off x="7554975" y="2773250"/>
                  <a:ext cx="180900" cy="408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FF"/>
                  </a:solidFill>
                  <a:prstDash val="dash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859" name="Google Shape;859;p46"/>
              <p:cNvSpPr txBox="1"/>
              <p:nvPr/>
            </p:nvSpPr>
            <p:spPr>
              <a:xfrm>
                <a:off x="6946862" y="4045779"/>
                <a:ext cx="461100" cy="973500"/>
              </a:xfrm>
              <a:prstGeom prst="rect">
                <a:avLst/>
              </a:prstGeom>
              <a:noFill/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0000FF"/>
                    </a:solidFill>
                  </a:rPr>
                  <a:t>%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</p:grpSp>
      </p:grpSp>
      <p:grpSp>
        <p:nvGrpSpPr>
          <p:cNvPr id="860" name="Google Shape;860;p46"/>
          <p:cNvGrpSpPr/>
          <p:nvPr/>
        </p:nvGrpSpPr>
        <p:grpSpPr>
          <a:xfrm>
            <a:off x="3080105" y="2816142"/>
            <a:ext cx="5930045" cy="2180971"/>
            <a:chOff x="3080105" y="2816142"/>
            <a:chExt cx="5930045" cy="2180971"/>
          </a:xfrm>
        </p:grpSpPr>
        <p:grpSp>
          <p:nvGrpSpPr>
            <p:cNvPr id="861" name="Google Shape;861;p46"/>
            <p:cNvGrpSpPr/>
            <p:nvPr/>
          </p:nvGrpSpPr>
          <p:grpSpPr>
            <a:xfrm>
              <a:off x="3080105" y="2816142"/>
              <a:ext cx="5930045" cy="2180971"/>
              <a:chOff x="1615961" y="1077125"/>
              <a:chExt cx="7362857" cy="3556125"/>
            </a:xfrm>
          </p:grpSpPr>
          <p:pic>
            <p:nvPicPr>
              <p:cNvPr id="862" name="Google Shape;862;p46"/>
              <p:cNvPicPr preferRelativeResize="0"/>
              <p:nvPr/>
            </p:nvPicPr>
            <p:blipFill rotWithShape="1">
              <a:blip r:embed="rId3">
                <a:alphaModFix/>
              </a:blip>
              <a:srcRect b="56266" l="19100" r="0" t="0"/>
              <a:stretch/>
            </p:blipFill>
            <p:spPr>
              <a:xfrm>
                <a:off x="1751106" y="3181613"/>
                <a:ext cx="7227712" cy="62481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3" name="Google Shape;863;p46"/>
              <p:cNvSpPr txBox="1"/>
              <p:nvPr/>
            </p:nvSpPr>
            <p:spPr>
              <a:xfrm>
                <a:off x="2327925" y="3845825"/>
                <a:ext cx="904500" cy="7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0000"/>
                    </a:solidFill>
                  </a:rPr>
                  <a:t>Mary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864" name="Google Shape;864;p46"/>
              <p:cNvSpPr txBox="1"/>
              <p:nvPr/>
            </p:nvSpPr>
            <p:spPr>
              <a:xfrm>
                <a:off x="4704600" y="3880250"/>
                <a:ext cx="904500" cy="7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9900FF"/>
                    </a:solidFill>
                  </a:rPr>
                  <a:t>loves</a:t>
                </a:r>
                <a:endParaRPr sz="1800">
                  <a:solidFill>
                    <a:srgbClr val="9900FF"/>
                  </a:solidFill>
                </a:endParaRPr>
              </a:p>
            </p:txBody>
          </p:sp>
          <p:sp>
            <p:nvSpPr>
              <p:cNvPr id="865" name="Google Shape;865;p46"/>
              <p:cNvSpPr txBox="1"/>
              <p:nvPr/>
            </p:nvSpPr>
            <p:spPr>
              <a:xfrm>
                <a:off x="7398700" y="3759250"/>
                <a:ext cx="904500" cy="7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" sz="1800">
                    <a:solidFill>
                      <a:srgbClr val="9900FF"/>
                    </a:solidFill>
                  </a:rPr>
                  <a:t>John</a:t>
                </a:r>
                <a:endParaRPr i="1" sz="1800">
                  <a:solidFill>
                    <a:srgbClr val="9900FF"/>
                  </a:solidFill>
                </a:endParaRPr>
              </a:p>
            </p:txBody>
          </p:sp>
          <p:grpSp>
            <p:nvGrpSpPr>
              <p:cNvPr id="866" name="Google Shape;866;p46"/>
              <p:cNvGrpSpPr/>
              <p:nvPr/>
            </p:nvGrpSpPr>
            <p:grpSpPr>
              <a:xfrm>
                <a:off x="3126881" y="2005274"/>
                <a:ext cx="2394867" cy="1321470"/>
                <a:chOff x="3126881" y="2005274"/>
                <a:chExt cx="2394867" cy="1321470"/>
              </a:xfrm>
            </p:grpSpPr>
            <p:grpSp>
              <p:nvGrpSpPr>
                <p:cNvPr id="867" name="Google Shape;867;p46"/>
                <p:cNvGrpSpPr/>
                <p:nvPr/>
              </p:nvGrpSpPr>
              <p:grpSpPr>
                <a:xfrm>
                  <a:off x="3126881" y="2174520"/>
                  <a:ext cx="2326929" cy="1152223"/>
                  <a:chOff x="2916053" y="2021548"/>
                  <a:chExt cx="2355191" cy="1327905"/>
                </a:xfrm>
              </p:grpSpPr>
              <p:sp>
                <p:nvSpPr>
                  <p:cNvPr id="868" name="Google Shape;868;p46"/>
                  <p:cNvSpPr/>
                  <p:nvPr/>
                </p:nvSpPr>
                <p:spPr>
                  <a:xfrm>
                    <a:off x="2916053" y="2021548"/>
                    <a:ext cx="2355191" cy="1327905"/>
                  </a:xfrm>
                  <a:custGeom>
                    <a:rect b="b" l="l" r="r" t="t"/>
                    <a:pathLst>
                      <a:path extrusionOk="0" h="53669" w="106030">
                        <a:moveTo>
                          <a:pt x="0" y="53669"/>
                        </a:moveTo>
                        <a:cubicBezTo>
                          <a:pt x="10667" y="44726"/>
                          <a:pt x="46331" y="705"/>
                          <a:pt x="64003" y="9"/>
                        </a:cubicBezTo>
                        <a:cubicBezTo>
                          <a:pt x="81675" y="-687"/>
                          <a:pt x="99026" y="41244"/>
                          <a:pt x="106030" y="49491"/>
                        </a:cubicBezTo>
                      </a:path>
                    </a:pathLst>
                  </a:custGeom>
                  <a:noFill/>
                  <a:ln cap="flat" cmpd="sng" w="19050">
                    <a:solidFill>
                      <a:srgbClr val="9900FF"/>
                    </a:solidFill>
                    <a:prstDash val="dash"/>
                    <a:round/>
                    <a:headEnd len="med" w="med" type="none"/>
                    <a:tailEnd len="med" w="med" type="none"/>
                  </a:ln>
                </p:spPr>
              </p:sp>
              <p:cxnSp>
                <p:nvCxnSpPr>
                  <p:cNvPr id="869" name="Google Shape;869;p46"/>
                  <p:cNvCxnSpPr/>
                  <p:nvPr/>
                </p:nvCxnSpPr>
                <p:spPr>
                  <a:xfrm flipH="1">
                    <a:off x="2933344" y="2881674"/>
                    <a:ext cx="412500" cy="46290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9900FF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  <p:sp>
              <p:nvSpPr>
                <p:cNvPr id="870" name="Google Shape;870;p46"/>
                <p:cNvSpPr txBox="1"/>
                <p:nvPr/>
              </p:nvSpPr>
              <p:spPr>
                <a:xfrm flipH="1">
                  <a:off x="4861448" y="2005274"/>
                  <a:ext cx="660300" cy="753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solidFill>
                        <a:srgbClr val="9900FF"/>
                      </a:solidFill>
                    </a:rPr>
                    <a:t>%</a:t>
                  </a:r>
                  <a:endParaRPr sz="1800">
                    <a:solidFill>
                      <a:srgbClr val="9900FF"/>
                    </a:solidFill>
                  </a:endParaRPr>
                </a:p>
              </p:txBody>
            </p:sp>
          </p:grpSp>
          <p:grpSp>
            <p:nvGrpSpPr>
              <p:cNvPr id="871" name="Google Shape;871;p46"/>
              <p:cNvGrpSpPr/>
              <p:nvPr/>
            </p:nvGrpSpPr>
            <p:grpSpPr>
              <a:xfrm>
                <a:off x="2855111" y="1077125"/>
                <a:ext cx="4820805" cy="2249631"/>
                <a:chOff x="3907261" y="2110050"/>
                <a:chExt cx="4820805" cy="2249631"/>
              </a:xfrm>
            </p:grpSpPr>
            <p:grpSp>
              <p:nvGrpSpPr>
                <p:cNvPr id="872" name="Google Shape;872;p46"/>
                <p:cNvGrpSpPr/>
                <p:nvPr/>
              </p:nvGrpSpPr>
              <p:grpSpPr>
                <a:xfrm>
                  <a:off x="3907261" y="2178370"/>
                  <a:ext cx="4820805" cy="2181311"/>
                  <a:chOff x="3705911" y="2025984"/>
                  <a:chExt cx="4879357" cy="2513900"/>
                </a:xfrm>
              </p:grpSpPr>
              <p:sp>
                <p:nvSpPr>
                  <p:cNvPr id="873" name="Google Shape;873;p46"/>
                  <p:cNvSpPr/>
                  <p:nvPr/>
                </p:nvSpPr>
                <p:spPr>
                  <a:xfrm>
                    <a:off x="3713644" y="2025984"/>
                    <a:ext cx="4871625" cy="2513900"/>
                  </a:xfrm>
                  <a:custGeom>
                    <a:rect b="b" l="l" r="r" t="t"/>
                    <a:pathLst>
                      <a:path extrusionOk="0" h="100556" w="194865">
                        <a:moveTo>
                          <a:pt x="0" y="100556"/>
                        </a:moveTo>
                        <a:cubicBezTo>
                          <a:pt x="20443" y="83798"/>
                          <a:pt x="90182" y="730"/>
                          <a:pt x="122659" y="5"/>
                        </a:cubicBezTo>
                        <a:cubicBezTo>
                          <a:pt x="155137" y="-720"/>
                          <a:pt x="182831" y="80172"/>
                          <a:pt x="194865" y="96205"/>
                        </a:cubicBezTo>
                      </a:path>
                    </a:pathLst>
                  </a:custGeom>
                  <a:noFill/>
                  <a:ln cap="flat" cmpd="sng" w="19050">
                    <a:solidFill>
                      <a:srgbClr val="9900FF"/>
                    </a:solidFill>
                    <a:prstDash val="dash"/>
                    <a:round/>
                    <a:headEnd len="med" w="med" type="none"/>
                    <a:tailEnd len="med" w="med" type="none"/>
                  </a:ln>
                </p:spPr>
              </p:sp>
              <p:cxnSp>
                <p:nvCxnSpPr>
                  <p:cNvPr id="874" name="Google Shape;874;p46"/>
                  <p:cNvCxnSpPr/>
                  <p:nvPr/>
                </p:nvCxnSpPr>
                <p:spPr>
                  <a:xfrm flipH="1">
                    <a:off x="3705911" y="4200624"/>
                    <a:ext cx="395400" cy="30840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9900FF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  <p:sp>
              <p:nvSpPr>
                <p:cNvPr id="875" name="Google Shape;875;p46"/>
                <p:cNvSpPr txBox="1"/>
                <p:nvPr/>
              </p:nvSpPr>
              <p:spPr>
                <a:xfrm>
                  <a:off x="5770750" y="2110050"/>
                  <a:ext cx="461100" cy="753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solidFill>
                        <a:srgbClr val="9900FF"/>
                      </a:solidFill>
                    </a:rPr>
                    <a:t>%</a:t>
                  </a:r>
                  <a:endParaRPr sz="1800">
                    <a:solidFill>
                      <a:srgbClr val="9900FF"/>
                    </a:solidFill>
                  </a:endParaRPr>
                </a:p>
              </p:txBody>
            </p:sp>
          </p:grpSp>
          <p:grpSp>
            <p:nvGrpSpPr>
              <p:cNvPr id="876" name="Google Shape;876;p46"/>
              <p:cNvGrpSpPr/>
              <p:nvPr/>
            </p:nvGrpSpPr>
            <p:grpSpPr>
              <a:xfrm>
                <a:off x="1615961" y="3611384"/>
                <a:ext cx="1650001" cy="877091"/>
                <a:chOff x="1615961" y="3611384"/>
                <a:chExt cx="1650001" cy="877091"/>
              </a:xfrm>
            </p:grpSpPr>
            <p:grpSp>
              <p:nvGrpSpPr>
                <p:cNvPr id="877" name="Google Shape;877;p46"/>
                <p:cNvGrpSpPr/>
                <p:nvPr/>
              </p:nvGrpSpPr>
              <p:grpSpPr>
                <a:xfrm rot="10800000">
                  <a:off x="2284956" y="3611384"/>
                  <a:ext cx="981006" cy="877091"/>
                  <a:chOff x="16835555" y="2189659"/>
                  <a:chExt cx="2365581" cy="1156349"/>
                </a:xfrm>
              </p:grpSpPr>
              <p:sp>
                <p:nvSpPr>
                  <p:cNvPr id="878" name="Google Shape;878;p46"/>
                  <p:cNvSpPr/>
                  <p:nvPr/>
                </p:nvSpPr>
                <p:spPr>
                  <a:xfrm>
                    <a:off x="16835555" y="2189659"/>
                    <a:ext cx="2365581" cy="1156337"/>
                  </a:xfrm>
                  <a:custGeom>
                    <a:rect b="b" l="l" r="r" t="t"/>
                    <a:pathLst>
                      <a:path extrusionOk="0" h="47827" w="37436">
                        <a:moveTo>
                          <a:pt x="0" y="46884"/>
                        </a:moveTo>
                        <a:cubicBezTo>
                          <a:pt x="3565" y="39072"/>
                          <a:pt x="15153" y="-147"/>
                          <a:pt x="21392" y="10"/>
                        </a:cubicBezTo>
                        <a:cubicBezTo>
                          <a:pt x="27631" y="167"/>
                          <a:pt x="34762" y="39858"/>
                          <a:pt x="37436" y="47828"/>
                        </a:cubicBezTo>
                      </a:path>
                    </a:pathLst>
                  </a:custGeom>
                  <a:noFill/>
                  <a:ln cap="flat" cmpd="sng" w="19050">
                    <a:solidFill>
                      <a:srgbClr val="0000FF"/>
                    </a:solidFill>
                    <a:prstDash val="dash"/>
                    <a:round/>
                    <a:headEnd len="med" w="med" type="none"/>
                    <a:tailEnd len="med" w="med" type="none"/>
                  </a:ln>
                </p:spPr>
              </p:sp>
              <p:cxnSp>
                <p:nvCxnSpPr>
                  <p:cNvPr id="879" name="Google Shape;879;p46"/>
                  <p:cNvCxnSpPr/>
                  <p:nvPr/>
                </p:nvCxnSpPr>
                <p:spPr>
                  <a:xfrm>
                    <a:off x="19020191" y="2937108"/>
                    <a:ext cx="180900" cy="40890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FF"/>
                    </a:solidFill>
                    <a:prstDash val="dash"/>
                    <a:round/>
                    <a:headEnd len="med" w="med" type="none"/>
                    <a:tailEnd len="med" w="med" type="triangle"/>
                  </a:ln>
                </p:spPr>
              </p:cxnSp>
            </p:grpSp>
            <p:sp>
              <p:nvSpPr>
                <p:cNvPr id="880" name="Google Shape;880;p46"/>
                <p:cNvSpPr txBox="1"/>
                <p:nvPr/>
              </p:nvSpPr>
              <p:spPr>
                <a:xfrm>
                  <a:off x="1615961" y="3673429"/>
                  <a:ext cx="461100" cy="7530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solidFill>
                        <a:srgbClr val="0000FF"/>
                      </a:solidFill>
                    </a:rPr>
                    <a:t>%</a:t>
                  </a:r>
                  <a:endParaRPr sz="1800">
                    <a:solidFill>
                      <a:srgbClr val="0000FF"/>
                    </a:solidFill>
                  </a:endParaRPr>
                </a:p>
              </p:txBody>
            </p:sp>
          </p:grpSp>
        </p:grpSp>
        <p:sp>
          <p:nvSpPr>
            <p:cNvPr id="881" name="Google Shape;881;p46"/>
            <p:cNvSpPr/>
            <p:nvPr/>
          </p:nvSpPr>
          <p:spPr>
            <a:xfrm>
              <a:off x="3276309" y="4161323"/>
              <a:ext cx="1295700" cy="298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2" name="Google Shape;882;p46"/>
          <p:cNvGrpSpPr/>
          <p:nvPr/>
        </p:nvGrpSpPr>
        <p:grpSpPr>
          <a:xfrm>
            <a:off x="1440075" y="2469725"/>
            <a:ext cx="2339200" cy="1840698"/>
            <a:chOff x="1440075" y="2469725"/>
            <a:chExt cx="2339200" cy="1840698"/>
          </a:xfrm>
        </p:grpSpPr>
        <p:pic>
          <p:nvPicPr>
            <p:cNvPr id="883" name="Google Shape;883;p46"/>
            <p:cNvPicPr preferRelativeResize="0"/>
            <p:nvPr/>
          </p:nvPicPr>
          <p:blipFill rotWithShape="1">
            <a:blip r:embed="rId4">
              <a:alphaModFix/>
            </a:blip>
            <a:srcRect b="39748" l="9584" r="0" t="37911"/>
            <a:stretch/>
          </p:blipFill>
          <p:spPr>
            <a:xfrm>
              <a:off x="1440075" y="3427325"/>
              <a:ext cx="1135401" cy="280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84" name="Google Shape;884;p46"/>
            <p:cNvCxnSpPr>
              <a:stCxn id="881" idx="1"/>
              <a:endCxn id="883" idx="2"/>
            </p:cNvCxnSpPr>
            <p:nvPr/>
          </p:nvCxnSpPr>
          <p:spPr>
            <a:xfrm rot="10800000">
              <a:off x="2007909" y="3708023"/>
              <a:ext cx="1268400" cy="6024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85" name="Google Shape;885;p46"/>
            <p:cNvCxnSpPr>
              <a:endCxn id="883" idx="0"/>
            </p:cNvCxnSpPr>
            <p:nvPr/>
          </p:nvCxnSpPr>
          <p:spPr>
            <a:xfrm flipH="1">
              <a:off x="2007775" y="2469725"/>
              <a:ext cx="1771500" cy="9576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Injecting (</a:t>
            </a:r>
            <a:r>
              <a:rPr lang="en"/>
              <a:t>Sinusoidal</a:t>
            </a:r>
            <a:r>
              <a:rPr lang="en"/>
              <a:t>) Positional Encoding</a:t>
            </a:r>
            <a:endParaRPr/>
          </a:p>
        </p:txBody>
      </p:sp>
      <p:pic>
        <p:nvPicPr>
          <p:cNvPr id="891" name="Google Shape;891;p47"/>
          <p:cNvPicPr preferRelativeResize="0"/>
          <p:nvPr/>
        </p:nvPicPr>
        <p:blipFill rotWithShape="1">
          <a:blip r:embed="rId3">
            <a:alphaModFix/>
          </a:blip>
          <a:srcRect b="0" l="0" r="21004" t="0"/>
          <a:stretch/>
        </p:blipFill>
        <p:spPr>
          <a:xfrm>
            <a:off x="453375" y="1252225"/>
            <a:ext cx="5213674" cy="3639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92" name="Google Shape;892;p47"/>
          <p:cNvGrpSpPr/>
          <p:nvPr/>
        </p:nvGrpSpPr>
        <p:grpSpPr>
          <a:xfrm>
            <a:off x="5010425" y="1156849"/>
            <a:ext cx="3747550" cy="3830073"/>
            <a:chOff x="5010425" y="1156849"/>
            <a:chExt cx="3747550" cy="3830073"/>
          </a:xfrm>
        </p:grpSpPr>
        <p:pic>
          <p:nvPicPr>
            <p:cNvPr id="893" name="Google Shape;89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61449" y="1161500"/>
              <a:ext cx="2596526" cy="38209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4" name="Google Shape;894;p47"/>
            <p:cNvGrpSpPr/>
            <p:nvPr/>
          </p:nvGrpSpPr>
          <p:grpSpPr>
            <a:xfrm>
              <a:off x="5010425" y="1156849"/>
              <a:ext cx="1176301" cy="3830073"/>
              <a:chOff x="6180717" y="2289685"/>
              <a:chExt cx="1581900" cy="1392096"/>
            </a:xfrm>
          </p:grpSpPr>
          <p:cxnSp>
            <p:nvCxnSpPr>
              <p:cNvPr id="895" name="Google Shape;895;p47"/>
              <p:cNvCxnSpPr/>
              <p:nvPr/>
            </p:nvCxnSpPr>
            <p:spPr>
              <a:xfrm flipH="1" rot="10800000">
                <a:off x="6180717" y="2289685"/>
                <a:ext cx="1581900" cy="90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1C23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" name="Google Shape;896;p47"/>
              <p:cNvCxnSpPr/>
              <p:nvPr/>
            </p:nvCxnSpPr>
            <p:spPr>
              <a:xfrm>
                <a:off x="6180717" y="3318781"/>
                <a:ext cx="1545600" cy="363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1C23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97" name="Google Shape;897;p47"/>
          <p:cNvGrpSpPr/>
          <p:nvPr/>
        </p:nvGrpSpPr>
        <p:grpSpPr>
          <a:xfrm>
            <a:off x="6870805" y="445025"/>
            <a:ext cx="1781745" cy="573067"/>
            <a:chOff x="6870805" y="445025"/>
            <a:chExt cx="1781745" cy="573067"/>
          </a:xfrm>
        </p:grpSpPr>
        <p:pic>
          <p:nvPicPr>
            <p:cNvPr id="898" name="Google Shape;898;p4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40447" y="445025"/>
              <a:ext cx="1112104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9" name="Google Shape;899;p4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70805" y="445392"/>
              <a:ext cx="669645" cy="572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Injecting (Sinusoidal) Positional Encoding</a:t>
            </a:r>
            <a:endParaRPr/>
          </a:p>
        </p:txBody>
      </p:sp>
      <p:grpSp>
        <p:nvGrpSpPr>
          <p:cNvPr id="905" name="Google Shape;905;p48"/>
          <p:cNvGrpSpPr/>
          <p:nvPr/>
        </p:nvGrpSpPr>
        <p:grpSpPr>
          <a:xfrm>
            <a:off x="4859950" y="1156711"/>
            <a:ext cx="3898025" cy="3829913"/>
            <a:chOff x="4859950" y="1156711"/>
            <a:chExt cx="3898025" cy="3829913"/>
          </a:xfrm>
        </p:grpSpPr>
        <p:pic>
          <p:nvPicPr>
            <p:cNvPr id="906" name="Google Shape;906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1449" y="1161500"/>
              <a:ext cx="2596526" cy="38209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7" name="Google Shape;907;p48"/>
            <p:cNvGrpSpPr/>
            <p:nvPr/>
          </p:nvGrpSpPr>
          <p:grpSpPr>
            <a:xfrm>
              <a:off x="4859950" y="1156711"/>
              <a:ext cx="1326883" cy="3829913"/>
              <a:chOff x="5978356" y="2289635"/>
              <a:chExt cx="1784404" cy="1392038"/>
            </a:xfrm>
          </p:grpSpPr>
          <p:cxnSp>
            <p:nvCxnSpPr>
              <p:cNvPr id="908" name="Google Shape;908;p48"/>
              <p:cNvCxnSpPr/>
              <p:nvPr/>
            </p:nvCxnSpPr>
            <p:spPr>
              <a:xfrm flipH="1" rot="10800000">
                <a:off x="6033561" y="2289635"/>
                <a:ext cx="1729200" cy="183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1C23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48"/>
              <p:cNvCxnSpPr/>
              <p:nvPr/>
            </p:nvCxnSpPr>
            <p:spPr>
              <a:xfrm>
                <a:off x="5978356" y="3124873"/>
                <a:ext cx="1748100" cy="556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1C23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10" name="Google Shape;910;p48"/>
          <p:cNvGrpSpPr/>
          <p:nvPr/>
        </p:nvGrpSpPr>
        <p:grpSpPr>
          <a:xfrm>
            <a:off x="6870805" y="445025"/>
            <a:ext cx="1781745" cy="573067"/>
            <a:chOff x="6870805" y="445025"/>
            <a:chExt cx="1781745" cy="573067"/>
          </a:xfrm>
        </p:grpSpPr>
        <p:pic>
          <p:nvPicPr>
            <p:cNvPr id="911" name="Google Shape;911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40447" y="445025"/>
              <a:ext cx="1112104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2" name="Google Shape;912;p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70805" y="445392"/>
              <a:ext cx="669645" cy="572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13" name="Google Shape;913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800" y="1660438"/>
            <a:ext cx="4705625" cy="1822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original DNA gets lost over layers? </a:t>
            </a:r>
            <a:r>
              <a:rPr i="1" lang="en">
                <a:solidFill>
                  <a:srgbClr val="FF0000"/>
                </a:solidFill>
              </a:rPr>
              <a:t>Residuals</a:t>
            </a:r>
            <a:endParaRPr i="1">
              <a:solidFill>
                <a:srgbClr val="FF0000"/>
              </a:solidFill>
            </a:endParaRPr>
          </a:p>
        </p:txBody>
      </p:sp>
      <p:pic>
        <p:nvPicPr>
          <p:cNvPr id="919" name="Google Shape;91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25" y="1099800"/>
            <a:ext cx="4084886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687" y="1385800"/>
            <a:ext cx="1990725" cy="10001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0"/>
          <p:cNvSpPr txBox="1"/>
          <p:nvPr>
            <p:ph type="title"/>
          </p:nvPr>
        </p:nvSpPr>
        <p:spPr>
          <a:xfrm>
            <a:off x="311700" y="23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final bit → Feed Forward Network (the real deal?)</a:t>
            </a:r>
            <a:endParaRPr i="1">
              <a:solidFill>
                <a:srgbClr val="FF0000"/>
              </a:solidFill>
            </a:endParaRPr>
          </a:p>
        </p:txBody>
      </p:sp>
      <p:pic>
        <p:nvPicPr>
          <p:cNvPr id="926" name="Google Shape;9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25" y="2414925"/>
            <a:ext cx="4009708" cy="25718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27" name="Google Shape;927;p50"/>
          <p:cNvGrpSpPr/>
          <p:nvPr/>
        </p:nvGrpSpPr>
        <p:grpSpPr>
          <a:xfrm>
            <a:off x="3587775" y="1017729"/>
            <a:ext cx="4965671" cy="3969678"/>
            <a:chOff x="3587775" y="1017729"/>
            <a:chExt cx="4965671" cy="3969678"/>
          </a:xfrm>
        </p:grpSpPr>
        <p:grpSp>
          <p:nvGrpSpPr>
            <p:cNvPr id="928" name="Google Shape;928;p50"/>
            <p:cNvGrpSpPr/>
            <p:nvPr/>
          </p:nvGrpSpPr>
          <p:grpSpPr>
            <a:xfrm>
              <a:off x="3587775" y="1030403"/>
              <a:ext cx="1304135" cy="3957005"/>
              <a:chOff x="4257224" y="2294601"/>
              <a:chExt cx="1850100" cy="1387352"/>
            </a:xfrm>
          </p:grpSpPr>
          <p:cxnSp>
            <p:nvCxnSpPr>
              <p:cNvPr id="929" name="Google Shape;929;p50"/>
              <p:cNvCxnSpPr/>
              <p:nvPr/>
            </p:nvCxnSpPr>
            <p:spPr>
              <a:xfrm flipH="1" rot="10800000">
                <a:off x="4257224" y="2294601"/>
                <a:ext cx="1850100" cy="567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FC5E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0" name="Google Shape;930;p50"/>
              <p:cNvCxnSpPr/>
              <p:nvPr/>
            </p:nvCxnSpPr>
            <p:spPr>
              <a:xfrm>
                <a:off x="4412459" y="3053453"/>
                <a:ext cx="1676400" cy="628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FC5E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id="931" name="Google Shape;9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91597" y="1017729"/>
              <a:ext cx="3661850" cy="3957024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932" name="Google Shape;93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4275" y="4335924"/>
            <a:ext cx="803150" cy="6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0"/>
          <p:cNvSpPr txBox="1"/>
          <p:nvPr/>
        </p:nvSpPr>
        <p:spPr>
          <a:xfrm>
            <a:off x="4883375" y="31537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Follow-up distr.</a:t>
            </a:r>
            <a:endParaRPr sz="1800">
              <a:solidFill>
                <a:srgbClr val="FF9900"/>
              </a:solidFill>
            </a:endParaRPr>
          </a:p>
        </p:txBody>
      </p:sp>
      <p:grpSp>
        <p:nvGrpSpPr>
          <p:cNvPr id="934" name="Google Shape;934;p50"/>
          <p:cNvGrpSpPr/>
          <p:nvPr/>
        </p:nvGrpSpPr>
        <p:grpSpPr>
          <a:xfrm>
            <a:off x="350700" y="1017722"/>
            <a:ext cx="3529300" cy="1739328"/>
            <a:chOff x="3189941" y="1368457"/>
            <a:chExt cx="3824970" cy="2071615"/>
          </a:xfrm>
        </p:grpSpPr>
        <p:pic>
          <p:nvPicPr>
            <p:cNvPr id="935" name="Google Shape;935;p50"/>
            <p:cNvPicPr preferRelativeResize="0"/>
            <p:nvPr/>
          </p:nvPicPr>
          <p:blipFill rotWithShape="1">
            <a:blip r:embed="rId6">
              <a:alphaModFix/>
            </a:blip>
            <a:srcRect b="0" l="9925" r="27291" t="9173"/>
            <a:stretch/>
          </p:blipFill>
          <p:spPr>
            <a:xfrm>
              <a:off x="4765997" y="1368457"/>
              <a:ext cx="1294706" cy="1307795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936" name="Google Shape;936;p50"/>
            <p:cNvGrpSpPr/>
            <p:nvPr/>
          </p:nvGrpSpPr>
          <p:grpSpPr>
            <a:xfrm>
              <a:off x="3189941" y="2690593"/>
              <a:ext cx="3824970" cy="749480"/>
              <a:chOff x="3189941" y="2690593"/>
              <a:chExt cx="3824970" cy="749480"/>
            </a:xfrm>
          </p:grpSpPr>
          <p:cxnSp>
            <p:nvCxnSpPr>
              <p:cNvPr id="937" name="Google Shape;937;p50"/>
              <p:cNvCxnSpPr/>
              <p:nvPr/>
            </p:nvCxnSpPr>
            <p:spPr>
              <a:xfrm flipH="1" rot="10800000">
                <a:off x="3189941" y="2706872"/>
                <a:ext cx="1566300" cy="733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FC5E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" name="Google Shape;938;p50"/>
              <p:cNvCxnSpPr/>
              <p:nvPr/>
            </p:nvCxnSpPr>
            <p:spPr>
              <a:xfrm rot="10800000">
                <a:off x="6090311" y="2690593"/>
                <a:ext cx="924600" cy="684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9FC5E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Transformer Architecture: </a:t>
            </a:r>
            <a:r>
              <a:rPr i="1" lang="en" sz="2320">
                <a:solidFill>
                  <a:srgbClr val="000000"/>
                </a:solidFill>
              </a:rPr>
              <a:t>The final</a:t>
            </a:r>
            <a:r>
              <a:rPr i="1" lang="en" sz="2320">
                <a:solidFill>
                  <a:srgbClr val="FF0000"/>
                </a:solidFill>
              </a:rPr>
              <a:t> Encoder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944" name="Google Shape;9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75" y="1972325"/>
            <a:ext cx="4015874" cy="261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45" name="Google Shape;945;p51"/>
          <p:cNvGrpSpPr/>
          <p:nvPr/>
        </p:nvGrpSpPr>
        <p:grpSpPr>
          <a:xfrm>
            <a:off x="1635850" y="1007225"/>
            <a:ext cx="6106426" cy="3857700"/>
            <a:chOff x="1635850" y="1007225"/>
            <a:chExt cx="6106426" cy="3857700"/>
          </a:xfrm>
        </p:grpSpPr>
        <p:grpSp>
          <p:nvGrpSpPr>
            <p:cNvPr id="946" name="Google Shape;946;p51"/>
            <p:cNvGrpSpPr/>
            <p:nvPr/>
          </p:nvGrpSpPr>
          <p:grpSpPr>
            <a:xfrm>
              <a:off x="1635850" y="1007225"/>
              <a:ext cx="3538875" cy="3830375"/>
              <a:chOff x="1635850" y="1007225"/>
              <a:chExt cx="3538875" cy="3830375"/>
            </a:xfrm>
          </p:grpSpPr>
          <p:cxnSp>
            <p:nvCxnSpPr>
              <p:cNvPr id="947" name="Google Shape;947;p51"/>
              <p:cNvCxnSpPr/>
              <p:nvPr/>
            </p:nvCxnSpPr>
            <p:spPr>
              <a:xfrm flipH="1" rot="10800000">
                <a:off x="1635850" y="1007225"/>
                <a:ext cx="3525000" cy="2909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8761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" name="Google Shape;948;p51"/>
              <p:cNvCxnSpPr/>
              <p:nvPr/>
            </p:nvCxnSpPr>
            <p:spPr>
              <a:xfrm>
                <a:off x="1643725" y="4097500"/>
                <a:ext cx="3531000" cy="740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8761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id="949" name="Google Shape;949;p51"/>
            <p:cNvPicPr preferRelativeResize="0"/>
            <p:nvPr/>
          </p:nvPicPr>
          <p:blipFill rotWithShape="1">
            <a:blip r:embed="rId4">
              <a:alphaModFix/>
            </a:blip>
            <a:srcRect b="6329" l="6826" r="48111" t="32036"/>
            <a:stretch/>
          </p:blipFill>
          <p:spPr>
            <a:xfrm>
              <a:off x="5171175" y="1017725"/>
              <a:ext cx="2571101" cy="38472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Transformer Architecture: </a:t>
            </a:r>
            <a:r>
              <a:rPr i="1" lang="en" sz="2320">
                <a:solidFill>
                  <a:srgbClr val="000000"/>
                </a:solidFill>
              </a:rPr>
              <a:t>The </a:t>
            </a:r>
            <a:r>
              <a:rPr i="1" lang="en" sz="2320">
                <a:solidFill>
                  <a:srgbClr val="FF0000"/>
                </a:solidFill>
              </a:rPr>
              <a:t>Decoder (Conditional LM)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pic>
        <p:nvPicPr>
          <p:cNvPr id="955" name="Google Shape;95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00" y="2642625"/>
            <a:ext cx="3474449" cy="2262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56" name="Google Shape;956;p52"/>
          <p:cNvGrpSpPr/>
          <p:nvPr/>
        </p:nvGrpSpPr>
        <p:grpSpPr>
          <a:xfrm>
            <a:off x="3259450" y="1017451"/>
            <a:ext cx="5752777" cy="3505101"/>
            <a:chOff x="3259450" y="1017451"/>
            <a:chExt cx="5752777" cy="3505101"/>
          </a:xfrm>
        </p:grpSpPr>
        <p:grpSp>
          <p:nvGrpSpPr>
            <p:cNvPr id="957" name="Google Shape;957;p52"/>
            <p:cNvGrpSpPr/>
            <p:nvPr/>
          </p:nvGrpSpPr>
          <p:grpSpPr>
            <a:xfrm>
              <a:off x="3259450" y="1017451"/>
              <a:ext cx="669321" cy="3505101"/>
              <a:chOff x="3284543" y="1006757"/>
              <a:chExt cx="1875900" cy="3514943"/>
            </a:xfrm>
          </p:grpSpPr>
          <p:cxnSp>
            <p:nvCxnSpPr>
              <p:cNvPr id="958" name="Google Shape;958;p52"/>
              <p:cNvCxnSpPr/>
              <p:nvPr/>
            </p:nvCxnSpPr>
            <p:spPr>
              <a:xfrm flipH="1" rot="10800000">
                <a:off x="3284543" y="1006757"/>
                <a:ext cx="1875900" cy="1991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" name="Google Shape;959;p52"/>
              <p:cNvCxnSpPr/>
              <p:nvPr/>
            </p:nvCxnSpPr>
            <p:spPr>
              <a:xfrm flipH="1" rot="10800000">
                <a:off x="3286825" y="3807400"/>
                <a:ext cx="1838100" cy="714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id="960" name="Google Shape;960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28850" y="1017725"/>
              <a:ext cx="5083377" cy="279265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961" name="Google Shape;961;p52"/>
          <p:cNvGrpSpPr/>
          <p:nvPr/>
        </p:nvGrpSpPr>
        <p:grpSpPr>
          <a:xfrm>
            <a:off x="5913275" y="1402775"/>
            <a:ext cx="1258500" cy="834550"/>
            <a:chOff x="5913275" y="1402775"/>
            <a:chExt cx="1258500" cy="834550"/>
          </a:xfrm>
        </p:grpSpPr>
        <p:sp>
          <p:nvSpPr>
            <p:cNvPr id="962" name="Google Shape;962;p52"/>
            <p:cNvSpPr/>
            <p:nvPr/>
          </p:nvSpPr>
          <p:spPr>
            <a:xfrm>
              <a:off x="5998530" y="1753725"/>
              <a:ext cx="858600" cy="4836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52"/>
            <p:cNvSpPr txBox="1"/>
            <p:nvPr/>
          </p:nvSpPr>
          <p:spPr>
            <a:xfrm>
              <a:off x="5913275" y="1402775"/>
              <a:ext cx="125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Condition</a:t>
              </a:r>
              <a:endParaRPr sz="1600">
                <a:solidFill>
                  <a:srgbClr val="FF0000"/>
                </a:solidFill>
              </a:endParaRPr>
            </a:p>
          </p:txBody>
        </p:sp>
      </p:grpSp>
      <p:grpSp>
        <p:nvGrpSpPr>
          <p:cNvPr id="964" name="Google Shape;964;p52"/>
          <p:cNvGrpSpPr/>
          <p:nvPr/>
        </p:nvGrpSpPr>
        <p:grpSpPr>
          <a:xfrm>
            <a:off x="1326713" y="2691245"/>
            <a:ext cx="1258500" cy="1488380"/>
            <a:chOff x="6022713" y="2497795"/>
            <a:chExt cx="1258500" cy="1488380"/>
          </a:xfrm>
        </p:grpSpPr>
        <p:sp>
          <p:nvSpPr>
            <p:cNvPr id="965" name="Google Shape;965;p52"/>
            <p:cNvSpPr/>
            <p:nvPr/>
          </p:nvSpPr>
          <p:spPr>
            <a:xfrm>
              <a:off x="6354950" y="2861775"/>
              <a:ext cx="438000" cy="1124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52"/>
            <p:cNvSpPr txBox="1"/>
            <p:nvPr/>
          </p:nvSpPr>
          <p:spPr>
            <a:xfrm>
              <a:off x="6022713" y="2497795"/>
              <a:ext cx="125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Condition</a:t>
              </a:r>
              <a:endParaRPr sz="16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Transformer Architecture: </a:t>
            </a:r>
            <a:r>
              <a:rPr i="1" lang="en" sz="2620">
                <a:solidFill>
                  <a:srgbClr val="000000"/>
                </a:solidFill>
              </a:rPr>
              <a:t>Deeper into the </a:t>
            </a:r>
            <a:r>
              <a:rPr i="1" lang="en" sz="2620">
                <a:solidFill>
                  <a:srgbClr val="FF0000"/>
                </a:solidFill>
              </a:rPr>
              <a:t>Decoder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pic>
        <p:nvPicPr>
          <p:cNvPr id="972" name="Google Shape;97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00" y="2642625"/>
            <a:ext cx="3474449" cy="2262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73" name="Google Shape;973;p53"/>
          <p:cNvGrpSpPr/>
          <p:nvPr/>
        </p:nvGrpSpPr>
        <p:grpSpPr>
          <a:xfrm>
            <a:off x="1326713" y="2691245"/>
            <a:ext cx="1258500" cy="1488380"/>
            <a:chOff x="6022713" y="2497795"/>
            <a:chExt cx="1258500" cy="1488380"/>
          </a:xfrm>
        </p:grpSpPr>
        <p:sp>
          <p:nvSpPr>
            <p:cNvPr id="974" name="Google Shape;974;p53"/>
            <p:cNvSpPr/>
            <p:nvPr/>
          </p:nvSpPr>
          <p:spPr>
            <a:xfrm>
              <a:off x="6354950" y="2861775"/>
              <a:ext cx="438000" cy="1124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53"/>
            <p:cNvSpPr txBox="1"/>
            <p:nvPr/>
          </p:nvSpPr>
          <p:spPr>
            <a:xfrm>
              <a:off x="6022713" y="2497795"/>
              <a:ext cx="125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Condition</a:t>
              </a:r>
              <a:endParaRPr sz="1600">
                <a:solidFill>
                  <a:srgbClr val="FF0000"/>
                </a:solidFill>
              </a:endParaRPr>
            </a:p>
          </p:txBody>
        </p:sp>
      </p:grpSp>
      <p:grpSp>
        <p:nvGrpSpPr>
          <p:cNvPr id="976" name="Google Shape;976;p53"/>
          <p:cNvGrpSpPr/>
          <p:nvPr/>
        </p:nvGrpSpPr>
        <p:grpSpPr>
          <a:xfrm>
            <a:off x="3259450" y="1407177"/>
            <a:ext cx="5456083" cy="3115376"/>
            <a:chOff x="3259450" y="1407177"/>
            <a:chExt cx="5456083" cy="3115376"/>
          </a:xfrm>
        </p:grpSpPr>
        <p:grpSp>
          <p:nvGrpSpPr>
            <p:cNvPr id="977" name="Google Shape;977;p53"/>
            <p:cNvGrpSpPr/>
            <p:nvPr/>
          </p:nvGrpSpPr>
          <p:grpSpPr>
            <a:xfrm>
              <a:off x="3259450" y="1429865"/>
              <a:ext cx="1039744" cy="3092687"/>
              <a:chOff x="3284543" y="1420329"/>
              <a:chExt cx="2914082" cy="3101371"/>
            </a:xfrm>
          </p:grpSpPr>
          <p:cxnSp>
            <p:nvCxnSpPr>
              <p:cNvPr id="978" name="Google Shape;978;p53"/>
              <p:cNvCxnSpPr/>
              <p:nvPr/>
            </p:nvCxnSpPr>
            <p:spPr>
              <a:xfrm flipH="1" rot="10800000">
                <a:off x="3284543" y="1420329"/>
                <a:ext cx="2760300" cy="2853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9" name="Google Shape;979;p53"/>
              <p:cNvCxnSpPr/>
              <p:nvPr/>
            </p:nvCxnSpPr>
            <p:spPr>
              <a:xfrm flipH="1" rot="10800000">
                <a:off x="3286825" y="4342300"/>
                <a:ext cx="2911800" cy="179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id="980" name="Google Shape;980;p53"/>
            <p:cNvPicPr preferRelativeResize="0"/>
            <p:nvPr/>
          </p:nvPicPr>
          <p:blipFill rotWithShape="1">
            <a:blip r:embed="rId4">
              <a:alphaModFix/>
            </a:blip>
            <a:srcRect b="0" l="51969" r="0" t="0"/>
            <a:stretch/>
          </p:blipFill>
          <p:spPr>
            <a:xfrm>
              <a:off x="4271751" y="1407177"/>
              <a:ext cx="4443782" cy="29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1" name="Google Shape;981;p53"/>
          <p:cNvGrpSpPr/>
          <p:nvPr/>
        </p:nvGrpSpPr>
        <p:grpSpPr>
          <a:xfrm>
            <a:off x="1971775" y="1335375"/>
            <a:ext cx="2299875" cy="1955213"/>
            <a:chOff x="1971775" y="1335375"/>
            <a:chExt cx="2299875" cy="1955213"/>
          </a:xfrm>
        </p:grpSpPr>
        <p:pic>
          <p:nvPicPr>
            <p:cNvPr id="982" name="Google Shape;982;p5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71775" y="1335375"/>
              <a:ext cx="1704975" cy="10382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83" name="Google Shape;983;p53"/>
            <p:cNvCxnSpPr>
              <a:stCxn id="982" idx="3"/>
            </p:cNvCxnSpPr>
            <p:nvPr/>
          </p:nvCxnSpPr>
          <p:spPr>
            <a:xfrm>
              <a:off x="3676750" y="1854488"/>
              <a:ext cx="594900" cy="1436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84" name="Google Shape;984;p53"/>
          <p:cNvCxnSpPr>
            <a:stCxn id="975" idx="0"/>
            <a:endCxn id="982" idx="2"/>
          </p:cNvCxnSpPr>
          <p:nvPr/>
        </p:nvCxnSpPr>
        <p:spPr>
          <a:xfrm flipH="1" rot="10800000">
            <a:off x="1955963" y="2373545"/>
            <a:ext cx="868200" cy="31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85" name="Google Shape;985;p53"/>
          <p:cNvGrpSpPr/>
          <p:nvPr/>
        </p:nvGrpSpPr>
        <p:grpSpPr>
          <a:xfrm>
            <a:off x="4616650" y="2642574"/>
            <a:ext cx="3901255" cy="675907"/>
            <a:chOff x="6130705" y="2629378"/>
            <a:chExt cx="3678000" cy="1256100"/>
          </a:xfrm>
        </p:grpSpPr>
        <p:sp>
          <p:nvSpPr>
            <p:cNvPr id="986" name="Google Shape;986;p53"/>
            <p:cNvSpPr/>
            <p:nvPr/>
          </p:nvSpPr>
          <p:spPr>
            <a:xfrm>
              <a:off x="6130705" y="2629378"/>
              <a:ext cx="3678000" cy="12561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53"/>
            <p:cNvSpPr txBox="1"/>
            <p:nvPr/>
          </p:nvSpPr>
          <p:spPr>
            <a:xfrm>
              <a:off x="6166390" y="3064244"/>
              <a:ext cx="2001000" cy="8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Condition Injected</a:t>
              </a:r>
              <a:endParaRPr sz="16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(Forward) Masked Multi-Head Attention</a:t>
            </a:r>
            <a:endParaRPr/>
          </a:p>
        </p:txBody>
      </p:sp>
      <p:pic>
        <p:nvPicPr>
          <p:cNvPr id="993" name="Google Shape;993;p54"/>
          <p:cNvPicPr preferRelativeResize="0"/>
          <p:nvPr/>
        </p:nvPicPr>
        <p:blipFill rotWithShape="1">
          <a:blip r:embed="rId3">
            <a:alphaModFix/>
          </a:blip>
          <a:srcRect b="56265" l="0" r="0" t="0"/>
          <a:stretch/>
        </p:blipFill>
        <p:spPr>
          <a:xfrm>
            <a:off x="44375" y="3181600"/>
            <a:ext cx="8934450" cy="624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4" name="Google Shape;994;p54"/>
          <p:cNvGrpSpPr/>
          <p:nvPr/>
        </p:nvGrpSpPr>
        <p:grpSpPr>
          <a:xfrm>
            <a:off x="2856599" y="2178205"/>
            <a:ext cx="2365581" cy="1156445"/>
            <a:chOff x="2856599" y="2178205"/>
            <a:chExt cx="2365581" cy="1156445"/>
          </a:xfrm>
        </p:grpSpPr>
        <p:sp>
          <p:nvSpPr>
            <p:cNvPr id="995" name="Google Shape;995;p54"/>
            <p:cNvSpPr/>
            <p:nvPr/>
          </p:nvSpPr>
          <p:spPr>
            <a:xfrm>
              <a:off x="2856599" y="2178205"/>
              <a:ext cx="2365581" cy="1156337"/>
            </a:xfrm>
            <a:custGeom>
              <a:rect b="b" l="l" r="r" t="t"/>
              <a:pathLst>
                <a:path extrusionOk="0" h="47827" w="37436">
                  <a:moveTo>
                    <a:pt x="0" y="46884"/>
                  </a:moveTo>
                  <a:cubicBezTo>
                    <a:pt x="3565" y="39072"/>
                    <a:pt x="15153" y="-147"/>
                    <a:pt x="21392" y="10"/>
                  </a:cubicBezTo>
                  <a:cubicBezTo>
                    <a:pt x="27631" y="167"/>
                    <a:pt x="34762" y="39858"/>
                    <a:pt x="37436" y="47828"/>
                  </a:cubicBez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996" name="Google Shape;996;p54"/>
            <p:cNvCxnSpPr/>
            <p:nvPr/>
          </p:nvCxnSpPr>
          <p:spPr>
            <a:xfrm>
              <a:off x="5064850" y="3082950"/>
              <a:ext cx="149400" cy="251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97" name="Google Shape;997;p54"/>
          <p:cNvGrpSpPr/>
          <p:nvPr/>
        </p:nvGrpSpPr>
        <p:grpSpPr>
          <a:xfrm>
            <a:off x="5580749" y="2178255"/>
            <a:ext cx="2365581" cy="1156337"/>
            <a:chOff x="5428349" y="2025855"/>
            <a:chExt cx="2365581" cy="1156337"/>
          </a:xfrm>
        </p:grpSpPr>
        <p:sp>
          <p:nvSpPr>
            <p:cNvPr id="998" name="Google Shape;998;p54"/>
            <p:cNvSpPr/>
            <p:nvPr/>
          </p:nvSpPr>
          <p:spPr>
            <a:xfrm>
              <a:off x="5428349" y="2025855"/>
              <a:ext cx="2365581" cy="1156337"/>
            </a:xfrm>
            <a:custGeom>
              <a:rect b="b" l="l" r="r" t="t"/>
              <a:pathLst>
                <a:path extrusionOk="0" h="47827" w="37436">
                  <a:moveTo>
                    <a:pt x="0" y="46884"/>
                  </a:moveTo>
                  <a:cubicBezTo>
                    <a:pt x="3565" y="39072"/>
                    <a:pt x="15153" y="-147"/>
                    <a:pt x="21392" y="10"/>
                  </a:cubicBezTo>
                  <a:cubicBezTo>
                    <a:pt x="27631" y="167"/>
                    <a:pt x="34762" y="39858"/>
                    <a:pt x="37436" y="47828"/>
                  </a:cubicBez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999" name="Google Shape;999;p54"/>
            <p:cNvCxnSpPr/>
            <p:nvPr/>
          </p:nvCxnSpPr>
          <p:spPr>
            <a:xfrm flipH="1">
              <a:off x="5431575" y="2851900"/>
              <a:ext cx="298800" cy="31470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00" name="Google Shape;1000;p54"/>
          <p:cNvSpPr/>
          <p:nvPr/>
        </p:nvSpPr>
        <p:spPr>
          <a:xfrm>
            <a:off x="4352401" y="3273254"/>
            <a:ext cx="16089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4"/>
          <p:cNvSpPr txBox="1"/>
          <p:nvPr/>
        </p:nvSpPr>
        <p:spPr>
          <a:xfrm>
            <a:off x="2327925" y="3845825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John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002" name="Google Shape;1002;p54"/>
          <p:cNvSpPr txBox="1"/>
          <p:nvPr/>
        </p:nvSpPr>
        <p:spPr>
          <a:xfrm>
            <a:off x="4704600" y="3880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loves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1003" name="Google Shape;1003;p54"/>
          <p:cNvSpPr txBox="1"/>
          <p:nvPr/>
        </p:nvSpPr>
        <p:spPr>
          <a:xfrm>
            <a:off x="7398700" y="3759250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Mary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004" name="Google Shape;1004;p54"/>
          <p:cNvSpPr/>
          <p:nvPr/>
        </p:nvSpPr>
        <p:spPr>
          <a:xfrm>
            <a:off x="6728823" y="2023000"/>
            <a:ext cx="300550" cy="3251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sp>
        <p:nvSpPr>
          <p:cNvPr id="1005" name="Google Shape;1005;p54"/>
          <p:cNvSpPr txBox="1"/>
          <p:nvPr/>
        </p:nvSpPr>
        <p:spPr>
          <a:xfrm>
            <a:off x="3118100" y="2200925"/>
            <a:ext cx="4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%</a:t>
            </a:r>
            <a:endParaRPr sz="18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(Forward) Masking-based Self-Attention</a:t>
            </a:r>
            <a:endParaRPr/>
          </a:p>
        </p:txBody>
      </p:sp>
      <p:pic>
        <p:nvPicPr>
          <p:cNvPr id="1011" name="Google Shape;101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7200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2" name="Google Shape;1012;p55"/>
          <p:cNvGrpSpPr/>
          <p:nvPr/>
        </p:nvGrpSpPr>
        <p:grpSpPr>
          <a:xfrm>
            <a:off x="3437300" y="1528013"/>
            <a:ext cx="5622700" cy="2637987"/>
            <a:chOff x="3437300" y="1528013"/>
            <a:chExt cx="5622700" cy="2637987"/>
          </a:xfrm>
        </p:grpSpPr>
        <p:pic>
          <p:nvPicPr>
            <p:cNvPr id="1013" name="Google Shape;1013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45200" y="1528013"/>
              <a:ext cx="4114800" cy="2634615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1014" name="Google Shape;1014;p55"/>
            <p:cNvGrpSpPr/>
            <p:nvPr/>
          </p:nvGrpSpPr>
          <p:grpSpPr>
            <a:xfrm>
              <a:off x="3437300" y="1539621"/>
              <a:ext cx="1518257" cy="2626378"/>
              <a:chOff x="3783002" y="1530394"/>
              <a:chExt cx="4255204" cy="2633753"/>
            </a:xfrm>
          </p:grpSpPr>
          <p:cxnSp>
            <p:nvCxnSpPr>
              <p:cNvPr id="1015" name="Google Shape;1015;p55"/>
              <p:cNvCxnSpPr/>
              <p:nvPr/>
            </p:nvCxnSpPr>
            <p:spPr>
              <a:xfrm flipH="1" rot="10800000">
                <a:off x="3974706" y="1530394"/>
                <a:ext cx="4063500" cy="89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6" name="Google Shape;1016;p55"/>
              <p:cNvCxnSpPr/>
              <p:nvPr/>
            </p:nvCxnSpPr>
            <p:spPr>
              <a:xfrm>
                <a:off x="3783002" y="3217646"/>
                <a:ext cx="4217400" cy="946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(Forward) Masked Multi-Head Attention</a:t>
            </a:r>
            <a:endParaRPr/>
          </a:p>
        </p:txBody>
      </p:sp>
      <p:pic>
        <p:nvPicPr>
          <p:cNvPr id="1022" name="Google Shape;1022;p56"/>
          <p:cNvPicPr preferRelativeResize="0"/>
          <p:nvPr/>
        </p:nvPicPr>
        <p:blipFill rotWithShape="1">
          <a:blip r:embed="rId3">
            <a:alphaModFix/>
          </a:blip>
          <a:srcRect b="18433" l="52781" r="0" t="0"/>
          <a:stretch/>
        </p:blipFill>
        <p:spPr>
          <a:xfrm>
            <a:off x="249975" y="1871975"/>
            <a:ext cx="2284474" cy="25266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23" name="Google Shape;1023;p56"/>
          <p:cNvGrpSpPr/>
          <p:nvPr/>
        </p:nvGrpSpPr>
        <p:grpSpPr>
          <a:xfrm>
            <a:off x="2055650" y="1279550"/>
            <a:ext cx="6776650" cy="2804400"/>
            <a:chOff x="2055650" y="1279550"/>
            <a:chExt cx="6776650" cy="2804400"/>
          </a:xfrm>
        </p:grpSpPr>
        <p:pic>
          <p:nvPicPr>
            <p:cNvPr id="1024" name="Google Shape;1024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50625" y="1279550"/>
              <a:ext cx="5481675" cy="28044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1025" name="Google Shape;1025;p56"/>
            <p:cNvGrpSpPr/>
            <p:nvPr/>
          </p:nvGrpSpPr>
          <p:grpSpPr>
            <a:xfrm>
              <a:off x="2055650" y="1293288"/>
              <a:ext cx="1285764" cy="2776947"/>
              <a:chOff x="3859655" y="881494"/>
              <a:chExt cx="3603600" cy="2784744"/>
            </a:xfrm>
          </p:grpSpPr>
          <p:cxnSp>
            <p:nvCxnSpPr>
              <p:cNvPr id="1026" name="Google Shape;1026;p56"/>
              <p:cNvCxnSpPr/>
              <p:nvPr/>
            </p:nvCxnSpPr>
            <p:spPr>
              <a:xfrm flipH="1" rot="10800000">
                <a:off x="3974706" y="881494"/>
                <a:ext cx="3411900" cy="1540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7" name="Google Shape;1027;p56"/>
              <p:cNvCxnSpPr/>
              <p:nvPr/>
            </p:nvCxnSpPr>
            <p:spPr>
              <a:xfrm>
                <a:off x="3859655" y="3625137"/>
                <a:ext cx="3603600" cy="41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(Forward</a:t>
            </a:r>
            <a:r>
              <a:rPr lang="en"/>
              <a:t>/</a:t>
            </a:r>
            <a:r>
              <a:rPr lang="en" u="sng">
                <a:solidFill>
                  <a:srgbClr val="FF0000"/>
                </a:solidFill>
              </a:rPr>
              <a:t>Causal</a:t>
            </a:r>
            <a:r>
              <a:rPr lang="en"/>
              <a:t>)</a:t>
            </a:r>
            <a:r>
              <a:rPr lang="en"/>
              <a:t> Masked Multi-Head Attention</a:t>
            </a:r>
            <a:endParaRPr/>
          </a:p>
        </p:txBody>
      </p:sp>
      <p:pic>
        <p:nvPicPr>
          <p:cNvPr id="1033" name="Google Shape;103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912" y="1222925"/>
            <a:ext cx="6378174" cy="35039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4" name="Google Shape;1034;p57"/>
          <p:cNvSpPr/>
          <p:nvPr/>
        </p:nvSpPr>
        <p:spPr>
          <a:xfrm>
            <a:off x="4434476" y="4240900"/>
            <a:ext cx="931500" cy="48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5" name="Google Shape;1035;p57"/>
          <p:cNvPicPr preferRelativeResize="0"/>
          <p:nvPr/>
        </p:nvPicPr>
        <p:blipFill rotWithShape="1">
          <a:blip r:embed="rId4">
            <a:alphaModFix/>
          </a:blip>
          <a:srcRect b="18440" l="52781" r="0" t="17531"/>
          <a:stretch/>
        </p:blipFill>
        <p:spPr>
          <a:xfrm>
            <a:off x="7260200" y="3635479"/>
            <a:ext cx="1572098" cy="136499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Transformer Architecture: </a:t>
            </a:r>
            <a:r>
              <a:rPr i="1" lang="en" sz="2620">
                <a:solidFill>
                  <a:srgbClr val="FF0000"/>
                </a:solidFill>
              </a:rPr>
              <a:t>Encoder-</a:t>
            </a:r>
            <a:r>
              <a:rPr i="1" lang="en" sz="2620">
                <a:solidFill>
                  <a:srgbClr val="FF0000"/>
                </a:solidFill>
              </a:rPr>
              <a:t>Decoder Attention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pic>
        <p:nvPicPr>
          <p:cNvPr id="1041" name="Google Shape;1041;p58"/>
          <p:cNvPicPr preferRelativeResize="0"/>
          <p:nvPr/>
        </p:nvPicPr>
        <p:blipFill rotWithShape="1">
          <a:blip r:embed="rId3">
            <a:alphaModFix/>
          </a:blip>
          <a:srcRect b="0" l="51969" r="0" t="0"/>
          <a:stretch/>
        </p:blipFill>
        <p:spPr>
          <a:xfrm>
            <a:off x="87175" y="2706725"/>
            <a:ext cx="3421624" cy="2261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5500" y="3346250"/>
            <a:ext cx="2447004" cy="1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3" name="Google Shape;1043;p58"/>
          <p:cNvGrpSpPr/>
          <p:nvPr/>
        </p:nvGrpSpPr>
        <p:grpSpPr>
          <a:xfrm>
            <a:off x="3661881" y="1379466"/>
            <a:ext cx="3920308" cy="1405040"/>
            <a:chOff x="3661887" y="1379393"/>
            <a:chExt cx="3277027" cy="892542"/>
          </a:xfrm>
        </p:grpSpPr>
        <p:grpSp>
          <p:nvGrpSpPr>
            <p:cNvPr id="1044" name="Google Shape;1044;p58"/>
            <p:cNvGrpSpPr/>
            <p:nvPr/>
          </p:nvGrpSpPr>
          <p:grpSpPr>
            <a:xfrm>
              <a:off x="3661887" y="1379393"/>
              <a:ext cx="3277027" cy="892542"/>
              <a:chOff x="3018962" y="1146843"/>
              <a:chExt cx="3277027" cy="892542"/>
            </a:xfrm>
          </p:grpSpPr>
          <p:sp>
            <p:nvSpPr>
              <p:cNvPr id="1045" name="Google Shape;1045;p58"/>
              <p:cNvSpPr txBox="1"/>
              <p:nvPr/>
            </p:nvSpPr>
            <p:spPr>
              <a:xfrm>
                <a:off x="3395072" y="1480975"/>
                <a:ext cx="329400" cy="29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" sz="1800">
                    <a:solidFill>
                      <a:srgbClr val="FF0000"/>
                    </a:solidFill>
                  </a:rPr>
                  <a:t>=</a:t>
                </a:r>
                <a:endParaRPr baseline="-25000">
                  <a:solidFill>
                    <a:srgbClr val="FF0000"/>
                  </a:solidFill>
                </a:endParaRPr>
              </a:p>
            </p:txBody>
          </p:sp>
          <p:pic>
            <p:nvPicPr>
              <p:cNvPr id="1046" name="Google Shape;1046;p58"/>
              <p:cNvPicPr preferRelativeResize="0"/>
              <p:nvPr/>
            </p:nvPicPr>
            <p:blipFill rotWithShape="1">
              <a:blip r:embed="rId5">
                <a:alphaModFix/>
              </a:blip>
              <a:srcRect b="36122" l="14226" r="12324" t="0"/>
              <a:stretch/>
            </p:blipFill>
            <p:spPr>
              <a:xfrm>
                <a:off x="3670089" y="1146843"/>
                <a:ext cx="2625900" cy="8925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7" name="Google Shape;1047;p5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018962" y="1347157"/>
                <a:ext cx="446115" cy="48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48" name="Google Shape;1048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75288" y="1399149"/>
              <a:ext cx="525712" cy="5727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49" name="Google Shape;1049;p58"/>
          <p:cNvCxnSpPr/>
          <p:nvPr/>
        </p:nvCxnSpPr>
        <p:spPr>
          <a:xfrm flipH="1" rot="10800000">
            <a:off x="5667050" y="2278400"/>
            <a:ext cx="725100" cy="1449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58"/>
          <p:cNvCxnSpPr/>
          <p:nvPr/>
        </p:nvCxnSpPr>
        <p:spPr>
          <a:xfrm flipH="1" rot="10800000">
            <a:off x="6734050" y="2483475"/>
            <a:ext cx="588300" cy="1258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1" name="Google Shape;1051;p58"/>
          <p:cNvSpPr/>
          <p:nvPr/>
        </p:nvSpPr>
        <p:spPr>
          <a:xfrm>
            <a:off x="5338725" y="1379475"/>
            <a:ext cx="725100" cy="112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2" name="Google Shape;1052;p58"/>
          <p:cNvPicPr preferRelativeResize="0"/>
          <p:nvPr/>
        </p:nvPicPr>
        <p:blipFill rotWithShape="1">
          <a:blip r:embed="rId7">
            <a:alphaModFix/>
          </a:blip>
          <a:srcRect b="51068" l="0" r="0" t="8162"/>
          <a:stretch/>
        </p:blipFill>
        <p:spPr>
          <a:xfrm>
            <a:off x="311700" y="2728455"/>
            <a:ext cx="3139274" cy="8209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53" name="Google Shape;1053;p58"/>
          <p:cNvCxnSpPr>
            <a:stCxn id="1047" idx="2"/>
          </p:cNvCxnSpPr>
          <p:nvPr/>
        </p:nvCxnSpPr>
        <p:spPr>
          <a:xfrm flipH="1">
            <a:off x="3081525" y="2459861"/>
            <a:ext cx="847200" cy="99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59"/>
          <p:cNvSpPr txBox="1"/>
          <p:nvPr>
            <p:ph type="title"/>
          </p:nvPr>
        </p:nvSpPr>
        <p:spPr>
          <a:xfrm>
            <a:off x="311700" y="29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</a:t>
            </a:r>
            <a:r>
              <a:rPr lang="en"/>
              <a:t> Datasets</a:t>
            </a:r>
            <a:endParaRPr/>
          </a:p>
        </p:txBody>
      </p:sp>
      <p:sp>
        <p:nvSpPr>
          <p:cNvPr id="1059" name="Google Shape;1059;p59"/>
          <p:cNvSpPr txBox="1"/>
          <p:nvPr/>
        </p:nvSpPr>
        <p:spPr>
          <a:xfrm>
            <a:off x="131926" y="1150200"/>
            <a:ext cx="4276500" cy="3225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📘 1. WMT 2014 English–German Dataset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📌 </a:t>
            </a:r>
            <a:r>
              <a:rPr b="1" lang="en" sz="1500">
                <a:solidFill>
                  <a:schemeClr val="dk1"/>
                </a:solidFill>
              </a:rPr>
              <a:t>Key Points: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Size</a:t>
            </a:r>
            <a:r>
              <a:rPr lang="en" sz="1300">
                <a:solidFill>
                  <a:schemeClr val="dk1"/>
                </a:solidFill>
              </a:rPr>
              <a:t>: Approximately </a:t>
            </a:r>
            <a:r>
              <a:rPr b="1" lang="en" sz="1300">
                <a:solidFill>
                  <a:schemeClr val="dk1"/>
                </a:solidFill>
              </a:rPr>
              <a:t>4.5 million sentence pairs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Domain</a:t>
            </a:r>
            <a:r>
              <a:rPr lang="en" sz="1300">
                <a:solidFill>
                  <a:schemeClr val="dk1"/>
                </a:solidFill>
              </a:rPr>
              <a:t>: News commentary, parliamentary proceedings (Europarl), and web-crawled data (Common Crawl).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Preprocessing</a:t>
            </a:r>
            <a:r>
              <a:rPr lang="en" sz="1300">
                <a:solidFill>
                  <a:schemeClr val="dk1"/>
                </a:solidFill>
              </a:rPr>
              <a:t>: Includes tokenization, filtering of noisy or long sentences, and vocabulary construction via </a:t>
            </a:r>
            <a:r>
              <a:rPr b="1" lang="en" sz="1300">
                <a:solidFill>
                  <a:schemeClr val="dk1"/>
                </a:solidFill>
              </a:rPr>
              <a:t>byte pair encoding (BPE)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</p:txBody>
      </p:sp>
      <p:sp>
        <p:nvSpPr>
          <p:cNvPr id="1060" name="Google Shape;1060;p59"/>
          <p:cNvSpPr txBox="1"/>
          <p:nvPr/>
        </p:nvSpPr>
        <p:spPr>
          <a:xfrm>
            <a:off x="4868998" y="1862318"/>
            <a:ext cx="4162200" cy="3066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📘 2. WMT 2014 English–French Dataset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📌 </a:t>
            </a:r>
            <a:r>
              <a:rPr b="1" lang="en" sz="1300">
                <a:solidFill>
                  <a:schemeClr val="dk1"/>
                </a:solidFill>
              </a:rPr>
              <a:t>Key Points: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Size</a:t>
            </a:r>
            <a:r>
              <a:rPr lang="en" sz="1100">
                <a:solidFill>
                  <a:schemeClr val="dk1"/>
                </a:solidFill>
              </a:rPr>
              <a:t>: Roughly </a:t>
            </a:r>
            <a:r>
              <a:rPr b="1" lang="en" sz="1100">
                <a:solidFill>
                  <a:schemeClr val="dk1"/>
                </a:solidFill>
              </a:rPr>
              <a:t>36 million sentence pairs</a:t>
            </a:r>
            <a:r>
              <a:rPr lang="en" sz="1100">
                <a:solidFill>
                  <a:schemeClr val="dk1"/>
                </a:solidFill>
              </a:rPr>
              <a:t>, significantly larger than the En-De set.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Used to evaluate model scalability and performance on a </a:t>
            </a:r>
            <a:r>
              <a:rPr b="1" lang="en" sz="1100">
                <a:solidFill>
                  <a:schemeClr val="dk1"/>
                </a:solidFill>
              </a:rPr>
              <a:t>larger training corpus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Performance</a:t>
            </a:r>
            <a:r>
              <a:rPr lang="en" sz="1100">
                <a:solidFill>
                  <a:schemeClr val="dk1"/>
                </a:solidFill>
              </a:rPr>
              <a:t>: The Transformer model achieved </a:t>
            </a:r>
            <a:r>
              <a:rPr b="1" lang="en" sz="1100">
                <a:solidFill>
                  <a:schemeClr val="dk1"/>
                </a:solidFill>
              </a:rPr>
              <a:t>state-of-the-art BLEU scores</a:t>
            </a:r>
            <a:r>
              <a:rPr lang="en" sz="1100">
                <a:solidFill>
                  <a:schemeClr val="dk1"/>
                </a:solidFill>
              </a:rPr>
              <a:t> at the time on this dataset with much less training time than prior RNN-based models.</a:t>
            </a:r>
            <a:br>
              <a:rPr lang="en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1066" name="Google Shape;1066;p60"/>
          <p:cNvPicPr preferRelativeResize="0"/>
          <p:nvPr/>
        </p:nvPicPr>
        <p:blipFill rotWithShape="1">
          <a:blip r:embed="rId3">
            <a:alphaModFix/>
          </a:blip>
          <a:srcRect b="10574" l="23871" r="54148" t="14056"/>
          <a:stretch/>
        </p:blipFill>
        <p:spPr>
          <a:xfrm>
            <a:off x="3147200" y="150475"/>
            <a:ext cx="3004975" cy="442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60"/>
          <p:cNvPicPr preferRelativeResize="0"/>
          <p:nvPr/>
        </p:nvPicPr>
        <p:blipFill rotWithShape="1">
          <a:blip r:embed="rId3">
            <a:alphaModFix/>
          </a:blip>
          <a:srcRect b="52484" l="46135" r="24111" t="34838"/>
          <a:stretch/>
        </p:blipFill>
        <p:spPr>
          <a:xfrm>
            <a:off x="5112627" y="2216101"/>
            <a:ext cx="3886770" cy="71129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8" name="Google Shape;1068;p60"/>
          <p:cNvPicPr preferRelativeResize="0"/>
          <p:nvPr/>
        </p:nvPicPr>
        <p:blipFill rotWithShape="1">
          <a:blip r:embed="rId4">
            <a:alphaModFix/>
          </a:blip>
          <a:srcRect b="21058" l="10658" r="0" t="17708"/>
          <a:stretch/>
        </p:blipFill>
        <p:spPr>
          <a:xfrm>
            <a:off x="154175" y="3659900"/>
            <a:ext cx="2849625" cy="122454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69" name="Google Shape;1069;p60"/>
          <p:cNvCxnSpPr/>
          <p:nvPr/>
        </p:nvCxnSpPr>
        <p:spPr>
          <a:xfrm flipH="1" rot="10800000">
            <a:off x="2069336" y="2934925"/>
            <a:ext cx="1299600" cy="711300"/>
          </a:xfrm>
          <a:prstGeom prst="bentConnector3">
            <a:avLst>
              <a:gd fmla="val -1052" name="adj1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1070" name="Google Shape;1070;p60"/>
          <p:cNvGrpSpPr/>
          <p:nvPr/>
        </p:nvGrpSpPr>
        <p:grpSpPr>
          <a:xfrm>
            <a:off x="5858575" y="758189"/>
            <a:ext cx="2394000" cy="738900"/>
            <a:chOff x="5858575" y="758189"/>
            <a:chExt cx="2394000" cy="738900"/>
          </a:xfrm>
        </p:grpSpPr>
        <p:cxnSp>
          <p:nvCxnSpPr>
            <p:cNvPr id="1071" name="Google Shape;1071;p60"/>
            <p:cNvCxnSpPr/>
            <p:nvPr/>
          </p:nvCxnSpPr>
          <p:spPr>
            <a:xfrm>
              <a:off x="5858575" y="1115500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2" name="Google Shape;1072;p60"/>
            <p:cNvSpPr txBox="1"/>
            <p:nvPr/>
          </p:nvSpPr>
          <p:spPr>
            <a:xfrm>
              <a:off x="6720475" y="758189"/>
              <a:ext cx="15321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FF"/>
                  </a:solidFill>
                </a:rPr>
                <a:t>Reference (Target)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  <p:grpSp>
        <p:nvGrpSpPr>
          <p:cNvPr id="1073" name="Google Shape;1073;p60"/>
          <p:cNvGrpSpPr/>
          <p:nvPr/>
        </p:nvGrpSpPr>
        <p:grpSpPr>
          <a:xfrm>
            <a:off x="5956250" y="3345550"/>
            <a:ext cx="3043200" cy="1015800"/>
            <a:chOff x="5858575" y="758200"/>
            <a:chExt cx="3043200" cy="1015800"/>
          </a:xfrm>
        </p:grpSpPr>
        <p:cxnSp>
          <p:nvCxnSpPr>
            <p:cNvPr id="1074" name="Google Shape;1074;p60"/>
            <p:cNvCxnSpPr/>
            <p:nvPr/>
          </p:nvCxnSpPr>
          <p:spPr>
            <a:xfrm>
              <a:off x="5858575" y="1115500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5" name="Google Shape;1075;p60"/>
            <p:cNvSpPr txBox="1"/>
            <p:nvPr/>
          </p:nvSpPr>
          <p:spPr>
            <a:xfrm>
              <a:off x="6720475" y="758200"/>
              <a:ext cx="2181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FF"/>
                  </a:solidFill>
                </a:rPr>
                <a:t>Candidate </a:t>
              </a:r>
              <a:r>
                <a:rPr lang="en" sz="1800">
                  <a:solidFill>
                    <a:srgbClr val="FF00FF"/>
                  </a:solidFill>
                </a:rPr>
                <a:t>(Prediction via Auto-regression)</a:t>
              </a:r>
              <a:endParaRPr sz="1800">
                <a:solidFill>
                  <a:srgbClr val="FF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grpSp>
        <p:nvGrpSpPr>
          <p:cNvPr id="1081" name="Google Shape;1081;p61"/>
          <p:cNvGrpSpPr/>
          <p:nvPr/>
        </p:nvGrpSpPr>
        <p:grpSpPr>
          <a:xfrm>
            <a:off x="4571994" y="923910"/>
            <a:ext cx="3930004" cy="3795953"/>
            <a:chOff x="227251" y="3381425"/>
            <a:chExt cx="2744416" cy="1656609"/>
          </a:xfrm>
        </p:grpSpPr>
        <p:pic>
          <p:nvPicPr>
            <p:cNvPr id="1082" name="Google Shape;1082;p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251" y="3381425"/>
              <a:ext cx="2744416" cy="45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3" name="Google Shape;1083;p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4123" y="3923365"/>
              <a:ext cx="1613672" cy="648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4" name="Google Shape;1084;p6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2211" y="4714259"/>
              <a:ext cx="1108021" cy="3237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85" name="Google Shape;1085;p61"/>
          <p:cNvPicPr preferRelativeResize="0"/>
          <p:nvPr/>
        </p:nvPicPr>
        <p:blipFill rotWithShape="1">
          <a:blip r:embed="rId6">
            <a:alphaModFix/>
          </a:blip>
          <a:srcRect b="25195" l="47473" r="24110" t="23635"/>
          <a:stretch/>
        </p:blipFill>
        <p:spPr>
          <a:xfrm>
            <a:off x="229625" y="1371400"/>
            <a:ext cx="4068775" cy="314717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1091" name="Google Shape;109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175" y="1394900"/>
            <a:ext cx="5505150" cy="33781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is the </a:t>
            </a:r>
            <a:r>
              <a:rPr lang="en">
                <a:solidFill>
                  <a:srgbClr val="FF0000"/>
                </a:solidFill>
              </a:rPr>
              <a:t>mother sauce</a:t>
            </a:r>
            <a:r>
              <a:rPr lang="en"/>
              <a:t> of most modern LLMs</a:t>
            </a:r>
            <a:endParaRPr/>
          </a:p>
        </p:txBody>
      </p:sp>
      <p:pic>
        <p:nvPicPr>
          <p:cNvPr id="1097" name="Google Shape;109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400" y="1265900"/>
            <a:ext cx="6007125" cy="364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Image Credits</a:t>
            </a:r>
            <a:endParaRPr/>
          </a:p>
        </p:txBody>
      </p:sp>
      <p:sp>
        <p:nvSpPr>
          <p:cNvPr id="1103" name="Google Shape;1103;p64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Alammar, “</a:t>
            </a:r>
            <a:r>
              <a:rPr i="1" lang="en" u="sng">
                <a:solidFill>
                  <a:schemeClr val="hlink"/>
                </a:solidFill>
                <a:hlinkClick r:id="rId3"/>
              </a:rPr>
              <a:t>Illustrated Transformer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Yule Wang, “</a:t>
            </a:r>
            <a:r>
              <a:rPr i="1" lang="en" u="sng">
                <a:solidFill>
                  <a:schemeClr val="hlink"/>
                </a:solidFill>
                <a:hlinkClick r:id="rId4"/>
              </a:rPr>
              <a:t>An In-Depth Look at the Transformer Based Models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Gabriel Mongaras, “</a:t>
            </a:r>
            <a:r>
              <a:rPr lang="en" u="sng">
                <a:solidFill>
                  <a:schemeClr val="hlink"/>
                </a:solidFill>
                <a:hlinkClick r:id="rId5"/>
              </a:rPr>
              <a:t>How Do Self-Attention Masks Work?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