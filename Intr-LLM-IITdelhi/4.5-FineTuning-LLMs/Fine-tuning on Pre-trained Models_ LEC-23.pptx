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DEFFDEF-0E0E-451E-B1CF-A810274E3607}">
  <a:tblStyle styleId="{9DEFFDEF-0E0E-451E-B1CF-A810274E360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6a2cad5f1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6a2cad5f1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6a2cad5f18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6a2cad5f18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615fefa90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615fefa90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6ae6f900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6ae6f900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6aecd02a1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6aecd02a1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6aecd02a1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6aecd02a1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6aecd02a1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6aecd02a1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6aecd02a1f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6aecd02a1f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6aecd02a1f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6aecd02a1f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6aecd02a1f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6aecd02a1f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6aecd02a1f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6aecd02a1f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6aecd02a1f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6aecd02a1f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6aecd02a1f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6aecd02a1f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6aecd02a1f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6aecd02a1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6aecd02a1f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6aecd02a1f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6aecd02a1f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6aecd02a1f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6aecd02a1f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6aecd02a1f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6b15d95d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6b15d95d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6b15d95dc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6b15d95dc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6b15d95dc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6b15d95dc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6b15d95dc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6b15d95dc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6b15d95dc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6b15d95dc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6b15d95dc6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6b15d95dc6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6b15d95dc6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6b15d95dc6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6b3434abb7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6b3434abb7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6b3434abb7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6b3434abb7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6b3434abb7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6b3434abb7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6b3434abb7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6b3434abb7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6b3434abb7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6b3434abb7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6b3434abb7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6b3434abb7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6b3434abb7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6b3434abb7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6b3434abb7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6b3434abb7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6b3434abb7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6b3434abb7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6b3434abb7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6b3434abb7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6b3434abb7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6b3434abb7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69c480be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69c480be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6b15d95dc6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6b15d95dc6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6b15d95dc6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6b15d95dc6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6b3434abb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6b3434abb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6b3434abb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6b3434abb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6b3434abb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6b3434abb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6b3434abb7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6b3434abb7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6b3434abb7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6b3434abb7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6b3434abb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6b3434abb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69c480be6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69c480be6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6b3434abb7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6b3434abb7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6b15d95dc6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6b15d95dc6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6b3434abb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6b3434abb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6b3434abb7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6b3434abb7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6b3434abb7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6b3434abb7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6b3434abb7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6b3434abb7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32.png"/><Relationship Id="rId5"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2.png"/><Relationship Id="rId4" Type="http://schemas.openxmlformats.org/officeDocument/2006/relationships/image" Target="../media/image3.png"/><Relationship Id="rId5"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5.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5.gi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2.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9.png"/><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1.png"/><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273075" y="507925"/>
            <a:ext cx="8520600" cy="11112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3800"/>
              <a:t>Fine-tuning Pre-trained Language Models</a:t>
            </a:r>
            <a:endParaRPr b="1" sz="2600"/>
          </a:p>
        </p:txBody>
      </p:sp>
      <p:sp>
        <p:nvSpPr>
          <p:cNvPr id="100" name="Google Shape;100;p25"/>
          <p:cNvSpPr txBox="1"/>
          <p:nvPr>
            <p:ph idx="1" type="subTitle"/>
          </p:nvPr>
        </p:nvSpPr>
        <p:spPr>
          <a:xfrm>
            <a:off x="311700" y="3959528"/>
            <a:ext cx="8520600" cy="963900"/>
          </a:xfrm>
          <a:prstGeom prst="rect">
            <a:avLst/>
          </a:prstGeom>
        </p:spPr>
        <p:txBody>
          <a:bodyPr anchorCtr="0" anchor="t" bIns="91425" lIns="91425" spcFirstLastPara="1" rIns="91425" wrap="square" tIns="91425">
            <a:normAutofit lnSpcReduction="10000"/>
          </a:bodyPr>
          <a:lstStyle/>
          <a:p>
            <a:pPr indent="0" lvl="0" marL="0" rtl="0" algn="ctr">
              <a:lnSpc>
                <a:spcPct val="115000"/>
              </a:lnSpc>
              <a:spcBef>
                <a:spcPts val="0"/>
              </a:spcBef>
              <a:spcAft>
                <a:spcPts val="0"/>
              </a:spcAft>
              <a:buClr>
                <a:schemeClr val="dk1"/>
              </a:buClr>
              <a:buSzPts val="800"/>
              <a:buFont typeface="Arial"/>
              <a:buNone/>
            </a:pPr>
            <a:r>
              <a:rPr b="1" lang="en" sz="1700">
                <a:solidFill>
                  <a:srgbClr val="0000FF"/>
                </a:solidFill>
              </a:rPr>
              <a:t>Sourish Dasgupta</a:t>
            </a:r>
            <a:endParaRPr b="1" sz="1700">
              <a:solidFill>
                <a:srgbClr val="0000FF"/>
              </a:solidFill>
            </a:endParaRPr>
          </a:p>
          <a:p>
            <a:pPr indent="0" lvl="0" marL="0" rtl="0" algn="ctr">
              <a:lnSpc>
                <a:spcPct val="115000"/>
              </a:lnSpc>
              <a:spcBef>
                <a:spcPts val="0"/>
              </a:spcBef>
              <a:spcAft>
                <a:spcPts val="0"/>
              </a:spcAft>
              <a:buClr>
                <a:schemeClr val="dk1"/>
              </a:buClr>
              <a:buSzPts val="800"/>
              <a:buFont typeface="Arial"/>
              <a:buNone/>
            </a:pPr>
            <a:r>
              <a:rPr lang="en" sz="1600">
                <a:solidFill>
                  <a:srgbClr val="0000FF"/>
                </a:solidFill>
              </a:rPr>
              <a:t>Associate Professor, DAU, Gandhinagar</a:t>
            </a:r>
            <a:endParaRPr sz="1600">
              <a:solidFill>
                <a:srgbClr val="0000FF"/>
              </a:solidFill>
            </a:endParaRPr>
          </a:p>
          <a:p>
            <a:pPr indent="0" lvl="0" marL="0" rtl="0" algn="ctr">
              <a:lnSpc>
                <a:spcPct val="115000"/>
              </a:lnSpc>
              <a:spcBef>
                <a:spcPts val="0"/>
              </a:spcBef>
              <a:spcAft>
                <a:spcPts val="0"/>
              </a:spcAft>
              <a:buSzPts val="800"/>
              <a:buNone/>
            </a:pPr>
            <a:r>
              <a:rPr i="1" lang="en" sz="1600">
                <a:solidFill>
                  <a:srgbClr val="0000FF"/>
                </a:solidFill>
              </a:rPr>
              <a:t>https://daiict.ac.in/faculty/sourish-dasgupta</a:t>
            </a:r>
            <a:endParaRPr i="1" sz="1900"/>
          </a:p>
        </p:txBody>
      </p:sp>
      <p:pic>
        <p:nvPicPr>
          <p:cNvPr id="101" name="Google Shape;101;p25"/>
          <p:cNvPicPr preferRelativeResize="0"/>
          <p:nvPr/>
        </p:nvPicPr>
        <p:blipFill>
          <a:blip r:embed="rId3">
            <a:alphaModFix/>
          </a:blip>
          <a:stretch>
            <a:fillRect/>
          </a:stretch>
        </p:blipFill>
        <p:spPr>
          <a:xfrm>
            <a:off x="3509963" y="1908325"/>
            <a:ext cx="2124075" cy="1628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105" name="Shape 105"/>
        <p:cNvGrpSpPr/>
        <p:nvPr/>
      </p:nvGrpSpPr>
      <p:grpSpPr>
        <a:xfrm>
          <a:off x="0" y="0"/>
          <a:ext cx="0" cy="0"/>
          <a:chOff x="0" y="0"/>
          <a:chExt cx="0" cy="0"/>
        </a:xfrm>
      </p:grpSpPr>
      <p:sp>
        <p:nvSpPr>
          <p:cNvPr id="106" name="Google Shape;10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Transformer is the </a:t>
            </a:r>
            <a:r>
              <a:rPr lang="en">
                <a:solidFill>
                  <a:srgbClr val="FF0000"/>
                </a:solidFill>
              </a:rPr>
              <a:t>mother sauce</a:t>
            </a:r>
            <a:r>
              <a:rPr lang="en"/>
              <a:t> of most modern LLMs</a:t>
            </a:r>
            <a:endParaRPr/>
          </a:p>
        </p:txBody>
      </p:sp>
      <p:pic>
        <p:nvPicPr>
          <p:cNvPr id="107" name="Google Shape;107;p26"/>
          <p:cNvPicPr preferRelativeResize="0"/>
          <p:nvPr/>
        </p:nvPicPr>
        <p:blipFill rotWithShape="1">
          <a:blip r:embed="rId3">
            <a:alphaModFix/>
          </a:blip>
          <a:srcRect b="0" l="0" r="0" t="56926"/>
          <a:stretch/>
        </p:blipFill>
        <p:spPr>
          <a:xfrm>
            <a:off x="161225" y="3016950"/>
            <a:ext cx="4352924" cy="1997224"/>
          </a:xfrm>
          <a:prstGeom prst="rect">
            <a:avLst/>
          </a:prstGeom>
          <a:noFill/>
          <a:ln>
            <a:noFill/>
          </a:ln>
        </p:spPr>
      </p:pic>
      <p:pic>
        <p:nvPicPr>
          <p:cNvPr id="108" name="Google Shape;108;p26"/>
          <p:cNvPicPr preferRelativeResize="0"/>
          <p:nvPr/>
        </p:nvPicPr>
        <p:blipFill rotWithShape="1">
          <a:blip r:embed="rId3">
            <a:alphaModFix/>
          </a:blip>
          <a:srcRect b="41636" l="0" r="0" t="0"/>
          <a:stretch/>
        </p:blipFill>
        <p:spPr>
          <a:xfrm>
            <a:off x="4556625" y="1017725"/>
            <a:ext cx="4352924" cy="2706144"/>
          </a:xfrm>
          <a:prstGeom prst="rect">
            <a:avLst/>
          </a:prstGeom>
          <a:noFill/>
          <a:ln>
            <a:noFill/>
          </a:ln>
        </p:spPr>
      </p:pic>
      <p:pic>
        <p:nvPicPr>
          <p:cNvPr id="109" name="Google Shape;109;p26"/>
          <p:cNvPicPr preferRelativeResize="0"/>
          <p:nvPr/>
        </p:nvPicPr>
        <p:blipFill>
          <a:blip r:embed="rId4">
            <a:alphaModFix/>
          </a:blip>
          <a:stretch>
            <a:fillRect/>
          </a:stretch>
        </p:blipFill>
        <p:spPr>
          <a:xfrm>
            <a:off x="400550" y="1265900"/>
            <a:ext cx="2150346" cy="1305850"/>
          </a:xfrm>
          <a:prstGeom prst="rect">
            <a:avLst/>
          </a:prstGeom>
          <a:noFill/>
          <a:ln cap="flat" cmpd="sng" w="19050">
            <a:solidFill>
              <a:srgbClr val="595959"/>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Task-specific Model Training</a:t>
            </a:r>
            <a:endParaRPr/>
          </a:p>
        </p:txBody>
      </p:sp>
      <p:pic>
        <p:nvPicPr>
          <p:cNvPr id="115" name="Google Shape;115;p27"/>
          <p:cNvPicPr preferRelativeResize="0"/>
          <p:nvPr/>
        </p:nvPicPr>
        <p:blipFill rotWithShape="1">
          <a:blip r:embed="rId3">
            <a:alphaModFix/>
          </a:blip>
          <a:srcRect b="2722" l="2293" r="1755" t="2750"/>
          <a:stretch/>
        </p:blipFill>
        <p:spPr>
          <a:xfrm>
            <a:off x="275275" y="1258350"/>
            <a:ext cx="5143501" cy="3034901"/>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Fine-tuning Pre-trained Models</a:t>
            </a:r>
            <a:endParaRPr/>
          </a:p>
        </p:txBody>
      </p:sp>
      <p:pic>
        <p:nvPicPr>
          <p:cNvPr id="121" name="Google Shape;121;p28"/>
          <p:cNvPicPr preferRelativeResize="0"/>
          <p:nvPr/>
        </p:nvPicPr>
        <p:blipFill rotWithShape="1">
          <a:blip r:embed="rId3">
            <a:alphaModFix/>
          </a:blip>
          <a:srcRect b="4015" l="1838" r="1886" t="4308"/>
          <a:stretch/>
        </p:blipFill>
        <p:spPr>
          <a:xfrm>
            <a:off x="393225" y="1413025"/>
            <a:ext cx="5234499" cy="3072574"/>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125" name="Shape 125"/>
        <p:cNvGrpSpPr/>
        <p:nvPr/>
      </p:nvGrpSpPr>
      <p:grpSpPr>
        <a:xfrm>
          <a:off x="0" y="0"/>
          <a:ext cx="0" cy="0"/>
          <a:chOff x="0" y="0"/>
          <a:chExt cx="0" cy="0"/>
        </a:xfrm>
      </p:grpSpPr>
      <p:sp>
        <p:nvSpPr>
          <p:cNvPr id="126" name="Google Shape;126;p2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Do we always need fine-tuning?</a:t>
            </a:r>
            <a:endParaRPr b="1" i="1">
              <a:solidFill>
                <a:srgbClr val="A61C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solidFill>
                  <a:srgbClr val="FF0000"/>
                </a:solidFill>
              </a:rPr>
              <a:t>Representation Reuse</a:t>
            </a:r>
            <a:r>
              <a:rPr lang="en" sz="2520"/>
              <a:t> vs Task-specific Specialisation</a:t>
            </a:r>
            <a:endParaRPr sz="2520"/>
          </a:p>
        </p:txBody>
      </p:sp>
      <p:pic>
        <p:nvPicPr>
          <p:cNvPr id="132" name="Google Shape;132;p30"/>
          <p:cNvPicPr preferRelativeResize="0"/>
          <p:nvPr/>
        </p:nvPicPr>
        <p:blipFill>
          <a:blip r:embed="rId3">
            <a:alphaModFix/>
          </a:blip>
          <a:stretch>
            <a:fillRect/>
          </a:stretch>
        </p:blipFill>
        <p:spPr>
          <a:xfrm>
            <a:off x="152400" y="1156051"/>
            <a:ext cx="8839200" cy="2791125"/>
          </a:xfrm>
          <a:prstGeom prst="rect">
            <a:avLst/>
          </a:prstGeom>
          <a:noFill/>
          <a:ln>
            <a:noFill/>
          </a:ln>
        </p:spPr>
      </p:pic>
      <p:sp>
        <p:nvSpPr>
          <p:cNvPr id="133" name="Google Shape;133;p30"/>
          <p:cNvSpPr txBox="1"/>
          <p:nvPr/>
        </p:nvSpPr>
        <p:spPr>
          <a:xfrm>
            <a:off x="1463700" y="3878382"/>
            <a:ext cx="67887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800"/>
              <a:t>Pretrained models already learn </a:t>
            </a:r>
            <a:r>
              <a:rPr i="1" lang="en" sz="1800">
                <a:solidFill>
                  <a:srgbClr val="FF0000"/>
                </a:solidFill>
              </a:rPr>
              <a:t>universal linguistic patterns</a:t>
            </a:r>
            <a:endParaRPr i="1" sz="1800">
              <a:solidFill>
                <a:srgbClr val="FF0000"/>
              </a:solidFill>
            </a:endParaRPr>
          </a:p>
          <a:p>
            <a:pPr indent="0" lvl="0" marL="0" rtl="0" algn="l">
              <a:spcBef>
                <a:spcPts val="0"/>
              </a:spcBef>
              <a:spcAft>
                <a:spcPts val="0"/>
              </a:spcAft>
              <a:buNone/>
            </a:pPr>
            <a:r>
              <a:t/>
            </a:r>
            <a:endParaRPr i="1" sz="1800">
              <a:solidFill>
                <a:srgbClr val="FF0000"/>
              </a:solidFill>
            </a:endParaRPr>
          </a:p>
          <a:p>
            <a:pPr indent="0" lvl="0" marL="0" rtl="0" algn="l">
              <a:spcBef>
                <a:spcPts val="0"/>
              </a:spcBef>
              <a:spcAft>
                <a:spcPts val="0"/>
              </a:spcAft>
              <a:buNone/>
            </a:pPr>
            <a:r>
              <a:rPr lang="en" sz="1800">
                <a:solidFill>
                  <a:schemeClr val="dk1"/>
                </a:solidFill>
              </a:rPr>
              <a:t>(Table: BERT representation learning across 12 layers)</a:t>
            </a:r>
            <a:endParaRPr sz="1800">
              <a:solidFill>
                <a:schemeClr val="dk1"/>
              </a:solidFill>
            </a:endParaRPr>
          </a:p>
        </p:txBody>
      </p:sp>
      <p:sp>
        <p:nvSpPr>
          <p:cNvPr id="134" name="Google Shape;134;p30"/>
          <p:cNvSpPr/>
          <p:nvPr/>
        </p:nvSpPr>
        <p:spPr>
          <a:xfrm>
            <a:off x="933950" y="1197575"/>
            <a:ext cx="8057700" cy="752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31"/>
          <p:cNvPicPr preferRelativeResize="0"/>
          <p:nvPr/>
        </p:nvPicPr>
        <p:blipFill>
          <a:blip r:embed="rId3">
            <a:alphaModFix/>
          </a:blip>
          <a:stretch>
            <a:fillRect/>
          </a:stretch>
        </p:blipFill>
        <p:spPr>
          <a:xfrm>
            <a:off x="234475" y="1017725"/>
            <a:ext cx="8401025" cy="2508175"/>
          </a:xfrm>
          <a:prstGeom prst="rect">
            <a:avLst/>
          </a:prstGeom>
          <a:noFill/>
          <a:ln>
            <a:noFill/>
          </a:ln>
        </p:spPr>
      </p:pic>
      <p:sp>
        <p:nvSpPr>
          <p:cNvPr id="140" name="Google Shape;140;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solidFill>
                  <a:srgbClr val="FF0000"/>
                </a:solidFill>
              </a:rPr>
              <a:t>Representation Reuse</a:t>
            </a:r>
            <a:r>
              <a:rPr lang="en" sz="2520"/>
              <a:t> vs Specialisation</a:t>
            </a:r>
            <a:endParaRPr sz="2520"/>
          </a:p>
        </p:txBody>
      </p:sp>
      <p:sp>
        <p:nvSpPr>
          <p:cNvPr id="141" name="Google Shape;141;p31"/>
          <p:cNvSpPr txBox="1"/>
          <p:nvPr/>
        </p:nvSpPr>
        <p:spPr>
          <a:xfrm>
            <a:off x="1463700" y="4085500"/>
            <a:ext cx="678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800"/>
              <a:t>Need </a:t>
            </a:r>
            <a:r>
              <a:rPr i="1" lang="en" sz="1800">
                <a:highlight>
                  <a:srgbClr val="FFFF00"/>
                </a:highlight>
              </a:rPr>
              <a:t>generic</a:t>
            </a:r>
            <a:r>
              <a:rPr i="1" lang="en" sz="1800"/>
              <a:t> </a:t>
            </a:r>
            <a:r>
              <a:rPr i="1" lang="en" sz="1800"/>
              <a:t>linguistic</a:t>
            </a:r>
            <a:r>
              <a:rPr i="1" lang="en" sz="1800"/>
              <a:t> representations? </a:t>
            </a:r>
            <a:r>
              <a:rPr i="1" lang="en" sz="1800">
                <a:solidFill>
                  <a:srgbClr val="FF0000"/>
                </a:solidFill>
              </a:rPr>
              <a:t>Do not do fine-tuning</a:t>
            </a:r>
            <a:r>
              <a:rPr i="1" lang="en" sz="1800"/>
              <a:t>!</a:t>
            </a:r>
            <a:endParaRPr i="1" sz="1800">
              <a:solidFill>
                <a:srgbClr val="FF0000"/>
              </a:solidFill>
            </a:endParaRPr>
          </a:p>
        </p:txBody>
      </p:sp>
      <p:sp>
        <p:nvSpPr>
          <p:cNvPr id="142" name="Google Shape;142;p31"/>
          <p:cNvSpPr/>
          <p:nvPr/>
        </p:nvSpPr>
        <p:spPr>
          <a:xfrm>
            <a:off x="596700" y="2741500"/>
            <a:ext cx="3319500" cy="461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31"/>
          <p:cNvSpPr/>
          <p:nvPr/>
        </p:nvSpPr>
        <p:spPr>
          <a:xfrm>
            <a:off x="7978875" y="1553250"/>
            <a:ext cx="867000" cy="1285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147" name="Shape 147"/>
        <p:cNvGrpSpPr/>
        <p:nvPr/>
      </p:nvGrpSpPr>
      <p:grpSpPr>
        <a:xfrm>
          <a:off x="0" y="0"/>
          <a:ext cx="0" cy="0"/>
          <a:chOff x="0" y="0"/>
          <a:chExt cx="0" cy="0"/>
        </a:xfrm>
      </p:grpSpPr>
      <p:sp>
        <p:nvSpPr>
          <p:cNvPr id="148" name="Google Shape;148;p32"/>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Do we need fine-tuning </a:t>
            </a:r>
            <a:r>
              <a:rPr i="1" lang="en" u="sng"/>
              <a:t>only</a:t>
            </a:r>
            <a:r>
              <a:rPr lang="en"/>
              <a:t> for new task?</a:t>
            </a:r>
            <a:endParaRPr b="1" i="1">
              <a:solidFill>
                <a:srgbClr val="A61C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solidFill>
                  <a:srgbClr val="FF0000"/>
                </a:solidFill>
              </a:rPr>
              <a:t>Data</a:t>
            </a:r>
            <a:r>
              <a:rPr lang="en" sz="2520">
                <a:solidFill>
                  <a:srgbClr val="FF0000"/>
                </a:solidFill>
              </a:rPr>
              <a:t> (Covariate) Drift </a:t>
            </a:r>
            <a:r>
              <a:rPr lang="en" sz="2520"/>
              <a:t>over time</a:t>
            </a:r>
            <a:endParaRPr sz="2520"/>
          </a:p>
        </p:txBody>
      </p:sp>
      <p:pic>
        <p:nvPicPr>
          <p:cNvPr id="154" name="Google Shape;154;p33"/>
          <p:cNvPicPr preferRelativeResize="0"/>
          <p:nvPr/>
        </p:nvPicPr>
        <p:blipFill>
          <a:blip r:embed="rId3">
            <a:alphaModFix/>
          </a:blip>
          <a:stretch>
            <a:fillRect/>
          </a:stretch>
        </p:blipFill>
        <p:spPr>
          <a:xfrm>
            <a:off x="672200" y="1142775"/>
            <a:ext cx="6789307" cy="3820975"/>
          </a:xfrm>
          <a:prstGeom prst="rect">
            <a:avLst/>
          </a:prstGeom>
          <a:noFill/>
          <a:ln>
            <a:noFill/>
          </a:ln>
        </p:spPr>
      </p:pic>
      <p:pic>
        <p:nvPicPr>
          <p:cNvPr id="155" name="Google Shape;155;p33"/>
          <p:cNvPicPr preferRelativeResize="0"/>
          <p:nvPr/>
        </p:nvPicPr>
        <p:blipFill rotWithShape="1">
          <a:blip r:embed="rId4">
            <a:alphaModFix/>
          </a:blip>
          <a:srcRect b="0" l="9110" r="8367" t="0"/>
          <a:stretch/>
        </p:blipFill>
        <p:spPr>
          <a:xfrm>
            <a:off x="7149799" y="3886635"/>
            <a:ext cx="1682498" cy="1147441"/>
          </a:xfrm>
          <a:prstGeom prst="rect">
            <a:avLst/>
          </a:prstGeom>
          <a:noFill/>
          <a:ln>
            <a:noFill/>
          </a:ln>
        </p:spPr>
      </p:pic>
      <p:pic>
        <p:nvPicPr>
          <p:cNvPr id="156" name="Google Shape;156;p33"/>
          <p:cNvPicPr preferRelativeResize="0"/>
          <p:nvPr/>
        </p:nvPicPr>
        <p:blipFill rotWithShape="1">
          <a:blip r:embed="rId5">
            <a:alphaModFix/>
          </a:blip>
          <a:srcRect b="-7" l="0" r="0" t="21280"/>
          <a:stretch/>
        </p:blipFill>
        <p:spPr>
          <a:xfrm>
            <a:off x="196807" y="2116601"/>
            <a:ext cx="8720951" cy="982425"/>
          </a:xfrm>
          <a:prstGeom prst="rect">
            <a:avLst/>
          </a:prstGeom>
          <a:noFill/>
          <a:ln cap="flat" cmpd="sng" w="28575">
            <a:solidFill>
              <a:srgbClr val="38761D"/>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solidFill>
                  <a:srgbClr val="FF0000"/>
                </a:solidFill>
              </a:rPr>
              <a:t>Data (Covariate) Drift </a:t>
            </a:r>
            <a:r>
              <a:rPr lang="en" sz="2520"/>
              <a:t>over time</a:t>
            </a:r>
            <a:endParaRPr sz="2520"/>
          </a:p>
        </p:txBody>
      </p:sp>
      <p:graphicFrame>
        <p:nvGraphicFramePr>
          <p:cNvPr id="162" name="Google Shape;162;p34"/>
          <p:cNvGraphicFramePr/>
          <p:nvPr/>
        </p:nvGraphicFramePr>
        <p:xfrm>
          <a:off x="762675" y="1135175"/>
          <a:ext cx="3000000" cy="3000000"/>
        </p:xfrm>
        <a:graphic>
          <a:graphicData uri="http://schemas.openxmlformats.org/drawingml/2006/table">
            <a:tbl>
              <a:tblPr>
                <a:noFill/>
                <a:tableStyleId>{9DEFFDEF-0E0E-451E-B1CF-A810274E3607}</a:tableStyleId>
              </a:tblPr>
              <a:tblGrid>
                <a:gridCol w="2268250"/>
                <a:gridCol w="2534275"/>
                <a:gridCol w="2534275"/>
              </a:tblGrid>
              <a:tr h="401025">
                <a:tc>
                  <a:txBody>
                    <a:bodyPr/>
                    <a:lstStyle/>
                    <a:p>
                      <a:pPr indent="0" lvl="0" marL="0" rtl="0" algn="l">
                        <a:spcBef>
                          <a:spcPts val="0"/>
                        </a:spcBef>
                        <a:spcAft>
                          <a:spcPts val="0"/>
                        </a:spcAft>
                        <a:buNone/>
                      </a:pPr>
                      <a:r>
                        <a:rPr b="1" lang="en" sz="1500"/>
                        <a:t>Prediction</a:t>
                      </a:r>
                      <a:r>
                        <a:rPr lang="en" sz="1500"/>
                        <a:t>: </a:t>
                      </a:r>
                      <a:r>
                        <a:rPr i="1" lang="en" sz="1500"/>
                        <a:t>how fast?</a:t>
                      </a:r>
                      <a:endParaRPr i="1"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t>Training period (Spring)</a:t>
                      </a:r>
                      <a:endParaRPr b="1"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t>New reality (Winter)</a:t>
                      </a:r>
                      <a:endParaRPr b="1"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73175">
                <a:tc>
                  <a:txBody>
                    <a:bodyPr/>
                    <a:lstStyle/>
                    <a:p>
                      <a:pPr indent="0" lvl="0" marL="0" rtl="0" algn="l">
                        <a:spcBef>
                          <a:spcPts val="0"/>
                        </a:spcBef>
                        <a:spcAft>
                          <a:spcPts val="0"/>
                        </a:spcAft>
                        <a:buNone/>
                      </a:pPr>
                      <a:r>
                        <a:rPr lang="en" sz="1500"/>
                        <a:t>Share of </a:t>
                      </a:r>
                      <a:r>
                        <a:rPr b="1" lang="en" sz="1500"/>
                        <a:t>bike</a:t>
                      </a:r>
                      <a:r>
                        <a:rPr lang="en" sz="1500"/>
                        <a:t> rows</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t>90 %</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t>30 %</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FF0000"/>
                      </a:solidFill>
                      <a:prstDash val="solid"/>
                      <a:round/>
                      <a:headEnd len="sm" w="sm" type="none"/>
                      <a:tailEnd len="sm" w="sm" type="none"/>
                    </a:lnB>
                  </a:tcPr>
                </a:tc>
              </a:tr>
              <a:tr h="373175">
                <a:tc>
                  <a:txBody>
                    <a:bodyPr/>
                    <a:lstStyle/>
                    <a:p>
                      <a:pPr indent="0" lvl="0" marL="0" rtl="0" algn="l">
                        <a:spcBef>
                          <a:spcPts val="0"/>
                        </a:spcBef>
                        <a:spcAft>
                          <a:spcPts val="0"/>
                        </a:spcAft>
                        <a:buNone/>
                      </a:pPr>
                      <a:r>
                        <a:rPr lang="en" sz="1500"/>
                        <a:t>Share of </a:t>
                      </a:r>
                      <a:r>
                        <a:rPr b="1" lang="en" sz="1500"/>
                        <a:t>car</a:t>
                      </a:r>
                      <a:r>
                        <a:rPr lang="en" sz="1500"/>
                        <a:t> rows</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rPr lang="en" sz="1500"/>
                        <a:t>10 %</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FF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rPr lang="en" sz="1500"/>
                        <a:t>70 %</a:t>
                      </a:r>
                      <a:endParaRPr sz="1500"/>
                    </a:p>
                  </a:txBody>
                  <a:tcPr marT="91425" marB="91425" marR="91425" marL="91425">
                    <a:lnL cap="flat" cmpd="sng" w="19050">
                      <a:solidFill>
                        <a:srgbClr val="FF0000"/>
                      </a:solidFill>
                      <a:prstDash val="solid"/>
                      <a:round/>
                      <a:headEnd len="sm" w="sm" type="none"/>
                      <a:tailEnd len="sm" w="sm" type="none"/>
                    </a:lnL>
                    <a:lnR cap="flat" cmpd="sng" w="19050">
                      <a:solidFill>
                        <a:srgbClr val="FF0000"/>
                      </a:solidFill>
                      <a:prstDash val="solid"/>
                      <a:round/>
                      <a:headEnd len="sm" w="sm" type="none"/>
                      <a:tailEnd len="sm" w="sm" type="none"/>
                    </a:lnR>
                    <a:lnT cap="flat" cmpd="sng" w="19050">
                      <a:solidFill>
                        <a:srgbClr val="FF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r>
              <a:tr h="568125">
                <a:tc>
                  <a:txBody>
                    <a:bodyPr/>
                    <a:lstStyle/>
                    <a:p>
                      <a:pPr indent="0" lvl="0" marL="0" marR="0" rtl="0" algn="l">
                        <a:lnSpc>
                          <a:spcPct val="100000"/>
                        </a:lnSpc>
                        <a:spcBef>
                          <a:spcPts val="0"/>
                        </a:spcBef>
                        <a:spcAft>
                          <a:spcPts val="0"/>
                        </a:spcAft>
                        <a:buNone/>
                      </a:pPr>
                      <a:r>
                        <a:rPr lang="en" sz="1500"/>
                        <a:t>True rule P(Y ⁣∣ ⁣X)</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500"/>
                        <a:t>Bike → Fast</a:t>
                      </a:r>
                      <a:br>
                        <a:rPr lang="en" sz="1500"/>
                      </a:br>
                      <a:r>
                        <a:rPr lang="en" sz="1500"/>
                        <a:t>Car → Slow</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500"/>
                        <a:t>Bike → Fast (unchanged)</a:t>
                      </a:r>
                      <a:endParaRPr sz="1500"/>
                    </a:p>
                    <a:p>
                      <a:pPr indent="0" lvl="0" marL="0" marR="0" rtl="0" algn="l">
                        <a:lnSpc>
                          <a:spcPct val="100000"/>
                        </a:lnSpc>
                        <a:spcBef>
                          <a:spcPts val="0"/>
                        </a:spcBef>
                        <a:spcAft>
                          <a:spcPts val="0"/>
                        </a:spcAft>
                        <a:buNone/>
                      </a:pPr>
                      <a:r>
                        <a:rPr lang="en" sz="1500"/>
                        <a:t>Car → Slow (unchanged)</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68125">
                <a:tc>
                  <a:txBody>
                    <a:bodyPr/>
                    <a:lstStyle/>
                    <a:p>
                      <a:pPr indent="0" lvl="0" marL="0" rtl="0" algn="l">
                        <a:spcBef>
                          <a:spcPts val="0"/>
                        </a:spcBef>
                        <a:spcAft>
                          <a:spcPts val="0"/>
                        </a:spcAft>
                        <a:buNone/>
                      </a:pPr>
                      <a:r>
                        <a:rPr lang="en" sz="1500"/>
                        <a:t>Model accuracy on bikes</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t>95 %</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t>95 % </a:t>
                      </a:r>
                      <a:r>
                        <a:rPr i="1" lang="en" sz="1500"/>
                        <a:t>(unchanged)</a:t>
                      </a:r>
                      <a:endParaRPr i="1"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68125">
                <a:tc>
                  <a:txBody>
                    <a:bodyPr/>
                    <a:lstStyle/>
                    <a:p>
                      <a:pPr indent="0" lvl="0" marL="0" rtl="0" algn="l">
                        <a:spcBef>
                          <a:spcPts val="0"/>
                        </a:spcBef>
                        <a:spcAft>
                          <a:spcPts val="0"/>
                        </a:spcAft>
                        <a:buNone/>
                      </a:pPr>
                      <a:r>
                        <a:rPr lang="en" sz="1500"/>
                        <a:t>Model accuracy on cars</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t>85 %</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t>8</a:t>
                      </a:r>
                      <a:r>
                        <a:rPr lang="en" sz="1500"/>
                        <a:t>5 % </a:t>
                      </a:r>
                      <a:r>
                        <a:rPr i="1" lang="en" sz="1500">
                          <a:solidFill>
                            <a:srgbClr val="FF0000"/>
                          </a:solidFill>
                        </a:rPr>
                        <a:t>(unchanged)</a:t>
                      </a:r>
                      <a:endParaRPr i="1" sz="1500">
                        <a:solidFill>
                          <a:srgbClr val="FF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68125">
                <a:tc>
                  <a:txBody>
                    <a:bodyPr/>
                    <a:lstStyle/>
                    <a:p>
                      <a:pPr indent="0" lvl="0" marL="0" rtl="0" algn="l">
                        <a:spcBef>
                          <a:spcPts val="0"/>
                        </a:spcBef>
                        <a:spcAft>
                          <a:spcPts val="0"/>
                        </a:spcAft>
                        <a:buNone/>
                      </a:pPr>
                      <a:r>
                        <a:rPr b="1" lang="en" sz="1500"/>
                        <a:t>Headline accuracy</a:t>
                      </a:r>
                      <a:endParaRPr b="1"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t>0.9⋅0.95+0.1⋅0.85=940.9·0.95 + 0.1·0.85 = 94 %</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t>0.3⋅0.95+0.7⋅0.85=880.3·0.95 + 0.7·0.85 = 88 %</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solidFill>
                  <a:srgbClr val="FF0000"/>
                </a:solidFill>
              </a:rPr>
              <a:t>Concept Drift </a:t>
            </a:r>
            <a:r>
              <a:rPr lang="en" sz="2520"/>
              <a:t>over time (vs. Data Drift)</a:t>
            </a:r>
            <a:endParaRPr sz="2520"/>
          </a:p>
        </p:txBody>
      </p:sp>
      <p:pic>
        <p:nvPicPr>
          <p:cNvPr id="168" name="Google Shape;168;p35"/>
          <p:cNvPicPr preferRelativeResize="0"/>
          <p:nvPr/>
        </p:nvPicPr>
        <p:blipFill rotWithShape="1">
          <a:blip r:embed="rId3">
            <a:alphaModFix/>
          </a:blip>
          <a:srcRect b="6556" l="0" r="0" t="7169"/>
          <a:stretch/>
        </p:blipFill>
        <p:spPr>
          <a:xfrm>
            <a:off x="248150" y="1238625"/>
            <a:ext cx="7521775" cy="3652425"/>
          </a:xfrm>
          <a:prstGeom prst="rect">
            <a:avLst/>
          </a:prstGeom>
          <a:noFill/>
          <a:ln>
            <a:noFill/>
          </a:ln>
        </p:spPr>
      </p:pic>
      <p:sp>
        <p:nvSpPr>
          <p:cNvPr id="169" name="Google Shape;169;p35"/>
          <p:cNvSpPr/>
          <p:nvPr/>
        </p:nvSpPr>
        <p:spPr>
          <a:xfrm>
            <a:off x="3245774" y="2250900"/>
            <a:ext cx="574500" cy="1244700"/>
          </a:xfrm>
          <a:prstGeom prst="rect">
            <a:avLst/>
          </a:prstGeom>
          <a:noFill/>
          <a:ln cap="flat" cmpd="sng" w="1905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35"/>
          <p:cNvSpPr/>
          <p:nvPr/>
        </p:nvSpPr>
        <p:spPr>
          <a:xfrm>
            <a:off x="737050" y="2250900"/>
            <a:ext cx="634500" cy="1244700"/>
          </a:xfrm>
          <a:prstGeom prst="rect">
            <a:avLst/>
          </a:prstGeom>
          <a:noFill/>
          <a:ln cap="flat" cmpd="sng" w="1905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6"/>
          <p:cNvSpPr txBox="1"/>
          <p:nvPr>
            <p:ph type="title"/>
          </p:nvPr>
        </p:nvSpPr>
        <p:spPr>
          <a:xfrm>
            <a:off x="311700" y="2945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solidFill>
                  <a:srgbClr val="FF0000"/>
                </a:solidFill>
              </a:rPr>
              <a:t>Concept</a:t>
            </a:r>
            <a:r>
              <a:rPr lang="en" sz="2520">
                <a:solidFill>
                  <a:srgbClr val="FF0000"/>
                </a:solidFill>
              </a:rPr>
              <a:t> Drift </a:t>
            </a:r>
            <a:r>
              <a:rPr lang="en" sz="2520"/>
              <a:t>over time</a:t>
            </a:r>
            <a:endParaRPr sz="2520"/>
          </a:p>
        </p:txBody>
      </p:sp>
      <p:graphicFrame>
        <p:nvGraphicFramePr>
          <p:cNvPr id="176" name="Google Shape;176;p36"/>
          <p:cNvGraphicFramePr/>
          <p:nvPr/>
        </p:nvGraphicFramePr>
        <p:xfrm>
          <a:off x="234475" y="1082600"/>
          <a:ext cx="3000000" cy="3000000"/>
        </p:xfrm>
        <a:graphic>
          <a:graphicData uri="http://schemas.openxmlformats.org/drawingml/2006/table">
            <a:tbl>
              <a:tblPr>
                <a:noFill/>
                <a:tableStyleId>{9DEFFDEF-0E0E-451E-B1CF-A810274E3607}</a:tableStyleId>
              </a:tblPr>
              <a:tblGrid>
                <a:gridCol w="2076750"/>
                <a:gridCol w="2409025"/>
                <a:gridCol w="4034825"/>
              </a:tblGrid>
              <a:tr h="200025">
                <a:tc>
                  <a:txBody>
                    <a:bodyPr/>
                    <a:lstStyle/>
                    <a:p>
                      <a:pPr indent="0" lvl="0" marL="0" rtl="0" algn="l">
                        <a:spcBef>
                          <a:spcPts val="0"/>
                        </a:spcBef>
                        <a:spcAft>
                          <a:spcPts val="0"/>
                        </a:spcAft>
                        <a:buClr>
                          <a:schemeClr val="dk1"/>
                        </a:buClr>
                        <a:buSzPts val="1100"/>
                        <a:buFont typeface="Arial"/>
                        <a:buNone/>
                      </a:pPr>
                      <a:r>
                        <a:rPr b="1" lang="en" sz="1500">
                          <a:solidFill>
                            <a:schemeClr val="dk1"/>
                          </a:solidFill>
                        </a:rPr>
                        <a:t>Prediction</a:t>
                      </a:r>
                      <a:r>
                        <a:rPr lang="en" sz="1500">
                          <a:solidFill>
                            <a:schemeClr val="dk1"/>
                          </a:solidFill>
                        </a:rPr>
                        <a:t>: </a:t>
                      </a:r>
                      <a:r>
                        <a:rPr i="1" lang="en" sz="1500">
                          <a:solidFill>
                            <a:schemeClr val="dk1"/>
                          </a:solidFill>
                        </a:rPr>
                        <a:t>how fast?</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t>Training period (Spring)</a:t>
                      </a:r>
                      <a:endParaRPr b="1"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t>New reality (Winter)</a:t>
                      </a:r>
                      <a:endParaRPr b="1"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 sz="1300"/>
                        <a:t>Share of </a:t>
                      </a:r>
                      <a:r>
                        <a:rPr b="1" lang="en" sz="1300"/>
                        <a:t>bike</a:t>
                      </a:r>
                      <a:r>
                        <a:rPr lang="en" sz="1300"/>
                        <a:t> rows</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90 %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30 %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 sz="1300"/>
                        <a:t>Share of </a:t>
                      </a:r>
                      <a:r>
                        <a:rPr b="1" lang="en" sz="1300"/>
                        <a:t>car</a:t>
                      </a:r>
                      <a:r>
                        <a:rPr lang="en" sz="1300"/>
                        <a:t> rows</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10 %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70 %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 sz="1300"/>
                        <a:t>True rule</a:t>
                      </a:r>
                      <a:r>
                        <a:rPr lang="en" sz="1300"/>
                        <a:t> P(Y ⁣∣ ⁣X)</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300"/>
                        <a:t>Bike → Fast</a:t>
                      </a:r>
                      <a:br>
                        <a:rPr b="1" lang="en" sz="1300"/>
                      </a:br>
                      <a:r>
                        <a:rPr b="1" lang="en" sz="1300"/>
                        <a:t>Car → Slow</a:t>
                      </a:r>
                      <a:endParaRPr b="1"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300"/>
                        <a:t>Bike → Fast</a:t>
                      </a:r>
                      <a:r>
                        <a:rPr lang="en" sz="1300"/>
                        <a:t> (unchanged)</a:t>
                      </a:r>
                      <a:endParaRPr sz="1300"/>
                    </a:p>
                    <a:p>
                      <a:pPr indent="0" lvl="0" marL="0" rtl="0" algn="l">
                        <a:spcBef>
                          <a:spcPts val="0"/>
                        </a:spcBef>
                        <a:spcAft>
                          <a:spcPts val="0"/>
                        </a:spcAft>
                        <a:buNone/>
                      </a:pPr>
                      <a:r>
                        <a:rPr b="1" lang="en" sz="1300">
                          <a:solidFill>
                            <a:srgbClr val="FF0000"/>
                          </a:solidFill>
                        </a:rPr>
                        <a:t>Car → Fast</a:t>
                      </a:r>
                      <a:r>
                        <a:rPr lang="en" sz="1300">
                          <a:solidFill>
                            <a:srgbClr val="FF0000"/>
                          </a:solidFill>
                        </a:rPr>
                        <a:t> </a:t>
                      </a:r>
                      <a:r>
                        <a:rPr b="1" lang="en" sz="1300">
                          <a:solidFill>
                            <a:srgbClr val="FF0000"/>
                          </a:solidFill>
                        </a:rPr>
                        <a:t>← rule flips!</a:t>
                      </a:r>
                      <a:endParaRPr b="1" sz="1300">
                        <a:solidFill>
                          <a:srgbClr val="FF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 sz="1300"/>
                        <a:t>Model after spring training</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Learns the spring rule perfectly</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28600">
                <a:tc>
                  <a:txBody>
                    <a:bodyPr/>
                    <a:lstStyle/>
                    <a:p>
                      <a:pPr indent="0" lvl="0" marL="0" rtl="0" algn="l">
                        <a:spcBef>
                          <a:spcPts val="0"/>
                        </a:spcBef>
                        <a:spcAft>
                          <a:spcPts val="0"/>
                        </a:spcAft>
                        <a:buNone/>
                      </a:pPr>
                      <a:r>
                        <a:rPr b="1" lang="en" sz="1300"/>
                        <a:t>Model accuracy on bikes</a:t>
                      </a:r>
                      <a:endParaRPr b="1"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 95 %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 95 % (rule unchanged)</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28600">
                <a:tc>
                  <a:txBody>
                    <a:bodyPr/>
                    <a:lstStyle/>
                    <a:p>
                      <a:pPr indent="0" lvl="0" marL="0" rtl="0" algn="l">
                        <a:spcBef>
                          <a:spcPts val="0"/>
                        </a:spcBef>
                        <a:spcAft>
                          <a:spcPts val="0"/>
                        </a:spcAft>
                        <a:buNone/>
                      </a:pPr>
                      <a:r>
                        <a:rPr b="1" lang="en" sz="1300"/>
                        <a:t>Model accuracy on cars</a:t>
                      </a:r>
                      <a:endParaRPr b="1"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 95 %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 5 % (predicts “Slow” but cars are now “Fast”)</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 sz="1300"/>
                        <a:t>Headline accuracy</a:t>
                      </a:r>
                      <a:endParaRPr b="1"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0.9⋅0.95+0.1⋅0.95=95%0.9·0.95 + 0.1·0.95 = 95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0.3⋅0.95+0.7⋅0.05=33%0.3·0.95 + 0.7·0.05 = 33 \%</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solidFill>
                  <a:srgbClr val="FF0000"/>
                </a:solidFill>
              </a:rPr>
              <a:t>Types of Concept Drifts</a:t>
            </a:r>
            <a:r>
              <a:rPr lang="en" sz="2520">
                <a:solidFill>
                  <a:srgbClr val="FF0000"/>
                </a:solidFill>
              </a:rPr>
              <a:t> </a:t>
            </a:r>
            <a:r>
              <a:rPr lang="en" sz="2520"/>
              <a:t>over time</a:t>
            </a:r>
            <a:endParaRPr sz="2520"/>
          </a:p>
        </p:txBody>
      </p:sp>
      <p:pic>
        <p:nvPicPr>
          <p:cNvPr id="182" name="Google Shape;182;p37"/>
          <p:cNvPicPr preferRelativeResize="0"/>
          <p:nvPr/>
        </p:nvPicPr>
        <p:blipFill>
          <a:blip r:embed="rId3">
            <a:alphaModFix/>
          </a:blip>
          <a:stretch>
            <a:fillRect/>
          </a:stretch>
        </p:blipFill>
        <p:spPr>
          <a:xfrm>
            <a:off x="311700" y="1177425"/>
            <a:ext cx="5432575" cy="3727001"/>
          </a:xfrm>
          <a:prstGeom prst="rect">
            <a:avLst/>
          </a:prstGeom>
          <a:noFill/>
          <a:ln>
            <a:noFill/>
          </a:ln>
        </p:spPr>
      </p:pic>
      <p:sp>
        <p:nvSpPr>
          <p:cNvPr id="183" name="Google Shape;183;p37"/>
          <p:cNvSpPr txBox="1"/>
          <p:nvPr/>
        </p:nvSpPr>
        <p:spPr>
          <a:xfrm>
            <a:off x="5954325" y="2671475"/>
            <a:ext cx="3050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800" u="sng">
                <a:solidFill>
                  <a:srgbClr val="FF0000"/>
                </a:solidFill>
              </a:rPr>
              <a:t>Periodic</a:t>
            </a:r>
            <a:r>
              <a:rPr i="1" lang="en" sz="1800">
                <a:solidFill>
                  <a:srgbClr val="FF0000"/>
                </a:solidFill>
              </a:rPr>
              <a:t> fine-tuning needed</a:t>
            </a:r>
            <a:endParaRPr i="1" sz="18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187" name="Shape 187"/>
        <p:cNvGrpSpPr/>
        <p:nvPr/>
      </p:nvGrpSpPr>
      <p:grpSpPr>
        <a:xfrm>
          <a:off x="0" y="0"/>
          <a:ext cx="0" cy="0"/>
          <a:chOff x="0" y="0"/>
          <a:chExt cx="0" cy="0"/>
        </a:xfrm>
      </p:grpSpPr>
      <p:sp>
        <p:nvSpPr>
          <p:cNvPr id="188" name="Google Shape;188;p3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Is there any side-effect?</a:t>
            </a:r>
            <a:endParaRPr b="1" i="1">
              <a:solidFill>
                <a:srgbClr val="A61C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39"/>
          <p:cNvPicPr preferRelativeResize="0"/>
          <p:nvPr/>
        </p:nvPicPr>
        <p:blipFill>
          <a:blip r:embed="rId3">
            <a:alphaModFix/>
          </a:blip>
          <a:stretch>
            <a:fillRect/>
          </a:stretch>
        </p:blipFill>
        <p:spPr>
          <a:xfrm>
            <a:off x="523875" y="1307975"/>
            <a:ext cx="8096250" cy="3676650"/>
          </a:xfrm>
          <a:prstGeom prst="rect">
            <a:avLst/>
          </a:prstGeom>
          <a:noFill/>
          <a:ln>
            <a:noFill/>
          </a:ln>
        </p:spPr>
      </p:pic>
      <p:sp>
        <p:nvSpPr>
          <p:cNvPr id="194" name="Google Shape;194;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solidFill>
                  <a:srgbClr val="FF0000"/>
                </a:solidFill>
              </a:rPr>
              <a:t>Catastrophic Forgetting </a:t>
            </a:r>
            <a:r>
              <a:rPr lang="en" sz="2520"/>
              <a:t>due to Fine-tuning</a:t>
            </a:r>
            <a:endParaRPr sz="252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198" name="Shape 198"/>
        <p:cNvGrpSpPr/>
        <p:nvPr/>
      </p:nvGrpSpPr>
      <p:grpSpPr>
        <a:xfrm>
          <a:off x="0" y="0"/>
          <a:ext cx="0" cy="0"/>
          <a:chOff x="0" y="0"/>
          <a:chExt cx="0" cy="0"/>
        </a:xfrm>
      </p:grpSpPr>
      <p:sp>
        <p:nvSpPr>
          <p:cNvPr id="199" name="Google Shape;199;p4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Full-Parameter Fine-tuning</a:t>
            </a:r>
            <a:endParaRPr b="1" i="1">
              <a:solidFill>
                <a:srgbClr val="A61C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Fine-tuning </a:t>
            </a:r>
            <a:r>
              <a:rPr lang="en" sz="2320">
                <a:solidFill>
                  <a:srgbClr val="FF0000"/>
                </a:solidFill>
              </a:rPr>
              <a:t>Encoder-only</a:t>
            </a:r>
            <a:r>
              <a:rPr lang="en" sz="2320"/>
              <a:t> Model – Task: </a:t>
            </a:r>
            <a:r>
              <a:rPr i="1" lang="en" sz="2320"/>
              <a:t>Sentence Classification</a:t>
            </a:r>
            <a:endParaRPr i="1" sz="2320"/>
          </a:p>
        </p:txBody>
      </p:sp>
      <p:pic>
        <p:nvPicPr>
          <p:cNvPr id="205" name="Google Shape;205;p41"/>
          <p:cNvPicPr preferRelativeResize="0"/>
          <p:nvPr/>
        </p:nvPicPr>
        <p:blipFill rotWithShape="1">
          <a:blip r:embed="rId3">
            <a:alphaModFix/>
          </a:blip>
          <a:srcRect b="0" l="0" r="49884" t="0"/>
          <a:stretch/>
        </p:blipFill>
        <p:spPr>
          <a:xfrm>
            <a:off x="234500" y="1142750"/>
            <a:ext cx="3565290" cy="3918675"/>
          </a:xfrm>
          <a:prstGeom prst="rect">
            <a:avLst/>
          </a:prstGeom>
          <a:noFill/>
          <a:ln>
            <a:noFill/>
          </a:ln>
        </p:spPr>
      </p:pic>
      <p:pic>
        <p:nvPicPr>
          <p:cNvPr id="206" name="Google Shape;206;p41"/>
          <p:cNvPicPr preferRelativeResize="0"/>
          <p:nvPr/>
        </p:nvPicPr>
        <p:blipFill rotWithShape="1">
          <a:blip r:embed="rId3">
            <a:alphaModFix/>
          </a:blip>
          <a:srcRect b="0" l="49884" r="0" t="0"/>
          <a:stretch/>
        </p:blipFill>
        <p:spPr>
          <a:xfrm>
            <a:off x="4571994" y="1191600"/>
            <a:ext cx="3476402" cy="3820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Fine-tuning </a:t>
            </a:r>
            <a:r>
              <a:rPr lang="en" sz="2320">
                <a:solidFill>
                  <a:srgbClr val="FF0000"/>
                </a:solidFill>
              </a:rPr>
              <a:t>Encoder-only</a:t>
            </a:r>
            <a:r>
              <a:rPr lang="en" sz="2320"/>
              <a:t> Model – Task: </a:t>
            </a:r>
            <a:r>
              <a:rPr i="1" lang="en" sz="2320"/>
              <a:t>Sentence Classification</a:t>
            </a:r>
            <a:endParaRPr i="1" sz="2320"/>
          </a:p>
        </p:txBody>
      </p:sp>
      <p:pic>
        <p:nvPicPr>
          <p:cNvPr id="212" name="Google Shape;212;p42"/>
          <p:cNvPicPr preferRelativeResize="0"/>
          <p:nvPr/>
        </p:nvPicPr>
        <p:blipFill rotWithShape="1">
          <a:blip r:embed="rId3">
            <a:alphaModFix/>
          </a:blip>
          <a:srcRect b="0" l="20292" r="19970" t="0"/>
          <a:stretch/>
        </p:blipFill>
        <p:spPr>
          <a:xfrm>
            <a:off x="154200" y="2387600"/>
            <a:ext cx="3994626" cy="2558175"/>
          </a:xfrm>
          <a:prstGeom prst="rect">
            <a:avLst/>
          </a:prstGeom>
          <a:noFill/>
          <a:ln>
            <a:noFill/>
          </a:ln>
        </p:spPr>
      </p:pic>
      <p:grpSp>
        <p:nvGrpSpPr>
          <p:cNvPr id="213" name="Google Shape;213;p42"/>
          <p:cNvGrpSpPr/>
          <p:nvPr/>
        </p:nvGrpSpPr>
        <p:grpSpPr>
          <a:xfrm>
            <a:off x="3806625" y="1287350"/>
            <a:ext cx="4760000" cy="2974450"/>
            <a:chOff x="3806625" y="1287350"/>
            <a:chExt cx="4760000" cy="2974450"/>
          </a:xfrm>
        </p:grpSpPr>
        <p:pic>
          <p:nvPicPr>
            <p:cNvPr id="214" name="Google Shape;214;p42"/>
            <p:cNvPicPr preferRelativeResize="0"/>
            <p:nvPr/>
          </p:nvPicPr>
          <p:blipFill rotWithShape="1">
            <a:blip r:embed="rId4">
              <a:alphaModFix/>
            </a:blip>
            <a:srcRect b="9690" l="16773" r="22187" t="0"/>
            <a:stretch/>
          </p:blipFill>
          <p:spPr>
            <a:xfrm>
              <a:off x="4572000" y="1287350"/>
              <a:ext cx="3994625" cy="2246366"/>
            </a:xfrm>
            <a:prstGeom prst="rect">
              <a:avLst/>
            </a:prstGeom>
            <a:noFill/>
            <a:ln>
              <a:noFill/>
            </a:ln>
          </p:spPr>
        </p:pic>
        <p:cxnSp>
          <p:nvCxnSpPr>
            <p:cNvPr id="215" name="Google Shape;215;p42"/>
            <p:cNvCxnSpPr/>
            <p:nvPr/>
          </p:nvCxnSpPr>
          <p:spPr>
            <a:xfrm flipH="1" rot="10800000">
              <a:off x="3806625" y="1553150"/>
              <a:ext cx="984900" cy="1272300"/>
            </a:xfrm>
            <a:prstGeom prst="straightConnector1">
              <a:avLst/>
            </a:prstGeom>
            <a:noFill/>
            <a:ln cap="flat" cmpd="sng" w="19050">
              <a:solidFill>
                <a:srgbClr val="FF0000"/>
              </a:solidFill>
              <a:prstDash val="solid"/>
              <a:round/>
              <a:headEnd len="med" w="med" type="none"/>
              <a:tailEnd len="med" w="med" type="none"/>
            </a:ln>
          </p:spPr>
        </p:cxnSp>
        <p:cxnSp>
          <p:nvCxnSpPr>
            <p:cNvPr id="216" name="Google Shape;216;p42"/>
            <p:cNvCxnSpPr/>
            <p:nvPr/>
          </p:nvCxnSpPr>
          <p:spPr>
            <a:xfrm flipH="1" rot="10800000">
              <a:off x="4025500" y="3454800"/>
              <a:ext cx="861600" cy="807000"/>
            </a:xfrm>
            <a:prstGeom prst="straightConnector1">
              <a:avLst/>
            </a:prstGeom>
            <a:noFill/>
            <a:ln cap="flat" cmpd="sng" w="19050">
              <a:solidFill>
                <a:srgbClr val="FF0000"/>
              </a:solidFill>
              <a:prstDash val="solid"/>
              <a:round/>
              <a:headEnd len="med" w="med" type="none"/>
              <a:tailEnd len="med" w="med" type="none"/>
            </a:ln>
          </p:spPr>
        </p:cxnSp>
      </p:grpSp>
      <p:pic>
        <p:nvPicPr>
          <p:cNvPr id="217" name="Google Shape;217;p42"/>
          <p:cNvPicPr preferRelativeResize="0"/>
          <p:nvPr/>
        </p:nvPicPr>
        <p:blipFill rotWithShape="1">
          <a:blip r:embed="rId5">
            <a:alphaModFix/>
          </a:blip>
          <a:srcRect b="21315" l="0" r="71277" t="49300"/>
          <a:stretch/>
        </p:blipFill>
        <p:spPr>
          <a:xfrm>
            <a:off x="311700" y="1203362"/>
            <a:ext cx="2626349" cy="9985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Fine-tuning </a:t>
            </a:r>
            <a:r>
              <a:rPr lang="en" sz="2320">
                <a:solidFill>
                  <a:srgbClr val="FF0000"/>
                </a:solidFill>
              </a:rPr>
              <a:t>Encoder-only</a:t>
            </a:r>
            <a:r>
              <a:rPr lang="en" sz="2320"/>
              <a:t> Model – Task: </a:t>
            </a:r>
            <a:r>
              <a:rPr i="1" lang="en" sz="2320"/>
              <a:t>Sentence Classification</a:t>
            </a:r>
            <a:endParaRPr i="1" sz="2320"/>
          </a:p>
        </p:txBody>
      </p:sp>
      <p:pic>
        <p:nvPicPr>
          <p:cNvPr id="223" name="Google Shape;223;p43"/>
          <p:cNvPicPr preferRelativeResize="0"/>
          <p:nvPr/>
        </p:nvPicPr>
        <p:blipFill rotWithShape="1">
          <a:blip r:embed="rId3">
            <a:alphaModFix/>
          </a:blip>
          <a:srcRect b="9690" l="16773" r="22187" t="0"/>
          <a:stretch/>
        </p:blipFill>
        <p:spPr>
          <a:xfrm>
            <a:off x="98789" y="2559568"/>
            <a:ext cx="3994625" cy="2246366"/>
          </a:xfrm>
          <a:prstGeom prst="rect">
            <a:avLst/>
          </a:prstGeom>
          <a:noFill/>
          <a:ln>
            <a:noFill/>
          </a:ln>
        </p:spPr>
      </p:pic>
      <p:grpSp>
        <p:nvGrpSpPr>
          <p:cNvPr id="224" name="Google Shape;224;p43"/>
          <p:cNvGrpSpPr/>
          <p:nvPr/>
        </p:nvGrpSpPr>
        <p:grpSpPr>
          <a:xfrm>
            <a:off x="3806625" y="915200"/>
            <a:ext cx="4869450" cy="3346600"/>
            <a:chOff x="3806625" y="915200"/>
            <a:chExt cx="4869450" cy="3346600"/>
          </a:xfrm>
        </p:grpSpPr>
        <p:pic>
          <p:nvPicPr>
            <p:cNvPr id="225" name="Google Shape;225;p43"/>
            <p:cNvPicPr preferRelativeResize="0"/>
            <p:nvPr/>
          </p:nvPicPr>
          <p:blipFill rotWithShape="1">
            <a:blip r:embed="rId4">
              <a:alphaModFix/>
            </a:blip>
            <a:srcRect b="7604" l="16346" r="23065" t="0"/>
            <a:stretch/>
          </p:blipFill>
          <p:spPr>
            <a:xfrm>
              <a:off x="4681450" y="915200"/>
              <a:ext cx="3994625" cy="2548176"/>
            </a:xfrm>
            <a:prstGeom prst="rect">
              <a:avLst/>
            </a:prstGeom>
            <a:noFill/>
            <a:ln>
              <a:noFill/>
            </a:ln>
          </p:spPr>
        </p:pic>
        <p:cxnSp>
          <p:nvCxnSpPr>
            <p:cNvPr id="226" name="Google Shape;226;p43"/>
            <p:cNvCxnSpPr/>
            <p:nvPr/>
          </p:nvCxnSpPr>
          <p:spPr>
            <a:xfrm flipH="1" rot="10800000">
              <a:off x="3806625" y="1553150"/>
              <a:ext cx="984900" cy="1272300"/>
            </a:xfrm>
            <a:prstGeom prst="straightConnector1">
              <a:avLst/>
            </a:prstGeom>
            <a:noFill/>
            <a:ln cap="flat" cmpd="sng" w="19050">
              <a:solidFill>
                <a:srgbClr val="FF0000"/>
              </a:solidFill>
              <a:prstDash val="solid"/>
              <a:round/>
              <a:headEnd len="med" w="med" type="none"/>
              <a:tailEnd len="med" w="med" type="none"/>
            </a:ln>
          </p:spPr>
        </p:cxnSp>
        <p:cxnSp>
          <p:nvCxnSpPr>
            <p:cNvPr id="227" name="Google Shape;227;p43"/>
            <p:cNvCxnSpPr/>
            <p:nvPr/>
          </p:nvCxnSpPr>
          <p:spPr>
            <a:xfrm flipH="1" rot="10800000">
              <a:off x="4025500" y="2934900"/>
              <a:ext cx="875400" cy="1326900"/>
            </a:xfrm>
            <a:prstGeom prst="straightConnector1">
              <a:avLst/>
            </a:prstGeom>
            <a:noFill/>
            <a:ln cap="flat" cmpd="sng" w="19050">
              <a:solidFill>
                <a:srgbClr val="FF0000"/>
              </a:solidFill>
              <a:prstDash val="solid"/>
              <a:round/>
              <a:headEnd len="med" w="med" type="none"/>
              <a:tailEnd len="med" w="med" type="none"/>
            </a:ln>
          </p:spPr>
        </p:cxnSp>
      </p:grpSp>
      <p:pic>
        <p:nvPicPr>
          <p:cNvPr id="228" name="Google Shape;228;p43"/>
          <p:cNvPicPr preferRelativeResize="0"/>
          <p:nvPr/>
        </p:nvPicPr>
        <p:blipFill rotWithShape="1">
          <a:blip r:embed="rId5">
            <a:alphaModFix/>
          </a:blip>
          <a:srcRect b="21315" l="0" r="71277" t="49300"/>
          <a:stretch/>
        </p:blipFill>
        <p:spPr>
          <a:xfrm>
            <a:off x="311700" y="1203362"/>
            <a:ext cx="2626349" cy="9985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Fine-tuning </a:t>
            </a:r>
            <a:r>
              <a:rPr lang="en" sz="2320">
                <a:solidFill>
                  <a:srgbClr val="FF0000"/>
                </a:solidFill>
              </a:rPr>
              <a:t>Encoder-only</a:t>
            </a:r>
            <a:r>
              <a:rPr lang="en" sz="2320"/>
              <a:t> Model – Task: </a:t>
            </a:r>
            <a:r>
              <a:rPr i="1" lang="en" sz="2320"/>
              <a:t>Sentence Classification</a:t>
            </a:r>
            <a:endParaRPr i="1" sz="2320"/>
          </a:p>
        </p:txBody>
      </p:sp>
      <p:pic>
        <p:nvPicPr>
          <p:cNvPr id="234" name="Google Shape;234;p44"/>
          <p:cNvPicPr preferRelativeResize="0"/>
          <p:nvPr/>
        </p:nvPicPr>
        <p:blipFill rotWithShape="1">
          <a:blip r:embed="rId3">
            <a:alphaModFix/>
          </a:blip>
          <a:srcRect b="7604" l="16346" r="23065" t="0"/>
          <a:stretch/>
        </p:blipFill>
        <p:spPr>
          <a:xfrm>
            <a:off x="30875" y="2387575"/>
            <a:ext cx="3994625" cy="2548176"/>
          </a:xfrm>
          <a:prstGeom prst="rect">
            <a:avLst/>
          </a:prstGeom>
          <a:noFill/>
          <a:ln>
            <a:noFill/>
          </a:ln>
        </p:spPr>
      </p:pic>
      <p:pic>
        <p:nvPicPr>
          <p:cNvPr id="235" name="Google Shape;235;p44"/>
          <p:cNvPicPr preferRelativeResize="0"/>
          <p:nvPr/>
        </p:nvPicPr>
        <p:blipFill rotWithShape="1">
          <a:blip r:embed="rId4">
            <a:alphaModFix/>
          </a:blip>
          <a:srcRect b="21315" l="0" r="71277" t="49300"/>
          <a:stretch/>
        </p:blipFill>
        <p:spPr>
          <a:xfrm>
            <a:off x="311700" y="1203362"/>
            <a:ext cx="2626349" cy="998599"/>
          </a:xfrm>
          <a:prstGeom prst="rect">
            <a:avLst/>
          </a:prstGeom>
          <a:noFill/>
          <a:ln>
            <a:noFill/>
          </a:ln>
        </p:spPr>
      </p:pic>
      <p:grpSp>
        <p:nvGrpSpPr>
          <p:cNvPr id="236" name="Google Shape;236;p44"/>
          <p:cNvGrpSpPr/>
          <p:nvPr/>
        </p:nvGrpSpPr>
        <p:grpSpPr>
          <a:xfrm>
            <a:off x="3806625" y="1017725"/>
            <a:ext cx="5088901" cy="3244075"/>
            <a:chOff x="3806625" y="1017725"/>
            <a:chExt cx="5088901" cy="3244075"/>
          </a:xfrm>
        </p:grpSpPr>
        <p:cxnSp>
          <p:nvCxnSpPr>
            <p:cNvPr id="237" name="Google Shape;237;p44"/>
            <p:cNvCxnSpPr/>
            <p:nvPr/>
          </p:nvCxnSpPr>
          <p:spPr>
            <a:xfrm flipH="1" rot="10800000">
              <a:off x="3806625" y="1621550"/>
              <a:ext cx="1217400" cy="1203900"/>
            </a:xfrm>
            <a:prstGeom prst="straightConnector1">
              <a:avLst/>
            </a:prstGeom>
            <a:noFill/>
            <a:ln cap="flat" cmpd="sng" w="19050">
              <a:solidFill>
                <a:srgbClr val="FF0000"/>
              </a:solidFill>
              <a:prstDash val="solid"/>
              <a:round/>
              <a:headEnd len="med" w="med" type="none"/>
              <a:tailEnd len="med" w="med" type="none"/>
            </a:ln>
          </p:spPr>
        </p:cxnSp>
        <p:cxnSp>
          <p:nvCxnSpPr>
            <p:cNvPr id="238" name="Google Shape;238;p44"/>
            <p:cNvCxnSpPr/>
            <p:nvPr/>
          </p:nvCxnSpPr>
          <p:spPr>
            <a:xfrm flipH="1" rot="10800000">
              <a:off x="4025500" y="3851400"/>
              <a:ext cx="1682700" cy="410400"/>
            </a:xfrm>
            <a:prstGeom prst="straightConnector1">
              <a:avLst/>
            </a:prstGeom>
            <a:noFill/>
            <a:ln cap="flat" cmpd="sng" w="19050">
              <a:solidFill>
                <a:srgbClr val="FF0000"/>
              </a:solidFill>
              <a:prstDash val="solid"/>
              <a:round/>
              <a:headEnd len="med" w="med" type="none"/>
              <a:tailEnd len="med" w="med" type="none"/>
            </a:ln>
          </p:spPr>
        </p:cxnSp>
        <p:pic>
          <p:nvPicPr>
            <p:cNvPr id="239" name="Google Shape;239;p44"/>
            <p:cNvPicPr preferRelativeResize="0"/>
            <p:nvPr/>
          </p:nvPicPr>
          <p:blipFill rotWithShape="1">
            <a:blip r:embed="rId5">
              <a:alphaModFix/>
            </a:blip>
            <a:srcRect b="0" l="6550" r="18074" t="0"/>
            <a:stretch/>
          </p:blipFill>
          <p:spPr>
            <a:xfrm>
              <a:off x="4900900" y="1017725"/>
              <a:ext cx="3994626" cy="2919637"/>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Multi-task </a:t>
            </a:r>
            <a:r>
              <a:rPr lang="en" sz="2320"/>
              <a:t>Fine-tuning of </a:t>
            </a:r>
            <a:r>
              <a:rPr lang="en" sz="2320">
                <a:solidFill>
                  <a:srgbClr val="FF0000"/>
                </a:solidFill>
              </a:rPr>
              <a:t>Encoder-only</a:t>
            </a:r>
            <a:r>
              <a:rPr lang="en" sz="2320"/>
              <a:t> Model</a:t>
            </a:r>
            <a:endParaRPr i="1" sz="2320"/>
          </a:p>
        </p:txBody>
      </p:sp>
      <p:pic>
        <p:nvPicPr>
          <p:cNvPr id="245" name="Google Shape;245;p45"/>
          <p:cNvPicPr preferRelativeResize="0"/>
          <p:nvPr/>
        </p:nvPicPr>
        <p:blipFill>
          <a:blip r:embed="rId3">
            <a:alphaModFix/>
          </a:blip>
          <a:stretch>
            <a:fillRect/>
          </a:stretch>
        </p:blipFill>
        <p:spPr>
          <a:xfrm>
            <a:off x="863725" y="1093775"/>
            <a:ext cx="4816999" cy="37921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6"/>
          <p:cNvSpPr txBox="1"/>
          <p:nvPr>
            <p:ph type="title"/>
          </p:nvPr>
        </p:nvSpPr>
        <p:spPr>
          <a:xfrm>
            <a:off x="311700" y="247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Popular Fine-tuned BERT Models</a:t>
            </a:r>
            <a:endParaRPr i="1" sz="2320"/>
          </a:p>
        </p:txBody>
      </p:sp>
      <p:graphicFrame>
        <p:nvGraphicFramePr>
          <p:cNvPr id="251" name="Google Shape;251;p46"/>
          <p:cNvGraphicFramePr/>
          <p:nvPr/>
        </p:nvGraphicFramePr>
        <p:xfrm>
          <a:off x="311688" y="1254125"/>
          <a:ext cx="3000000" cy="3000000"/>
        </p:xfrm>
        <a:graphic>
          <a:graphicData uri="http://schemas.openxmlformats.org/drawingml/2006/table">
            <a:tbl>
              <a:tblPr>
                <a:noFill/>
                <a:tableStyleId>{9DEFFDEF-0E0E-451E-B1CF-A810274E3607}</a:tableStyleId>
              </a:tblPr>
              <a:tblGrid>
                <a:gridCol w="1399875"/>
                <a:gridCol w="1551050"/>
                <a:gridCol w="2056000"/>
                <a:gridCol w="3577825"/>
              </a:tblGrid>
              <a:tr h="668225">
                <a:tc>
                  <a:txBody>
                    <a:bodyPr/>
                    <a:lstStyle/>
                    <a:p>
                      <a:pPr indent="0" lvl="0" marL="0" rtl="0" algn="ctr">
                        <a:lnSpc>
                          <a:spcPct val="115000"/>
                        </a:lnSpc>
                        <a:spcBef>
                          <a:spcPts val="0"/>
                        </a:spcBef>
                        <a:spcAft>
                          <a:spcPts val="0"/>
                        </a:spcAft>
                        <a:buNone/>
                      </a:pPr>
                      <a:r>
                        <a:rPr b="1" lang="en" sz="1600"/>
                        <a:t>Domain</a:t>
                      </a:r>
                      <a:endParaRPr b="1"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600"/>
                        <a:t>Representative checkpoint</a:t>
                      </a:r>
                      <a:endParaRPr b="1"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600"/>
                        <a:t>Key corpus</a:t>
                      </a:r>
                      <a:endParaRPr b="1"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600"/>
                        <a:t>Training objective(s)</a:t>
                      </a:r>
                      <a:endParaRPr b="1"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003275">
                <a:tc>
                  <a:txBody>
                    <a:bodyPr/>
                    <a:lstStyle/>
                    <a:p>
                      <a:pPr indent="0" lvl="0" marL="0" rtl="0" algn="l">
                        <a:spcBef>
                          <a:spcPts val="0"/>
                        </a:spcBef>
                        <a:spcAft>
                          <a:spcPts val="0"/>
                        </a:spcAft>
                        <a:buNone/>
                      </a:pPr>
                      <a:r>
                        <a:rPr lang="en" sz="1600"/>
                        <a:t>Science</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600"/>
                        <a:t>SciBERT</a:t>
                      </a:r>
                      <a:endParaRPr b="1"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3.2 B tokens</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Masked-Language-Model + Next-Sentence-Prediction </a:t>
                      </a:r>
                      <a:r>
                        <a:rPr lang="en" sz="1600">
                          <a:highlight>
                            <a:srgbClr val="FFFF00"/>
                          </a:highlight>
                        </a:rPr>
                        <a:t>(unchanged from BERT)</a:t>
                      </a:r>
                      <a:endParaRPr sz="1600" u="sng">
                        <a:solidFill>
                          <a:schemeClr val="hlink"/>
                        </a:solidFill>
                        <a:highlight>
                          <a:srgbClr val="FFFF00"/>
                        </a:high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121975">
                <a:tc>
                  <a:txBody>
                    <a:bodyPr/>
                    <a:lstStyle/>
                    <a:p>
                      <a:pPr indent="0" lvl="0" marL="0" rtl="0" algn="l">
                        <a:spcBef>
                          <a:spcPts val="0"/>
                        </a:spcBef>
                        <a:spcAft>
                          <a:spcPts val="0"/>
                        </a:spcAft>
                        <a:buNone/>
                      </a:pPr>
                      <a:r>
                        <a:rPr lang="en" sz="1600"/>
                        <a:t>Biomedicine</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600"/>
                        <a:t>BioBERT</a:t>
                      </a:r>
                      <a:endParaRPr b="1"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4.5 B PubMed + 13.5 B PMC</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highlight>
                            <a:srgbClr val="FFFF00"/>
                          </a:highlight>
                        </a:rPr>
                        <a:t>Same</a:t>
                      </a:r>
                      <a:r>
                        <a:rPr lang="en" sz="1600"/>
                        <a:t> MLM + NSP as BERT, continued on biomedical text</a:t>
                      </a:r>
                      <a:endParaRPr sz="1600" u="sng">
                        <a:solidFill>
                          <a:schemeClr val="hlink"/>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66300">
                <a:tc>
                  <a:txBody>
                    <a:bodyPr/>
                    <a:lstStyle/>
                    <a:p>
                      <a:pPr indent="0" lvl="0" marL="0" rtl="0" algn="l">
                        <a:spcBef>
                          <a:spcPts val="0"/>
                        </a:spcBef>
                        <a:spcAft>
                          <a:spcPts val="0"/>
                        </a:spcAft>
                        <a:buNone/>
                      </a:pPr>
                      <a:r>
                        <a:rPr lang="en" sz="1600"/>
                        <a:t>Finance</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 sz="1600"/>
                        <a:t>FinBERT</a:t>
                      </a:r>
                      <a:endParaRPr b="1"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4.9 M Reuters sentences</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Continued MLM + NSP on financial news; later fine-tuned for </a:t>
                      </a:r>
                      <a:r>
                        <a:rPr i="1" lang="en" sz="1600">
                          <a:solidFill>
                            <a:srgbClr val="FF0000"/>
                          </a:solidFill>
                        </a:rPr>
                        <a:t>sentiment</a:t>
                      </a:r>
                      <a:endParaRPr i="1" sz="1600" u="sng">
                        <a:solidFill>
                          <a:srgbClr val="FF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2672"/>
              <a:buFont typeface="Arial"/>
              <a:buNone/>
            </a:pPr>
            <a:r>
              <a:rPr lang="en" sz="2320"/>
              <a:t>Multi-task Fine-tuning of </a:t>
            </a:r>
            <a:r>
              <a:rPr lang="en" sz="2320">
                <a:solidFill>
                  <a:srgbClr val="FF0000"/>
                </a:solidFill>
                <a:highlight>
                  <a:srgbClr val="FFF2CC"/>
                </a:highlight>
              </a:rPr>
              <a:t>Encoder-Decoder</a:t>
            </a:r>
            <a:r>
              <a:rPr lang="en" sz="2320"/>
              <a:t> &amp; </a:t>
            </a:r>
            <a:r>
              <a:rPr lang="en" sz="2320">
                <a:solidFill>
                  <a:srgbClr val="FF0000"/>
                </a:solidFill>
                <a:highlight>
                  <a:srgbClr val="D9EAD3"/>
                </a:highlight>
              </a:rPr>
              <a:t>Decoder-only</a:t>
            </a:r>
            <a:r>
              <a:rPr lang="en" sz="2320"/>
              <a:t> Model</a:t>
            </a:r>
            <a:endParaRPr/>
          </a:p>
          <a:p>
            <a:pPr indent="0" lvl="0" marL="0" rtl="0" algn="l">
              <a:spcBef>
                <a:spcPts val="0"/>
              </a:spcBef>
              <a:spcAft>
                <a:spcPts val="0"/>
              </a:spcAft>
              <a:buNone/>
            </a:pPr>
            <a:r>
              <a:t/>
            </a:r>
            <a:endParaRPr/>
          </a:p>
        </p:txBody>
      </p:sp>
      <p:grpSp>
        <p:nvGrpSpPr>
          <p:cNvPr id="257" name="Google Shape;257;p47"/>
          <p:cNvGrpSpPr/>
          <p:nvPr/>
        </p:nvGrpSpPr>
        <p:grpSpPr>
          <a:xfrm>
            <a:off x="369152" y="1259738"/>
            <a:ext cx="6063987" cy="2550848"/>
            <a:chOff x="369150" y="1259675"/>
            <a:chExt cx="6547875" cy="2974750"/>
          </a:xfrm>
        </p:grpSpPr>
        <p:pic>
          <p:nvPicPr>
            <p:cNvPr id="258" name="Google Shape;258;p47"/>
            <p:cNvPicPr preferRelativeResize="0"/>
            <p:nvPr/>
          </p:nvPicPr>
          <p:blipFill>
            <a:blip r:embed="rId3">
              <a:alphaModFix/>
            </a:blip>
            <a:stretch>
              <a:fillRect/>
            </a:stretch>
          </p:blipFill>
          <p:spPr>
            <a:xfrm>
              <a:off x="369150" y="1259675"/>
              <a:ext cx="6547875" cy="2974750"/>
            </a:xfrm>
            <a:prstGeom prst="rect">
              <a:avLst/>
            </a:prstGeom>
            <a:noFill/>
            <a:ln>
              <a:noFill/>
            </a:ln>
          </p:spPr>
        </p:pic>
        <p:sp>
          <p:nvSpPr>
            <p:cNvPr id="259" name="Google Shape;259;p47"/>
            <p:cNvSpPr/>
            <p:nvPr/>
          </p:nvSpPr>
          <p:spPr>
            <a:xfrm>
              <a:off x="3752900" y="2166750"/>
              <a:ext cx="715800" cy="810000"/>
            </a:xfrm>
            <a:prstGeom prst="rect">
              <a:avLst/>
            </a:prstGeom>
            <a:noFill/>
            <a:ln cap="flat" cmpd="sng" w="19050">
              <a:solidFill>
                <a:srgbClr val="DD7E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60" name="Google Shape;260;p47"/>
          <p:cNvSpPr txBox="1"/>
          <p:nvPr/>
        </p:nvSpPr>
        <p:spPr>
          <a:xfrm>
            <a:off x="455150" y="3926025"/>
            <a:ext cx="7482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Any downstream task can be considered as:</a:t>
            </a:r>
            <a:br>
              <a:rPr lang="en" sz="1600">
                <a:solidFill>
                  <a:schemeClr val="dk1"/>
                </a:solidFill>
              </a:rPr>
            </a:br>
            <a:r>
              <a:rPr lang="en" sz="1600">
                <a:solidFill>
                  <a:schemeClr val="dk1"/>
                </a:solidFill>
              </a:rPr>
              <a:t>a.) </a:t>
            </a:r>
            <a:r>
              <a:rPr lang="en" sz="1600">
                <a:solidFill>
                  <a:schemeClr val="dk1"/>
                </a:solidFill>
                <a:highlight>
                  <a:srgbClr val="FFF2CC"/>
                </a:highlight>
              </a:rPr>
              <a:t>Sequence-to-Sequence modeling task (Encoder-Decoder)</a:t>
            </a:r>
            <a:br>
              <a:rPr lang="en" sz="1600">
                <a:solidFill>
                  <a:schemeClr val="dk1"/>
                </a:solidFill>
              </a:rPr>
            </a:br>
            <a:r>
              <a:rPr lang="en" sz="1600">
                <a:solidFill>
                  <a:schemeClr val="dk1"/>
                </a:solidFill>
              </a:rPr>
              <a:t>b.) </a:t>
            </a:r>
            <a:r>
              <a:rPr lang="en" sz="1600">
                <a:solidFill>
                  <a:schemeClr val="dk1"/>
                </a:solidFill>
                <a:highlight>
                  <a:srgbClr val="D9EAD3"/>
                </a:highlight>
              </a:rPr>
              <a:t>Next-sequence completion (Decoder-only)</a:t>
            </a:r>
            <a:endParaRPr sz="1600">
              <a:solidFill>
                <a:schemeClr val="dk1"/>
              </a:solidFill>
              <a:highlight>
                <a:srgbClr val="D9EAD3"/>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FF0000"/>
                </a:solidFill>
              </a:rPr>
              <a:t>Decoder-only Fine-Tuning</a:t>
            </a:r>
            <a:endParaRPr i="1" sz="2320"/>
          </a:p>
        </p:txBody>
      </p:sp>
      <p:pic>
        <p:nvPicPr>
          <p:cNvPr id="266" name="Google Shape;266;p48"/>
          <p:cNvPicPr preferRelativeResize="0"/>
          <p:nvPr/>
        </p:nvPicPr>
        <p:blipFill>
          <a:blip r:embed="rId3">
            <a:alphaModFix/>
          </a:blip>
          <a:stretch>
            <a:fillRect/>
          </a:stretch>
        </p:blipFill>
        <p:spPr>
          <a:xfrm>
            <a:off x="152400" y="1170125"/>
            <a:ext cx="7600193" cy="38209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270" name="Shape 270"/>
        <p:cNvGrpSpPr/>
        <p:nvPr/>
      </p:nvGrpSpPr>
      <p:grpSpPr>
        <a:xfrm>
          <a:off x="0" y="0"/>
          <a:ext cx="0" cy="0"/>
          <a:chOff x="0" y="0"/>
          <a:chExt cx="0" cy="0"/>
        </a:xfrm>
      </p:grpSpPr>
      <p:sp>
        <p:nvSpPr>
          <p:cNvPr id="271" name="Google Shape;271;p4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In-Context Learning</a:t>
            </a:r>
            <a:endParaRPr b="1" i="1">
              <a:solidFill>
                <a:srgbClr val="A61C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p50"/>
          <p:cNvPicPr preferRelativeResize="0"/>
          <p:nvPr/>
        </p:nvPicPr>
        <p:blipFill>
          <a:blip r:embed="rId3">
            <a:alphaModFix/>
          </a:blip>
          <a:stretch>
            <a:fillRect/>
          </a:stretch>
        </p:blipFill>
        <p:spPr>
          <a:xfrm>
            <a:off x="296980" y="1123970"/>
            <a:ext cx="5487300" cy="2563400"/>
          </a:xfrm>
          <a:prstGeom prst="rect">
            <a:avLst/>
          </a:prstGeom>
          <a:noFill/>
          <a:ln cap="flat" cmpd="sng" w="19050">
            <a:solidFill>
              <a:schemeClr val="dk2"/>
            </a:solidFill>
            <a:prstDash val="solid"/>
            <a:round/>
            <a:headEnd len="sm" w="sm" type="none"/>
            <a:tailEnd len="sm" w="sm" type="none"/>
          </a:ln>
        </p:spPr>
      </p:pic>
      <p:sp>
        <p:nvSpPr>
          <p:cNvPr id="277" name="Google Shape;277;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FF0000"/>
                </a:solidFill>
              </a:rPr>
              <a:t>Prompts</a:t>
            </a:r>
            <a:endParaRPr i="1" sz="2320"/>
          </a:p>
        </p:txBody>
      </p:sp>
      <p:sp>
        <p:nvSpPr>
          <p:cNvPr id="278" name="Google Shape;278;p50"/>
          <p:cNvSpPr/>
          <p:nvPr/>
        </p:nvSpPr>
        <p:spPr>
          <a:xfrm>
            <a:off x="2342925" y="1854200"/>
            <a:ext cx="3433500" cy="3558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51"/>
          <p:cNvPicPr preferRelativeResize="0"/>
          <p:nvPr/>
        </p:nvPicPr>
        <p:blipFill>
          <a:blip r:embed="rId3">
            <a:alphaModFix/>
          </a:blip>
          <a:stretch>
            <a:fillRect/>
          </a:stretch>
        </p:blipFill>
        <p:spPr>
          <a:xfrm>
            <a:off x="567659" y="1167520"/>
            <a:ext cx="5657950" cy="3066925"/>
          </a:xfrm>
          <a:prstGeom prst="rect">
            <a:avLst/>
          </a:prstGeom>
          <a:noFill/>
          <a:ln cap="flat" cmpd="sng" w="19050">
            <a:solidFill>
              <a:schemeClr val="dk2"/>
            </a:solidFill>
            <a:prstDash val="solid"/>
            <a:round/>
            <a:headEnd len="sm" w="sm" type="none"/>
            <a:tailEnd len="sm" w="sm" type="none"/>
          </a:ln>
        </p:spPr>
      </p:pic>
      <p:sp>
        <p:nvSpPr>
          <p:cNvPr id="284" name="Google Shape;284;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FF0000"/>
                </a:solidFill>
              </a:rPr>
              <a:t>Prompts</a:t>
            </a:r>
            <a:endParaRPr i="1" sz="2320"/>
          </a:p>
        </p:txBody>
      </p:sp>
      <p:sp>
        <p:nvSpPr>
          <p:cNvPr id="285" name="Google Shape;285;p51"/>
          <p:cNvSpPr/>
          <p:nvPr/>
        </p:nvSpPr>
        <p:spPr>
          <a:xfrm>
            <a:off x="2342925" y="1854200"/>
            <a:ext cx="3433500" cy="3558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FF0000"/>
                </a:solidFill>
              </a:rPr>
              <a:t>Prompts</a:t>
            </a:r>
            <a:endParaRPr sz="2320">
              <a:solidFill>
                <a:srgbClr val="FF0000"/>
              </a:solidFill>
            </a:endParaRPr>
          </a:p>
        </p:txBody>
      </p:sp>
      <p:pic>
        <p:nvPicPr>
          <p:cNvPr id="291" name="Google Shape;291;p52"/>
          <p:cNvPicPr preferRelativeResize="0"/>
          <p:nvPr/>
        </p:nvPicPr>
        <p:blipFill>
          <a:blip r:embed="rId3">
            <a:alphaModFix/>
          </a:blip>
          <a:stretch>
            <a:fillRect/>
          </a:stretch>
        </p:blipFill>
        <p:spPr>
          <a:xfrm>
            <a:off x="311700" y="1142775"/>
            <a:ext cx="6015585" cy="3820974"/>
          </a:xfrm>
          <a:prstGeom prst="rect">
            <a:avLst/>
          </a:prstGeom>
          <a:noFill/>
          <a:ln cap="flat" cmpd="sng" w="19050">
            <a:solidFill>
              <a:schemeClr val="dk2"/>
            </a:solidFill>
            <a:prstDash val="solid"/>
            <a:round/>
            <a:headEnd len="sm" w="sm" type="none"/>
            <a:tailEnd len="sm" w="sm" type="none"/>
          </a:ln>
        </p:spPr>
      </p:pic>
      <p:sp>
        <p:nvSpPr>
          <p:cNvPr id="292" name="Google Shape;292;p52"/>
          <p:cNvSpPr/>
          <p:nvPr/>
        </p:nvSpPr>
        <p:spPr>
          <a:xfrm>
            <a:off x="2342925" y="1854200"/>
            <a:ext cx="3433500" cy="3558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What would have happened in Vanilla FT?</a:t>
            </a:r>
            <a:endParaRPr sz="2320"/>
          </a:p>
        </p:txBody>
      </p:sp>
      <p:pic>
        <p:nvPicPr>
          <p:cNvPr id="298" name="Google Shape;298;p53"/>
          <p:cNvPicPr preferRelativeResize="0"/>
          <p:nvPr/>
        </p:nvPicPr>
        <p:blipFill>
          <a:blip r:embed="rId3">
            <a:alphaModFix/>
          </a:blip>
          <a:stretch>
            <a:fillRect/>
          </a:stretch>
        </p:blipFill>
        <p:spPr>
          <a:xfrm>
            <a:off x="384950" y="1017725"/>
            <a:ext cx="2806100" cy="3994750"/>
          </a:xfrm>
          <a:prstGeom prst="rect">
            <a:avLst/>
          </a:prstGeom>
          <a:noFill/>
          <a:ln cap="flat" cmpd="sng" w="19050">
            <a:solidFill>
              <a:schemeClr val="dk2"/>
            </a:solidFill>
            <a:prstDash val="solid"/>
            <a:round/>
            <a:headEnd len="sm" w="sm" type="none"/>
            <a:tailEnd len="sm" w="sm" type="none"/>
          </a:ln>
        </p:spPr>
      </p:pic>
      <p:sp>
        <p:nvSpPr>
          <p:cNvPr id="299" name="Google Shape;299;p53"/>
          <p:cNvSpPr txBox="1"/>
          <p:nvPr/>
        </p:nvSpPr>
        <p:spPr>
          <a:xfrm>
            <a:off x="4189675" y="2770725"/>
            <a:ext cx="300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800">
                <a:solidFill>
                  <a:srgbClr val="FF0000"/>
                </a:solidFill>
              </a:rPr>
              <a:t>What’s the magic? No FT!</a:t>
            </a:r>
            <a:endParaRPr i="1" sz="18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FF0000"/>
                </a:solidFill>
              </a:rPr>
              <a:t>In-Context Learning – the modern magic!</a:t>
            </a:r>
            <a:endParaRPr sz="2320">
              <a:solidFill>
                <a:srgbClr val="FF0000"/>
              </a:solidFill>
            </a:endParaRPr>
          </a:p>
        </p:txBody>
      </p:sp>
      <p:pic>
        <p:nvPicPr>
          <p:cNvPr id="305" name="Google Shape;305;p54" title="ICL-example.gif"/>
          <p:cNvPicPr preferRelativeResize="0"/>
          <p:nvPr/>
        </p:nvPicPr>
        <p:blipFill>
          <a:blip r:embed="rId3">
            <a:alphaModFix/>
          </a:blip>
          <a:stretch>
            <a:fillRect/>
          </a:stretch>
        </p:blipFill>
        <p:spPr>
          <a:xfrm>
            <a:off x="434763" y="1129075"/>
            <a:ext cx="8274477" cy="38209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ICL Example –</a:t>
            </a:r>
            <a:r>
              <a:rPr lang="en" sz="2320">
                <a:solidFill>
                  <a:srgbClr val="FF0000"/>
                </a:solidFill>
              </a:rPr>
              <a:t> Possible Explanation</a:t>
            </a:r>
            <a:endParaRPr i="1" sz="2320"/>
          </a:p>
        </p:txBody>
      </p:sp>
      <p:pic>
        <p:nvPicPr>
          <p:cNvPr id="311" name="Google Shape;311;p55" title="ICL-bayesian-explaination.gif"/>
          <p:cNvPicPr preferRelativeResize="0"/>
          <p:nvPr/>
        </p:nvPicPr>
        <p:blipFill rotWithShape="1">
          <a:blip r:embed="rId3">
            <a:alphaModFix/>
          </a:blip>
          <a:srcRect b="0" l="9892" r="9553" t="6085"/>
          <a:stretch/>
        </p:blipFill>
        <p:spPr>
          <a:xfrm>
            <a:off x="311700" y="1066488"/>
            <a:ext cx="5984602" cy="392461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ICL Example –</a:t>
            </a:r>
            <a:r>
              <a:rPr lang="en" sz="2320">
                <a:solidFill>
                  <a:srgbClr val="FF0000"/>
                </a:solidFill>
              </a:rPr>
              <a:t> Possible Explanation</a:t>
            </a:r>
            <a:endParaRPr sz="2320">
              <a:solidFill>
                <a:srgbClr val="FF0000"/>
              </a:solidFill>
            </a:endParaRPr>
          </a:p>
        </p:txBody>
      </p:sp>
      <p:pic>
        <p:nvPicPr>
          <p:cNvPr id="317" name="Google Shape;317;p56" title="ICL-bayesian.gif"/>
          <p:cNvPicPr preferRelativeResize="0"/>
          <p:nvPr/>
        </p:nvPicPr>
        <p:blipFill>
          <a:blip r:embed="rId3">
            <a:alphaModFix/>
          </a:blip>
          <a:stretch>
            <a:fillRect/>
          </a:stretch>
        </p:blipFill>
        <p:spPr>
          <a:xfrm>
            <a:off x="152400" y="1170125"/>
            <a:ext cx="8839199" cy="355193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Surprise!</a:t>
            </a:r>
            <a:r>
              <a:rPr lang="en" sz="2320">
                <a:solidFill>
                  <a:srgbClr val="FF0000"/>
                </a:solidFill>
              </a:rPr>
              <a:t> GPT shows ICL</a:t>
            </a:r>
            <a:endParaRPr sz="2320">
              <a:solidFill>
                <a:srgbClr val="FF0000"/>
              </a:solidFill>
            </a:endParaRPr>
          </a:p>
        </p:txBody>
      </p:sp>
      <p:pic>
        <p:nvPicPr>
          <p:cNvPr id="323" name="Google Shape;323;p57"/>
          <p:cNvPicPr preferRelativeResize="0"/>
          <p:nvPr/>
        </p:nvPicPr>
        <p:blipFill rotWithShape="1">
          <a:blip r:embed="rId3">
            <a:alphaModFix/>
          </a:blip>
          <a:srcRect b="0" l="2229" r="0" t="0"/>
          <a:stretch/>
        </p:blipFill>
        <p:spPr>
          <a:xfrm>
            <a:off x="311700" y="1170125"/>
            <a:ext cx="6972601" cy="38209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Surprise!</a:t>
            </a:r>
            <a:r>
              <a:rPr lang="en" sz="2320">
                <a:solidFill>
                  <a:srgbClr val="FF0000"/>
                </a:solidFill>
              </a:rPr>
              <a:t> Natural Language Prompt Matters</a:t>
            </a:r>
            <a:endParaRPr sz="2320">
              <a:solidFill>
                <a:srgbClr val="FF0000"/>
              </a:solidFill>
            </a:endParaRPr>
          </a:p>
        </p:txBody>
      </p:sp>
      <p:pic>
        <p:nvPicPr>
          <p:cNvPr id="329" name="Google Shape;329;p58"/>
          <p:cNvPicPr preferRelativeResize="0"/>
          <p:nvPr/>
        </p:nvPicPr>
        <p:blipFill>
          <a:blip r:embed="rId3">
            <a:alphaModFix/>
          </a:blip>
          <a:stretch>
            <a:fillRect/>
          </a:stretch>
        </p:blipFill>
        <p:spPr>
          <a:xfrm>
            <a:off x="609600" y="1093925"/>
            <a:ext cx="7628082" cy="38209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Surprise!</a:t>
            </a:r>
            <a:r>
              <a:rPr lang="en" sz="2320">
                <a:solidFill>
                  <a:srgbClr val="FF0000"/>
                </a:solidFill>
              </a:rPr>
              <a:t> </a:t>
            </a:r>
            <a:r>
              <a:rPr lang="en" sz="2320"/>
              <a:t>GPT shows ICL – </a:t>
            </a:r>
            <a:r>
              <a:rPr i="1" lang="en" sz="2320">
                <a:solidFill>
                  <a:srgbClr val="FF0000"/>
                </a:solidFill>
              </a:rPr>
              <a:t>but how?</a:t>
            </a:r>
            <a:endParaRPr i="1" sz="2320">
              <a:solidFill>
                <a:srgbClr val="FF0000"/>
              </a:solidFill>
            </a:endParaRPr>
          </a:p>
        </p:txBody>
      </p:sp>
      <p:graphicFrame>
        <p:nvGraphicFramePr>
          <p:cNvPr id="335" name="Google Shape;335;p59"/>
          <p:cNvGraphicFramePr/>
          <p:nvPr/>
        </p:nvGraphicFramePr>
        <p:xfrm>
          <a:off x="658175" y="1502875"/>
          <a:ext cx="3000000" cy="3000000"/>
        </p:xfrm>
        <a:graphic>
          <a:graphicData uri="http://schemas.openxmlformats.org/drawingml/2006/table">
            <a:tbl>
              <a:tblPr>
                <a:noFill/>
                <a:tableStyleId>{9DEFFDEF-0E0E-451E-B1CF-A810274E3607}</a:tableStyleId>
              </a:tblPr>
              <a:tblGrid>
                <a:gridCol w="2484325"/>
                <a:gridCol w="4758225"/>
              </a:tblGrid>
              <a:tr h="742950">
                <a:tc>
                  <a:txBody>
                    <a:bodyPr/>
                    <a:lstStyle/>
                    <a:p>
                      <a:pPr indent="0" lvl="0" marL="0" rtl="0" algn="l">
                        <a:spcBef>
                          <a:spcPts val="0"/>
                        </a:spcBef>
                        <a:spcAft>
                          <a:spcPts val="0"/>
                        </a:spcAft>
                        <a:buNone/>
                      </a:pPr>
                      <a:r>
                        <a:rPr b="1" lang="en" sz="1600">
                          <a:highlight>
                            <a:srgbClr val="D9EAD3"/>
                          </a:highlight>
                        </a:rPr>
                        <a:t>Web-scale pre-training corpus is full of “natural demonstrations.”</a:t>
                      </a:r>
                      <a:endParaRPr b="1" sz="1600">
                        <a:highlight>
                          <a:srgbClr val="D9EAD3"/>
                        </a:high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Reddit-linked </a:t>
                      </a:r>
                      <a:r>
                        <a:rPr i="1" lang="en" sz="1600"/>
                        <a:t>WebText</a:t>
                      </a:r>
                      <a:r>
                        <a:rPr lang="en" sz="1600"/>
                        <a:t> contains FAQ blocks, bilingual glossaries, Q&amp;A threads, math explanations, etc.; </a:t>
                      </a:r>
                      <a:endParaRPr sz="1600"/>
                    </a:p>
                    <a:p>
                      <a:pPr indent="0" lvl="0" marL="0" rtl="0" algn="l">
                        <a:spcBef>
                          <a:spcPts val="0"/>
                        </a:spcBef>
                        <a:spcAft>
                          <a:spcPts val="0"/>
                        </a:spcAft>
                        <a:buNone/>
                      </a:pPr>
                      <a:r>
                        <a:t/>
                      </a:r>
                      <a:endParaRPr i="1" sz="1600"/>
                    </a:p>
                    <a:p>
                      <a:pPr indent="0" lvl="0" marL="0" rtl="0" algn="l">
                        <a:spcBef>
                          <a:spcPts val="0"/>
                        </a:spcBef>
                        <a:spcAft>
                          <a:spcPts val="0"/>
                        </a:spcAft>
                        <a:buNone/>
                      </a:pPr>
                      <a:r>
                        <a:rPr i="1" lang="en" sz="1600"/>
                        <a:t>the model </a:t>
                      </a:r>
                      <a:r>
                        <a:rPr i="1" lang="en" sz="1600">
                          <a:solidFill>
                            <a:srgbClr val="FF0000"/>
                          </a:solidFill>
                        </a:rPr>
                        <a:t>learns to extend those patterns</a:t>
                      </a:r>
                      <a:r>
                        <a:rPr i="1" lang="en" sz="1600"/>
                        <a:t> when it sees something similar in a prompt.</a:t>
                      </a:r>
                      <a:endParaRPr i="1"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61975">
                <a:tc>
                  <a:txBody>
                    <a:bodyPr/>
                    <a:lstStyle/>
                    <a:p>
                      <a:pPr indent="0" lvl="0" marL="0" rtl="0" algn="l">
                        <a:spcBef>
                          <a:spcPts val="0"/>
                        </a:spcBef>
                        <a:spcAft>
                          <a:spcPts val="0"/>
                        </a:spcAft>
                        <a:buNone/>
                      </a:pPr>
                      <a:r>
                        <a:rPr b="1" lang="en" sz="1600"/>
                        <a:t>Sheer parameter count ⇒ pattern-capacity.</a:t>
                      </a:r>
                      <a:endParaRPr b="1"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highlight>
                            <a:srgbClr val="D9EAD3"/>
                          </a:highlight>
                        </a:rPr>
                        <a:t>Bigger nets store more </a:t>
                      </a:r>
                      <a:r>
                        <a:rPr i="1" lang="en" sz="1600">
                          <a:solidFill>
                            <a:srgbClr val="FF0000"/>
                          </a:solidFill>
                          <a:highlight>
                            <a:srgbClr val="D9EAD3"/>
                          </a:highlight>
                        </a:rPr>
                        <a:t>latent task</a:t>
                      </a:r>
                      <a:r>
                        <a:rPr lang="en" sz="1600">
                          <a:highlight>
                            <a:srgbClr val="D9EAD3"/>
                          </a:highlight>
                        </a:rPr>
                        <a:t> templates</a:t>
                      </a:r>
                      <a:r>
                        <a:rPr lang="en" sz="1600"/>
                        <a:t>; GPT-3-175 B reaches &gt;60 % few-shot accuracy where GPT-2-1.3 B stays &lt;5 %.</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339" name="Shape 339"/>
        <p:cNvGrpSpPr/>
        <p:nvPr/>
      </p:nvGrpSpPr>
      <p:grpSpPr>
        <a:xfrm>
          <a:off x="0" y="0"/>
          <a:ext cx="0" cy="0"/>
          <a:chOff x="0" y="0"/>
          <a:chExt cx="0" cy="0"/>
        </a:xfrm>
      </p:grpSpPr>
      <p:sp>
        <p:nvSpPr>
          <p:cNvPr id="340" name="Google Shape;340;p6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Instruction Fine-tuning</a:t>
            </a:r>
            <a:endParaRPr b="1" i="1">
              <a:solidFill>
                <a:srgbClr val="A61C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6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FF0000"/>
                </a:solidFill>
              </a:rPr>
              <a:t>Instruction-Tuning (Supervised Fine-Tuning; SFT)</a:t>
            </a:r>
            <a:r>
              <a:rPr lang="en" sz="2320"/>
              <a:t> – Example</a:t>
            </a:r>
            <a:endParaRPr i="1" sz="2320"/>
          </a:p>
        </p:txBody>
      </p:sp>
      <p:pic>
        <p:nvPicPr>
          <p:cNvPr id="346" name="Google Shape;346;p61"/>
          <p:cNvPicPr preferRelativeResize="0"/>
          <p:nvPr/>
        </p:nvPicPr>
        <p:blipFill>
          <a:blip r:embed="rId3">
            <a:alphaModFix/>
          </a:blip>
          <a:stretch>
            <a:fillRect/>
          </a:stretch>
        </p:blipFill>
        <p:spPr>
          <a:xfrm>
            <a:off x="311700" y="1170125"/>
            <a:ext cx="7340292" cy="382097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38761D"/>
                </a:solidFill>
              </a:rPr>
              <a:t>Instruction-Tuning</a:t>
            </a:r>
            <a:r>
              <a:rPr lang="en" sz="2320">
                <a:solidFill>
                  <a:srgbClr val="FF0000"/>
                </a:solidFill>
              </a:rPr>
              <a:t> </a:t>
            </a:r>
            <a:r>
              <a:rPr lang="en" sz="2320">
                <a:solidFill>
                  <a:srgbClr val="000000"/>
                </a:solidFill>
              </a:rPr>
              <a:t>vs</a:t>
            </a:r>
            <a:r>
              <a:rPr lang="en" sz="2320">
                <a:solidFill>
                  <a:srgbClr val="FF0000"/>
                </a:solidFill>
              </a:rPr>
              <a:t> Conventional Fine-Tuning</a:t>
            </a:r>
            <a:endParaRPr i="1" sz="2320"/>
          </a:p>
        </p:txBody>
      </p:sp>
      <p:pic>
        <p:nvPicPr>
          <p:cNvPr id="352" name="Google Shape;352;p62"/>
          <p:cNvPicPr preferRelativeResize="0"/>
          <p:nvPr/>
        </p:nvPicPr>
        <p:blipFill>
          <a:blip r:embed="rId3">
            <a:alphaModFix/>
          </a:blip>
          <a:stretch>
            <a:fillRect/>
          </a:stretch>
        </p:blipFill>
        <p:spPr>
          <a:xfrm>
            <a:off x="2561930" y="2936718"/>
            <a:ext cx="6305550" cy="2000250"/>
          </a:xfrm>
          <a:prstGeom prst="rect">
            <a:avLst/>
          </a:prstGeom>
          <a:noFill/>
          <a:ln cap="flat" cmpd="sng" w="28575">
            <a:solidFill>
              <a:srgbClr val="38761D"/>
            </a:solidFill>
            <a:prstDash val="solid"/>
            <a:round/>
            <a:headEnd len="sm" w="sm" type="none"/>
            <a:tailEnd len="sm" w="sm" type="none"/>
          </a:ln>
        </p:spPr>
      </p:pic>
      <p:pic>
        <p:nvPicPr>
          <p:cNvPr id="353" name="Google Shape;353;p62"/>
          <p:cNvPicPr preferRelativeResize="0"/>
          <p:nvPr/>
        </p:nvPicPr>
        <p:blipFill>
          <a:blip r:embed="rId4">
            <a:alphaModFix/>
          </a:blip>
          <a:stretch>
            <a:fillRect/>
          </a:stretch>
        </p:blipFill>
        <p:spPr>
          <a:xfrm>
            <a:off x="166100" y="1265875"/>
            <a:ext cx="8101630" cy="1196062"/>
          </a:xfrm>
          <a:prstGeom prst="rect">
            <a:avLst/>
          </a:prstGeom>
          <a:noFill/>
          <a:ln cap="flat" cmpd="sng" w="28575">
            <a:solidFill>
              <a:srgbClr val="FF0000"/>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38761D"/>
                </a:solidFill>
              </a:rPr>
              <a:t>Instruction-Tuning</a:t>
            </a:r>
            <a:r>
              <a:rPr lang="en" sz="2320">
                <a:solidFill>
                  <a:srgbClr val="FF0000"/>
                </a:solidFill>
              </a:rPr>
              <a:t> </a:t>
            </a:r>
            <a:r>
              <a:rPr lang="en" sz="2320">
                <a:solidFill>
                  <a:srgbClr val="000000"/>
                </a:solidFill>
              </a:rPr>
              <a:t>(Alpaca-style)</a:t>
            </a:r>
            <a:endParaRPr i="1" sz="2320"/>
          </a:p>
        </p:txBody>
      </p:sp>
      <p:pic>
        <p:nvPicPr>
          <p:cNvPr id="359" name="Google Shape;359;p63"/>
          <p:cNvPicPr preferRelativeResize="0"/>
          <p:nvPr/>
        </p:nvPicPr>
        <p:blipFill>
          <a:blip r:embed="rId3">
            <a:alphaModFix/>
          </a:blip>
          <a:stretch>
            <a:fillRect/>
          </a:stretch>
        </p:blipFill>
        <p:spPr>
          <a:xfrm>
            <a:off x="234475" y="1488700"/>
            <a:ext cx="7509725" cy="1842875"/>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38761D"/>
                </a:solidFill>
              </a:rPr>
              <a:t>Instruction-Tuning</a:t>
            </a:r>
            <a:r>
              <a:rPr lang="en" sz="2320">
                <a:solidFill>
                  <a:srgbClr val="FF0000"/>
                </a:solidFill>
              </a:rPr>
              <a:t> </a:t>
            </a:r>
            <a:r>
              <a:rPr lang="en" sz="2320">
                <a:solidFill>
                  <a:srgbClr val="000000"/>
                </a:solidFill>
              </a:rPr>
              <a:t>(FLAN-style)</a:t>
            </a:r>
            <a:endParaRPr i="1" sz="2320"/>
          </a:p>
        </p:txBody>
      </p:sp>
      <p:sp>
        <p:nvSpPr>
          <p:cNvPr id="365" name="Google Shape;365;p64"/>
          <p:cNvSpPr txBox="1"/>
          <p:nvPr/>
        </p:nvSpPr>
        <p:spPr>
          <a:xfrm>
            <a:off x="793400" y="1709950"/>
            <a:ext cx="7636800" cy="1293000"/>
          </a:xfrm>
          <a:prstGeom prst="rect">
            <a:avLst/>
          </a:prstGeom>
          <a:solidFill>
            <a:schemeClr val="lt2"/>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A89984"/>
                </a:solidFill>
              </a:rPr>
              <a:t>source</a:t>
            </a:r>
            <a:r>
              <a:rPr lang="en" sz="2400"/>
              <a:t>&lt;TAB&gt;</a:t>
            </a:r>
            <a:r>
              <a:rPr lang="en" sz="2400">
                <a:solidFill>
                  <a:srgbClr val="A89984"/>
                </a:solidFill>
              </a:rPr>
              <a:t>target</a:t>
            </a:r>
            <a:endParaRPr sz="2400">
              <a:solidFill>
                <a:srgbClr val="A89984"/>
              </a:solidFill>
            </a:endParaRPr>
          </a:p>
          <a:p>
            <a:pPr indent="0" lvl="0" marL="0" rtl="0" algn="l">
              <a:spcBef>
                <a:spcPts val="0"/>
              </a:spcBef>
              <a:spcAft>
                <a:spcPts val="0"/>
              </a:spcAft>
              <a:buNone/>
            </a:pPr>
            <a:r>
              <a:rPr lang="en" sz="2400">
                <a:solidFill>
                  <a:srgbClr val="38761D"/>
                </a:solidFill>
              </a:rPr>
              <a:t>Translate the following sentence into Spanish. The building is on fire</a:t>
            </a:r>
            <a:r>
              <a:rPr lang="en" sz="2400"/>
              <a:t>.&lt;TAB&gt;</a:t>
            </a:r>
            <a:r>
              <a:rPr lang="en" sz="2400">
                <a:solidFill>
                  <a:srgbClr val="38761D"/>
                </a:solidFill>
              </a:rPr>
              <a:t>El edificio está en llamas.</a:t>
            </a:r>
            <a:endParaRPr sz="2400">
              <a:solidFill>
                <a:srgbClr val="38761D"/>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38761D"/>
                </a:solidFill>
              </a:rPr>
              <a:t>Instruction-Tuning</a:t>
            </a:r>
            <a:r>
              <a:rPr lang="en" sz="2320">
                <a:solidFill>
                  <a:srgbClr val="FF0000"/>
                </a:solidFill>
              </a:rPr>
              <a:t> </a:t>
            </a:r>
            <a:r>
              <a:rPr lang="en" sz="2320">
                <a:solidFill>
                  <a:srgbClr val="000000"/>
                </a:solidFill>
              </a:rPr>
              <a:t>(UltraChat-styled)</a:t>
            </a:r>
            <a:endParaRPr i="1" sz="2320"/>
          </a:p>
        </p:txBody>
      </p:sp>
      <p:pic>
        <p:nvPicPr>
          <p:cNvPr id="371" name="Google Shape;371;p65"/>
          <p:cNvPicPr preferRelativeResize="0"/>
          <p:nvPr/>
        </p:nvPicPr>
        <p:blipFill>
          <a:blip r:embed="rId3">
            <a:alphaModFix/>
          </a:blip>
          <a:stretch>
            <a:fillRect/>
          </a:stretch>
        </p:blipFill>
        <p:spPr>
          <a:xfrm>
            <a:off x="152400" y="1703525"/>
            <a:ext cx="8362950" cy="2428875"/>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38761D"/>
                </a:solidFill>
              </a:rPr>
              <a:t>Instruction-Tuning</a:t>
            </a:r>
            <a:r>
              <a:rPr lang="en" sz="2320">
                <a:solidFill>
                  <a:srgbClr val="FF0000"/>
                </a:solidFill>
              </a:rPr>
              <a:t> </a:t>
            </a:r>
            <a:r>
              <a:rPr lang="en" sz="2320">
                <a:solidFill>
                  <a:srgbClr val="000000"/>
                </a:solidFill>
              </a:rPr>
              <a:t>(OpenAI (v1) -style)</a:t>
            </a:r>
            <a:endParaRPr i="1" sz="2320"/>
          </a:p>
        </p:txBody>
      </p:sp>
      <p:pic>
        <p:nvPicPr>
          <p:cNvPr id="377" name="Google Shape;377;p66"/>
          <p:cNvPicPr preferRelativeResize="0"/>
          <p:nvPr/>
        </p:nvPicPr>
        <p:blipFill>
          <a:blip r:embed="rId3">
            <a:alphaModFix/>
          </a:blip>
          <a:stretch>
            <a:fillRect/>
          </a:stretch>
        </p:blipFill>
        <p:spPr>
          <a:xfrm>
            <a:off x="107400" y="1828800"/>
            <a:ext cx="8724893" cy="74295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38761D"/>
                </a:solidFill>
              </a:rPr>
              <a:t>Instruction-Tuning</a:t>
            </a:r>
            <a:r>
              <a:rPr lang="en" sz="2320">
                <a:solidFill>
                  <a:srgbClr val="FF0000"/>
                </a:solidFill>
              </a:rPr>
              <a:t> </a:t>
            </a:r>
            <a:r>
              <a:rPr lang="en" sz="2320">
                <a:solidFill>
                  <a:srgbClr val="000000"/>
                </a:solidFill>
              </a:rPr>
              <a:t>(ChatML/OpenAI-Chat-style)</a:t>
            </a:r>
            <a:endParaRPr i="1" sz="2320"/>
          </a:p>
        </p:txBody>
      </p:sp>
      <p:pic>
        <p:nvPicPr>
          <p:cNvPr id="383" name="Google Shape;383;p67"/>
          <p:cNvPicPr preferRelativeResize="0"/>
          <p:nvPr/>
        </p:nvPicPr>
        <p:blipFill>
          <a:blip r:embed="rId3">
            <a:alphaModFix/>
          </a:blip>
          <a:stretch>
            <a:fillRect/>
          </a:stretch>
        </p:blipFill>
        <p:spPr>
          <a:xfrm>
            <a:off x="152400" y="2018250"/>
            <a:ext cx="8839199" cy="1450109"/>
          </a:xfrm>
          <a:prstGeom prst="rect">
            <a:avLst/>
          </a:prstGeom>
          <a:noFill/>
          <a:ln cap="flat" cmpd="sng" w="19050">
            <a:solidFill>
              <a:schemeClr val="dk2"/>
            </a:solidFill>
            <a:prstDash val="solid"/>
            <a:round/>
            <a:headEnd len="sm" w="sm" type="none"/>
            <a:tailEnd len="sm" w="sm" type="none"/>
          </a:ln>
        </p:spPr>
      </p:pic>
      <p:pic>
        <p:nvPicPr>
          <p:cNvPr id="384" name="Google Shape;384;p67"/>
          <p:cNvPicPr preferRelativeResize="0"/>
          <p:nvPr/>
        </p:nvPicPr>
        <p:blipFill>
          <a:blip r:embed="rId4">
            <a:alphaModFix/>
          </a:blip>
          <a:stretch>
            <a:fillRect/>
          </a:stretch>
        </p:blipFill>
        <p:spPr>
          <a:xfrm>
            <a:off x="1388127" y="1513939"/>
            <a:ext cx="5081375" cy="2458725"/>
          </a:xfrm>
          <a:prstGeom prst="rect">
            <a:avLst/>
          </a:prstGeom>
          <a:noFill/>
          <a:ln cap="flat" cmpd="sng" w="19050">
            <a:solidFill>
              <a:schemeClr val="dk2"/>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8"/>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38761D"/>
                </a:solidFill>
              </a:rPr>
              <a:t>Instruction-Tuning</a:t>
            </a:r>
            <a:r>
              <a:rPr lang="en" sz="2320">
                <a:solidFill>
                  <a:srgbClr val="FF0000"/>
                </a:solidFill>
              </a:rPr>
              <a:t> </a:t>
            </a:r>
            <a:r>
              <a:rPr lang="en" sz="2320"/>
              <a:t>is</a:t>
            </a:r>
            <a:r>
              <a:rPr lang="en" sz="2320">
                <a:solidFill>
                  <a:srgbClr val="FF0000"/>
                </a:solidFill>
              </a:rPr>
              <a:t> multi-tasked </a:t>
            </a:r>
            <a:r>
              <a:rPr lang="en" sz="2320"/>
              <a:t>(in contrast to Vanilla FT)</a:t>
            </a:r>
            <a:endParaRPr i="1" sz="2320"/>
          </a:p>
        </p:txBody>
      </p:sp>
      <p:sp>
        <p:nvSpPr>
          <p:cNvPr id="390" name="Google Shape;390;p68"/>
          <p:cNvSpPr txBox="1"/>
          <p:nvPr/>
        </p:nvSpPr>
        <p:spPr>
          <a:xfrm>
            <a:off x="187561" y="859682"/>
            <a:ext cx="8703900" cy="42483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latin typeface="Courier New"/>
                <a:ea typeface="Courier New"/>
                <a:cs typeface="Courier New"/>
                <a:sym typeface="Courier New"/>
              </a:rPr>
              <a:t>[</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a:t>
            </a:r>
            <a:r>
              <a:rPr b="1" lang="en" sz="800">
                <a:solidFill>
                  <a:srgbClr val="38761D"/>
                </a:solidFill>
                <a:latin typeface="Courier New"/>
                <a:ea typeface="Courier New"/>
                <a:cs typeface="Courier New"/>
                <a:sym typeface="Courier New"/>
              </a:rPr>
              <a:t>instruction</a:t>
            </a:r>
            <a:r>
              <a:rPr lang="en" sz="800">
                <a:solidFill>
                  <a:schemeClr val="dk1"/>
                </a:solidFill>
                <a:latin typeface="Courier New"/>
                <a:ea typeface="Courier New"/>
                <a:cs typeface="Courier New"/>
                <a:sym typeface="Courier New"/>
              </a:rPr>
              <a:t>": "Write a short story about a robot learning to cook.",</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"input":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a:t>
            </a:r>
            <a:r>
              <a:rPr lang="en" sz="800">
                <a:solidFill>
                  <a:schemeClr val="dk1"/>
                </a:solidFill>
                <a:highlight>
                  <a:srgbClr val="FFFF00"/>
                </a:highlight>
                <a:latin typeface="Courier New"/>
                <a:ea typeface="Courier New"/>
                <a:cs typeface="Courier New"/>
                <a:sym typeface="Courier New"/>
              </a:rPr>
              <a:t> "output": "In a bustling kitchen of the future, Robot X-5 stood motionless, its optical sensors fixed on the sizzling pan before it. 'Crack two eggs,' the recipe instructed. With precision, X-5 selected an egg from the carton, but its metallic fingers crushed the delicate shell, sending yolk dripping down its chassis. Undeterred, X-5 tried again, this time adjusting its grip strength. Success! The egg cracked perfectly into the pan. As the day progressed, X-5 learned to chop vegetables without pulverizing them and to measure ingredients with increasing accuracy. By evening, a slightly lopsided but edible omelet sat on a plate, steam rising from its golden surface. X-5's LED display flickered in what could only be described as pride. It had taken its first step in mastering the art of cooking, proving that even robots can find joy in creating something delicious."</a:t>
            </a:r>
            <a:endParaRPr sz="800">
              <a:solidFill>
                <a:schemeClr val="dk1"/>
              </a:solidFill>
              <a:highlight>
                <a:srgbClr val="FFFF00"/>
              </a:highlight>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a:t>
            </a:r>
            <a:r>
              <a:rPr b="1" lang="en" sz="800">
                <a:solidFill>
                  <a:srgbClr val="38761D"/>
                </a:solidFill>
                <a:latin typeface="Courier New"/>
                <a:ea typeface="Courier New"/>
                <a:cs typeface="Courier New"/>
                <a:sym typeface="Courier New"/>
              </a:rPr>
              <a:t>instruction</a:t>
            </a:r>
            <a:r>
              <a:rPr lang="en" sz="800">
                <a:solidFill>
                  <a:schemeClr val="dk1"/>
                </a:solidFill>
                <a:latin typeface="Courier New"/>
                <a:ea typeface="Courier New"/>
                <a:cs typeface="Courier New"/>
                <a:sym typeface="Courier New"/>
              </a:rPr>
              <a:t>": "Explain the concept of photosynthesis in simple terms.",</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"input":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a:t>
            </a:r>
            <a:r>
              <a:rPr lang="en" sz="800">
                <a:solidFill>
                  <a:schemeClr val="dk1"/>
                </a:solidFill>
                <a:highlight>
                  <a:srgbClr val="FFFF00"/>
                </a:highlight>
                <a:latin typeface="Courier New"/>
                <a:ea typeface="Courier New"/>
                <a:cs typeface="Courier New"/>
                <a:sym typeface="Courier New"/>
              </a:rPr>
              <a:t>"output": "Photosynthesis is like a plant's way of making its own food. Imagine plants as tiny factories that use sunlight as their power source. They take in water from the soil through their roots and carbon dioxide from the air through tiny holes in their leaves. Then, using the energy from sunlight, they mix these ingredients together to make glucose, which is a type of sugar that plants use for food. As a bonus, this process also produces oxygen, which is released into the air for us and other animals to breathe. So, in simple terms, photosynthesis is how plants turn sunlight, water, and air into food and oxygen."</a:t>
            </a:r>
            <a:endParaRPr sz="800">
              <a:solidFill>
                <a:schemeClr val="dk1"/>
              </a:solidFill>
              <a:highlight>
                <a:srgbClr val="FFFF00"/>
              </a:highlight>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a:t>
            </a:r>
            <a:r>
              <a:rPr b="1" lang="en" sz="800">
                <a:solidFill>
                  <a:srgbClr val="38761D"/>
                </a:solidFill>
                <a:latin typeface="Courier New"/>
                <a:ea typeface="Courier New"/>
                <a:cs typeface="Courier New"/>
                <a:sym typeface="Courier New"/>
              </a:rPr>
              <a:t>instruction</a:t>
            </a:r>
            <a:r>
              <a:rPr lang="en" sz="800">
                <a:solidFill>
                  <a:schemeClr val="dk1"/>
                </a:solidFill>
                <a:latin typeface="Courier New"/>
                <a:ea typeface="Courier New"/>
                <a:cs typeface="Courier New"/>
                <a:sym typeface="Courier New"/>
              </a:rPr>
              <a:t>": "Describe the steps to change a flat tire.",</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"input":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a:t>
            </a:r>
            <a:r>
              <a:rPr lang="en" sz="800">
                <a:solidFill>
                  <a:schemeClr val="dk1"/>
                </a:solidFill>
                <a:highlight>
                  <a:srgbClr val="FFFF00"/>
                </a:highlight>
                <a:latin typeface="Courier New"/>
                <a:ea typeface="Courier New"/>
                <a:cs typeface="Courier New"/>
                <a:sym typeface="Courier New"/>
              </a:rPr>
              <a:t> "output": "1. Ensure your car is safely parked on a flat surface, away from traffic. Turn on your hazard lights.\n2. Locate your spare tire, jack, and lug wrench in your vehicle.\n3. Loosen the lug nuts on the flat tire slightly, but don't remove them completely yet.\n4. Place the jack under the designated lifting point of your car and raise the vehicle until the flat tire is off the ground.\n5. Remove the lug nuts completely and take off the flat tire.\n6. Place the spare tire onto the wheel hub.\n7. Replace the lug nuts and tighten them by hand.\n8. Lower the car back to the ground using the jack.\n9. Use the lug wrench to fully tighten the lug nuts in a star pattern for even pressure.\n10. Store the flat tire, jack, and lug wrench back in your vehicle.\n11. Check the spare tire's pressure and drive carefully, following any speed restrictions for your specific type of spare tire."</a:t>
            </a:r>
            <a:endParaRPr sz="800">
              <a:solidFill>
                <a:schemeClr val="dk1"/>
              </a:solidFill>
              <a:highlight>
                <a:srgbClr val="FFFF00"/>
              </a:highlight>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  }</a:t>
            </a:r>
            <a:endParaRPr sz="8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800">
                <a:solidFill>
                  <a:schemeClr val="dk1"/>
                </a:solidFill>
                <a:latin typeface="Courier New"/>
                <a:ea typeface="Courier New"/>
                <a:cs typeface="Courier New"/>
                <a:sym typeface="Courier New"/>
              </a:rPr>
              <a:t>]</a:t>
            </a:r>
            <a:endParaRPr sz="12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394" name="Shape 394"/>
        <p:cNvGrpSpPr/>
        <p:nvPr/>
      </p:nvGrpSpPr>
      <p:grpSpPr>
        <a:xfrm>
          <a:off x="0" y="0"/>
          <a:ext cx="0" cy="0"/>
          <a:chOff x="0" y="0"/>
          <a:chExt cx="0" cy="0"/>
        </a:xfrm>
      </p:grpSpPr>
      <p:sp>
        <p:nvSpPr>
          <p:cNvPr id="395" name="Google Shape;395;p6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200"/>
              <a:t>Why “Instruction” (and not simple task input)?</a:t>
            </a:r>
            <a:endParaRPr sz="32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7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Instruction-Tuning is </a:t>
            </a:r>
            <a:r>
              <a:rPr lang="en" sz="2320">
                <a:solidFill>
                  <a:srgbClr val="FF0000"/>
                </a:solidFill>
              </a:rPr>
              <a:t>NOT ICL as in GPT-2/3</a:t>
            </a:r>
            <a:endParaRPr i="1" sz="2320">
              <a:solidFill>
                <a:srgbClr val="FF0000"/>
              </a:solidFill>
            </a:endParaRPr>
          </a:p>
        </p:txBody>
      </p:sp>
      <p:graphicFrame>
        <p:nvGraphicFramePr>
          <p:cNvPr id="401" name="Google Shape;401;p70"/>
          <p:cNvGraphicFramePr/>
          <p:nvPr/>
        </p:nvGraphicFramePr>
        <p:xfrm>
          <a:off x="304800" y="1219200"/>
          <a:ext cx="3000000" cy="3000000"/>
        </p:xfrm>
        <a:graphic>
          <a:graphicData uri="http://schemas.openxmlformats.org/drawingml/2006/table">
            <a:tbl>
              <a:tblPr>
                <a:noFill/>
                <a:tableStyleId>{9DEFFDEF-0E0E-451E-B1CF-A810274E3607}</a:tableStyleId>
              </a:tblPr>
              <a:tblGrid>
                <a:gridCol w="1676400"/>
                <a:gridCol w="3524250"/>
                <a:gridCol w="3114675"/>
              </a:tblGrid>
              <a:tr h="200025">
                <a:tc>
                  <a:txBody>
                    <a:bodyPr/>
                    <a:lstStyle/>
                    <a:p>
                      <a:pPr indent="0" lvl="0" marL="0" rtl="0" algn="ctr">
                        <a:lnSpc>
                          <a:spcPct val="115000"/>
                        </a:lnSpc>
                        <a:spcBef>
                          <a:spcPts val="0"/>
                        </a:spcBef>
                        <a:spcAft>
                          <a:spcPts val="0"/>
                        </a:spcAft>
                        <a:buNone/>
                      </a:pPr>
                      <a:r>
                        <a:rPr b="1" lang="en" sz="1300"/>
                        <a:t>Dimension</a:t>
                      </a:r>
                      <a:endParaRPr b="1"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t>In-Context Learning (GPT-2/3 prompt tricks)</a:t>
                      </a:r>
                      <a:endParaRPr b="1"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300"/>
                        <a:t>Instruction Tuning / SFT</a:t>
                      </a:r>
                      <a:endParaRPr b="1"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 sz="1300"/>
                        <a:t>When examples are given</a:t>
                      </a:r>
                      <a:endParaRPr b="1"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i="1" lang="en" sz="1300"/>
                        <a:t>Only</a:t>
                      </a:r>
                      <a:r>
                        <a:rPr lang="en" sz="1300"/>
                        <a:t> inside the prompt at inference time</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During a supervised fine-tuning phase</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 sz="1300"/>
                        <a:t>Weight updates</a:t>
                      </a:r>
                      <a:endParaRPr b="1"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None – forward pass only</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300"/>
                        <a:t>Yes – back-prop changes </a:t>
                      </a:r>
                      <a:r>
                        <a:rPr lang="en" sz="1300"/>
                        <a:t>(all or adapter) </a:t>
                      </a:r>
                      <a:r>
                        <a:rPr lang="en" sz="1300"/>
                        <a:t>weights; extra GPU hours</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4CCCC"/>
                    </a:solidFill>
                  </a:tcPr>
                </a:tc>
              </a:tr>
              <a:tr h="200025">
                <a:tc>
                  <a:txBody>
                    <a:bodyPr/>
                    <a:lstStyle/>
                    <a:p>
                      <a:pPr indent="0" lvl="0" marL="0" rtl="0" algn="l">
                        <a:spcBef>
                          <a:spcPts val="0"/>
                        </a:spcBef>
                        <a:spcAft>
                          <a:spcPts val="0"/>
                        </a:spcAft>
                        <a:buNone/>
                      </a:pPr>
                      <a:r>
                        <a:rPr b="1" lang="en" sz="1300"/>
                        <a:t>Data format</a:t>
                      </a:r>
                      <a:endParaRPr b="1"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k input→output demonstrations, often pattern-engineered</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JSONL triples, ChatML messages, templated tasks</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 sz="1300"/>
                        <a:t>Persistence</a:t>
                      </a:r>
                      <a:endParaRPr b="1"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rPr lang="en" sz="1300"/>
                        <a:t>Lost after the call</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 sz="1300"/>
                        <a:t>Stored in a new checkpoint</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D9EAD3"/>
                    </a:solidFill>
                  </a:tcPr>
                </a:tc>
              </a:tr>
              <a:tr h="200025">
                <a:tc>
                  <a:txBody>
                    <a:bodyPr/>
                    <a:lstStyle/>
                    <a:p>
                      <a:pPr indent="0" lvl="0" marL="0" rtl="0" algn="l">
                        <a:spcBef>
                          <a:spcPts val="0"/>
                        </a:spcBef>
                        <a:spcAft>
                          <a:spcPts val="0"/>
                        </a:spcAft>
                        <a:buNone/>
                      </a:pPr>
                      <a:r>
                        <a:rPr b="1" lang="en" sz="1300"/>
                        <a:t>Typical reliability</a:t>
                      </a:r>
                      <a:endParaRPr b="1"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Brittle to wording &amp; ordering</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 sz="1300"/>
                        <a:t>Robust to plain-language requests</a:t>
                      </a:r>
                      <a:endParaRPr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7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000000"/>
                </a:solidFill>
              </a:rPr>
              <a:t>What (</a:t>
            </a:r>
            <a:r>
              <a:rPr i="1" lang="en" sz="2320" u="sng">
                <a:solidFill>
                  <a:srgbClr val="000000"/>
                </a:solidFill>
              </a:rPr>
              <a:t>may</a:t>
            </a:r>
            <a:r>
              <a:rPr lang="en" sz="2320">
                <a:solidFill>
                  <a:srgbClr val="000000"/>
                </a:solidFill>
              </a:rPr>
              <a:t>) happens without Instruction-Tuning</a:t>
            </a:r>
            <a:endParaRPr i="1" sz="2320">
              <a:solidFill>
                <a:srgbClr val="FF0000"/>
              </a:solidFill>
              <a:highlight>
                <a:srgbClr val="D9EAD3"/>
              </a:highlight>
            </a:endParaRPr>
          </a:p>
        </p:txBody>
      </p:sp>
      <p:pic>
        <p:nvPicPr>
          <p:cNvPr id="407" name="Google Shape;407;p71"/>
          <p:cNvPicPr preferRelativeResize="0"/>
          <p:nvPr/>
        </p:nvPicPr>
        <p:blipFill rotWithShape="1">
          <a:blip r:embed="rId3">
            <a:alphaModFix/>
          </a:blip>
          <a:srcRect b="0" l="0" r="0" t="8290"/>
          <a:stretch/>
        </p:blipFill>
        <p:spPr>
          <a:xfrm>
            <a:off x="152400" y="1307025"/>
            <a:ext cx="8839202" cy="3481299"/>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7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000000"/>
                </a:solidFill>
              </a:rPr>
              <a:t>Instruction</a:t>
            </a:r>
            <a:r>
              <a:rPr lang="en" sz="2320"/>
              <a:t> for </a:t>
            </a:r>
            <a:r>
              <a:rPr i="1" lang="en" sz="2320">
                <a:solidFill>
                  <a:srgbClr val="FF0000"/>
                </a:solidFill>
                <a:highlight>
                  <a:srgbClr val="FFF2CC"/>
                </a:highlight>
              </a:rPr>
              <a:t>Helpfulness</a:t>
            </a:r>
            <a:r>
              <a:rPr i="1" lang="en" sz="2320"/>
              <a:t> </a:t>
            </a:r>
            <a:r>
              <a:rPr lang="en" sz="2320"/>
              <a:t>&amp; </a:t>
            </a:r>
            <a:r>
              <a:rPr i="1" lang="en" sz="2320">
                <a:solidFill>
                  <a:srgbClr val="FF0000"/>
                </a:solidFill>
                <a:highlight>
                  <a:srgbClr val="D9EAD3"/>
                </a:highlight>
              </a:rPr>
              <a:t>Safety</a:t>
            </a:r>
            <a:endParaRPr i="1" sz="2320">
              <a:solidFill>
                <a:srgbClr val="FF0000"/>
              </a:solidFill>
              <a:highlight>
                <a:srgbClr val="D9EAD3"/>
              </a:highlight>
            </a:endParaRPr>
          </a:p>
        </p:txBody>
      </p:sp>
      <p:pic>
        <p:nvPicPr>
          <p:cNvPr id="413" name="Google Shape;413;p72"/>
          <p:cNvPicPr preferRelativeResize="0"/>
          <p:nvPr/>
        </p:nvPicPr>
        <p:blipFill>
          <a:blip r:embed="rId3">
            <a:alphaModFix/>
          </a:blip>
          <a:stretch>
            <a:fillRect/>
          </a:stretch>
        </p:blipFill>
        <p:spPr>
          <a:xfrm>
            <a:off x="603825" y="1211150"/>
            <a:ext cx="7201068" cy="3820975"/>
          </a:xfrm>
          <a:prstGeom prst="rect">
            <a:avLst/>
          </a:prstGeom>
          <a:noFill/>
          <a:ln>
            <a:noFill/>
          </a:ln>
        </p:spPr>
      </p:pic>
      <p:sp>
        <p:nvSpPr>
          <p:cNvPr id="414" name="Google Shape;414;p72"/>
          <p:cNvSpPr/>
          <p:nvPr/>
        </p:nvSpPr>
        <p:spPr>
          <a:xfrm>
            <a:off x="509875" y="1649000"/>
            <a:ext cx="6826200" cy="1805700"/>
          </a:xfrm>
          <a:prstGeom prst="rect">
            <a:avLst/>
          </a:pr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5" name="Google Shape;415;p72"/>
          <p:cNvSpPr/>
          <p:nvPr/>
        </p:nvSpPr>
        <p:spPr>
          <a:xfrm>
            <a:off x="509875" y="3743900"/>
            <a:ext cx="7295100" cy="820200"/>
          </a:xfrm>
          <a:prstGeom prst="rect">
            <a:avLst/>
          </a:prstGeom>
          <a:no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419" name="Shape 419"/>
        <p:cNvGrpSpPr/>
        <p:nvPr/>
      </p:nvGrpSpPr>
      <p:grpSpPr>
        <a:xfrm>
          <a:off x="0" y="0"/>
          <a:ext cx="0" cy="0"/>
          <a:chOff x="0" y="0"/>
          <a:chExt cx="0" cy="0"/>
        </a:xfrm>
      </p:grpSpPr>
      <p:sp>
        <p:nvSpPr>
          <p:cNvPr id="420" name="Google Shape;420;p7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200"/>
              <a:t>Is Instruction-Tuning the final answer?</a:t>
            </a:r>
            <a:endParaRPr sz="32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7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000000"/>
                </a:solidFill>
              </a:rPr>
              <a:t>Why we need to do something more</a:t>
            </a:r>
            <a:endParaRPr i="1" sz="2320">
              <a:solidFill>
                <a:srgbClr val="FF0000"/>
              </a:solidFill>
              <a:highlight>
                <a:srgbClr val="D9EAD3"/>
              </a:highlight>
            </a:endParaRPr>
          </a:p>
        </p:txBody>
      </p:sp>
      <p:graphicFrame>
        <p:nvGraphicFramePr>
          <p:cNvPr id="426" name="Google Shape;426;p74"/>
          <p:cNvGraphicFramePr/>
          <p:nvPr/>
        </p:nvGraphicFramePr>
        <p:xfrm>
          <a:off x="228600" y="1295400"/>
          <a:ext cx="3000000" cy="3000000"/>
        </p:xfrm>
        <a:graphic>
          <a:graphicData uri="http://schemas.openxmlformats.org/drawingml/2006/table">
            <a:tbl>
              <a:tblPr>
                <a:noFill/>
                <a:tableStyleId>{9DEFFDEF-0E0E-451E-B1CF-A810274E3607}</a:tableStyleId>
              </a:tblPr>
              <a:tblGrid>
                <a:gridCol w="2382450"/>
                <a:gridCol w="3761750"/>
                <a:gridCol w="2535700"/>
              </a:tblGrid>
              <a:tr h="381000">
                <a:tc>
                  <a:txBody>
                    <a:bodyPr/>
                    <a:lstStyle/>
                    <a:p>
                      <a:pPr indent="0" lvl="0" marL="0" rtl="0" algn="ctr">
                        <a:lnSpc>
                          <a:spcPct val="115000"/>
                        </a:lnSpc>
                        <a:spcBef>
                          <a:spcPts val="0"/>
                        </a:spcBef>
                        <a:spcAft>
                          <a:spcPts val="0"/>
                        </a:spcAft>
                        <a:buNone/>
                      </a:pPr>
                      <a:r>
                        <a:rPr b="1" lang="en"/>
                        <a:t>Limitation</a:t>
                      </a:r>
                      <a:endParaRPr b="1"/>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Under-the-hood cause</a:t>
                      </a:r>
                      <a:endParaRPr b="1"/>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a:t>What can happen</a:t>
                      </a:r>
                      <a:endParaRPr b="1"/>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61975">
                <a:tc>
                  <a:txBody>
                    <a:bodyPr/>
                    <a:lstStyle/>
                    <a:p>
                      <a:pPr indent="0" lvl="0" marL="0" rtl="0" algn="l">
                        <a:spcBef>
                          <a:spcPts val="0"/>
                        </a:spcBef>
                        <a:spcAft>
                          <a:spcPts val="0"/>
                        </a:spcAft>
                        <a:buNone/>
                      </a:pPr>
                      <a:r>
                        <a:rPr b="1" lang="en"/>
                        <a:t>Single-reference loss</a:t>
                      </a:r>
                      <a:r>
                        <a:rPr lang="en"/>
                        <a:t> – cross-entropy scores only one “gold” answer</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Teacher-forcing treats any divergence from that answer as error, </a:t>
                      </a:r>
                      <a:r>
                        <a:rPr i="1" lang="en">
                          <a:highlight>
                            <a:srgbClr val="F4CCCC"/>
                          </a:highlight>
                        </a:rPr>
                        <a:t>even if several answers are equally good</a:t>
                      </a:r>
                      <a:endParaRPr i="1">
                        <a:highlight>
                          <a:srgbClr val="F4CCCC"/>
                        </a:high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FF0000"/>
                          </a:solidFill>
                        </a:rPr>
                        <a:t>Repetition</a:t>
                      </a:r>
                      <a:r>
                        <a:rPr lang="en"/>
                        <a:t> or </a:t>
                      </a:r>
                      <a:r>
                        <a:rPr lang="en">
                          <a:solidFill>
                            <a:srgbClr val="FF0000"/>
                          </a:solidFill>
                        </a:rPr>
                        <a:t>generic</a:t>
                      </a:r>
                      <a:r>
                        <a:rPr lang="en"/>
                        <a:t> answers; </a:t>
                      </a:r>
                      <a:r>
                        <a:rPr lang="en">
                          <a:highlight>
                            <a:srgbClr val="F4CCCC"/>
                          </a:highlight>
                        </a:rPr>
                        <a:t>no reward for richer explanations</a:t>
                      </a:r>
                      <a:endParaRPr>
                        <a:highlight>
                          <a:srgbClr val="F4CCCC"/>
                        </a:high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61975">
                <a:tc>
                  <a:txBody>
                    <a:bodyPr/>
                    <a:lstStyle/>
                    <a:p>
                      <a:pPr indent="0" lvl="0" marL="0" rtl="0" algn="l">
                        <a:spcBef>
                          <a:spcPts val="0"/>
                        </a:spcBef>
                        <a:spcAft>
                          <a:spcPts val="0"/>
                        </a:spcAft>
                        <a:buNone/>
                      </a:pPr>
                      <a:r>
                        <a:rPr b="1" lang="en"/>
                        <a:t>Length bias &amp; brevity reward</a:t>
                      </a:r>
                      <a:endParaRPr b="1"/>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Cross-entropy normalises by tokens, so </a:t>
                      </a:r>
                      <a:r>
                        <a:rPr i="1" lang="en">
                          <a:highlight>
                            <a:srgbClr val="F4CCCC"/>
                          </a:highlight>
                        </a:rPr>
                        <a:t>shorter replies get less loss</a:t>
                      </a:r>
                      <a:r>
                        <a:rPr lang="en"/>
                        <a:t> and dominate training</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SFT models often produce terse, </a:t>
                      </a:r>
                      <a:r>
                        <a:rPr lang="en">
                          <a:solidFill>
                            <a:srgbClr val="FF0000"/>
                          </a:solidFill>
                        </a:rPr>
                        <a:t>under-informative answers</a:t>
                      </a:r>
                      <a:endParaRPr>
                        <a:solidFill>
                          <a:srgbClr val="FF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61975">
                <a:tc>
                  <a:txBody>
                    <a:bodyPr/>
                    <a:lstStyle/>
                    <a:p>
                      <a:pPr indent="0" lvl="0" marL="0" rtl="0" algn="l">
                        <a:spcBef>
                          <a:spcPts val="0"/>
                        </a:spcBef>
                        <a:spcAft>
                          <a:spcPts val="0"/>
                        </a:spcAft>
                        <a:buNone/>
                      </a:pPr>
                      <a:r>
                        <a:rPr b="1" lang="en"/>
                        <a:t>Hard-coded style / tone</a:t>
                      </a:r>
                      <a:endParaRPr b="1"/>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SFT bakes a </a:t>
                      </a:r>
                      <a:r>
                        <a:rPr i="1" lang="en">
                          <a:highlight>
                            <a:srgbClr val="F4CCCC"/>
                          </a:highlight>
                        </a:rPr>
                        <a:t>fixed style</a:t>
                      </a:r>
                      <a:r>
                        <a:rPr lang="en"/>
                        <a:t> that mirrors the dataset; </a:t>
                      </a:r>
                      <a:r>
                        <a:rPr i="1" lang="en">
                          <a:solidFill>
                            <a:srgbClr val="FF0000"/>
                          </a:solidFill>
                        </a:rPr>
                        <a:t>changing tone means collecting new triples</a:t>
                      </a:r>
                      <a:endParaRPr i="1">
                        <a:solidFill>
                          <a:srgbClr val="FF0000"/>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Model can’t easily be made more formal, shorter, etc.</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61975">
                <a:tc>
                  <a:txBody>
                    <a:bodyPr/>
                    <a:lstStyle/>
                    <a:p>
                      <a:pPr indent="0" lvl="0" marL="0" rtl="0" algn="l">
                        <a:spcBef>
                          <a:spcPts val="0"/>
                        </a:spcBef>
                        <a:spcAft>
                          <a:spcPts val="0"/>
                        </a:spcAft>
                        <a:buNone/>
                      </a:pPr>
                      <a:r>
                        <a:rPr b="1" lang="en"/>
                        <a:t>Limited long-horizon control</a:t>
                      </a:r>
                      <a:endParaRPr b="1"/>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Token-level CE sees only one turn; </a:t>
                      </a:r>
                      <a:r>
                        <a:rPr i="1" lang="en">
                          <a:highlight>
                            <a:srgbClr val="F4CCCC"/>
                          </a:highlight>
                        </a:rPr>
                        <a:t>multi-turn goals receive no direct signal</a:t>
                      </a:r>
                      <a:r>
                        <a:rPr lang="en"/>
                        <a:t> ﻿</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a:t>Incoherent or </a:t>
                      </a:r>
                      <a:r>
                        <a:rPr lang="en">
                          <a:solidFill>
                            <a:srgbClr val="FF0000"/>
                          </a:solidFill>
                          <a:highlight>
                            <a:srgbClr val="F4CCCC"/>
                          </a:highlight>
                        </a:rPr>
                        <a:t>contradictory </a:t>
                      </a:r>
                      <a:r>
                        <a:rPr lang="en">
                          <a:highlight>
                            <a:srgbClr val="F4CCCC"/>
                          </a:highlight>
                        </a:rPr>
                        <a:t>multi-turn chats</a:t>
                      </a:r>
                      <a:endParaRPr>
                        <a:highlight>
                          <a:srgbClr val="F4CCCC"/>
                        </a:high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5CD"/>
        </a:solidFill>
      </p:bgPr>
    </p:bg>
    <p:spTree>
      <p:nvGrpSpPr>
        <p:cNvPr id="430" name="Shape 430"/>
        <p:cNvGrpSpPr/>
        <p:nvPr/>
      </p:nvGrpSpPr>
      <p:grpSpPr>
        <a:xfrm>
          <a:off x="0" y="0"/>
          <a:ext cx="0" cy="0"/>
          <a:chOff x="0" y="0"/>
          <a:chExt cx="0" cy="0"/>
        </a:xfrm>
      </p:grpSpPr>
      <p:sp>
        <p:nvSpPr>
          <p:cNvPr id="431" name="Google Shape;431;p7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200"/>
              <a:t>User-Preference based Fine-tuning (next)</a:t>
            </a:r>
            <a:endParaRPr sz="3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